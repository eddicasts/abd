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70" r:id="rId8"/>
    <p:sldId id="262" r:id="rId9"/>
  </p:sldIdLst>
  <p:sldSz cx="9144000" cy="5143500" type="screen16x9"/>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2880">
          <p15:clr>
            <a:srgbClr val="A4A3A4"/>
          </p15:clr>
        </p15:guide>
        <p15:guide id="2"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874" y="77"/>
      </p:cViewPr>
      <p:guideLst>
        <p:guide pos="2880"/>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52186501" name="Slide Image Placeholder 1"/>
          <p:cNvSpPr>
            <a:spLocks noGrp="1" noRot="1" noChangeAspect="1"/>
          </p:cNvSpPr>
          <p:nvPr>
            <p:ph type="sldImg"/>
          </p:nvPr>
        </p:nvSpPr>
        <p:spPr bwMode="auto"/>
      </p:sp>
      <p:sp>
        <p:nvSpPr>
          <p:cNvPr id="2103620981" name="Notes Placeholder 2"/>
          <p:cNvSpPr>
            <a:spLocks noGrp="1"/>
          </p:cNvSpPr>
          <p:nvPr>
            <p:ph type="body" idx="1"/>
          </p:nvPr>
        </p:nvSpPr>
        <p:spPr bwMode="auto"/>
        <p:txBody>
          <a:bodyPr/>
          <a:lstStyle/>
          <a:p>
            <a:pPr>
              <a:defRPr/>
            </a:pPr>
            <a:endParaRPr lang="en-US"/>
          </a:p>
        </p:txBody>
      </p:sp>
      <p:sp>
        <p:nvSpPr>
          <p:cNvPr id="1705282765"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8587565" name="Slide Image Placeholder 1"/>
          <p:cNvSpPr>
            <a:spLocks noGrp="1" noRot="1" noChangeAspect="1"/>
          </p:cNvSpPr>
          <p:nvPr>
            <p:ph type="sldImg"/>
          </p:nvPr>
        </p:nvSpPr>
        <p:spPr bwMode="auto"/>
      </p:sp>
      <p:sp>
        <p:nvSpPr>
          <p:cNvPr id="1880533955" name="Notes Placeholder 2"/>
          <p:cNvSpPr>
            <a:spLocks noGrp="1"/>
          </p:cNvSpPr>
          <p:nvPr>
            <p:ph type="body" idx="1"/>
          </p:nvPr>
        </p:nvSpPr>
        <p:spPr bwMode="auto"/>
        <p:txBody>
          <a:bodyPr/>
          <a:lstStyle/>
          <a:p>
            <a:pPr>
              <a:defRPr/>
            </a:pPr>
            <a:endParaRPr lang="en-US"/>
          </a:p>
        </p:txBody>
      </p:sp>
      <p:sp>
        <p:nvSpPr>
          <p:cNvPr id="1870849727"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16363725" name="Slide Image Placeholder 1"/>
          <p:cNvSpPr>
            <a:spLocks noGrp="1" noRot="1" noChangeAspect="1"/>
          </p:cNvSpPr>
          <p:nvPr>
            <p:ph type="sldImg"/>
          </p:nvPr>
        </p:nvSpPr>
        <p:spPr bwMode="auto"/>
      </p:sp>
      <p:sp>
        <p:nvSpPr>
          <p:cNvPr id="674065035" name="Notes Placeholder 2"/>
          <p:cNvSpPr>
            <a:spLocks noGrp="1"/>
          </p:cNvSpPr>
          <p:nvPr>
            <p:ph type="body" idx="1"/>
          </p:nvPr>
        </p:nvSpPr>
        <p:spPr bwMode="auto"/>
        <p:txBody>
          <a:bodyPr/>
          <a:lstStyle/>
          <a:p>
            <a:pPr>
              <a:defRPr/>
            </a:pPr>
            <a:endParaRPr lang="en-US"/>
          </a:p>
        </p:txBody>
      </p:sp>
      <p:sp>
        <p:nvSpPr>
          <p:cNvPr id="1864220654"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14407141" name="Slide Image Placeholder 1"/>
          <p:cNvSpPr>
            <a:spLocks noGrp="1" noRot="1" noChangeAspect="1"/>
          </p:cNvSpPr>
          <p:nvPr>
            <p:ph type="sldImg"/>
          </p:nvPr>
        </p:nvSpPr>
        <p:spPr bwMode="auto"/>
      </p:sp>
      <p:sp>
        <p:nvSpPr>
          <p:cNvPr id="1888274378" name="Notes Placeholder 2"/>
          <p:cNvSpPr>
            <a:spLocks noGrp="1"/>
          </p:cNvSpPr>
          <p:nvPr>
            <p:ph type="body" idx="1"/>
          </p:nvPr>
        </p:nvSpPr>
        <p:spPr bwMode="auto"/>
        <p:txBody>
          <a:bodyPr/>
          <a:lstStyle/>
          <a:p>
            <a:pPr>
              <a:defRPr/>
            </a:pPr>
            <a:endParaRPr lang="en-US"/>
          </a:p>
        </p:txBody>
      </p:sp>
      <p:sp>
        <p:nvSpPr>
          <p:cNvPr id="1076683913"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89824466" name="Slide Image Placeholder 1"/>
          <p:cNvSpPr>
            <a:spLocks noGrp="1" noRot="1" noChangeAspect="1"/>
          </p:cNvSpPr>
          <p:nvPr>
            <p:ph type="sldImg"/>
          </p:nvPr>
        </p:nvSpPr>
        <p:spPr bwMode="auto"/>
      </p:sp>
      <p:sp>
        <p:nvSpPr>
          <p:cNvPr id="1158557452" name="Notes Placeholder 2"/>
          <p:cNvSpPr>
            <a:spLocks noGrp="1"/>
          </p:cNvSpPr>
          <p:nvPr>
            <p:ph type="body" idx="1"/>
          </p:nvPr>
        </p:nvSpPr>
        <p:spPr bwMode="auto"/>
        <p:txBody>
          <a:bodyPr/>
          <a:lstStyle/>
          <a:p>
            <a:pPr>
              <a:defRPr/>
            </a:pPr>
            <a:endParaRPr lang="en-US"/>
          </a:p>
        </p:txBody>
      </p:sp>
      <p:sp>
        <p:nvSpPr>
          <p:cNvPr id="106483226"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47681000" name="Slide Image Placeholder 1"/>
          <p:cNvSpPr>
            <a:spLocks noGrp="1" noRot="1" noChangeAspect="1"/>
          </p:cNvSpPr>
          <p:nvPr>
            <p:ph type="sldImg"/>
          </p:nvPr>
        </p:nvSpPr>
        <p:spPr bwMode="auto"/>
      </p:sp>
      <p:sp>
        <p:nvSpPr>
          <p:cNvPr id="1886093754" name="Notes Placeholder 2"/>
          <p:cNvSpPr>
            <a:spLocks noGrp="1"/>
          </p:cNvSpPr>
          <p:nvPr>
            <p:ph type="body" idx="1"/>
          </p:nvPr>
        </p:nvSpPr>
        <p:spPr bwMode="auto"/>
        <p:txBody>
          <a:bodyPr/>
          <a:lstStyle/>
          <a:p>
            <a:pPr>
              <a:defRPr/>
            </a:pPr>
            <a:endParaRPr lang="en-US"/>
          </a:p>
        </p:txBody>
      </p:sp>
      <p:sp>
        <p:nvSpPr>
          <p:cNvPr id="1709845466" name="Slide Number Placeholder 3"/>
          <p:cNvSpPr>
            <a:spLocks noGrp="1"/>
          </p:cNvSpPr>
          <p:nvPr>
            <p:ph type="sldNum" sz="quarter" idx="10"/>
          </p:nvPr>
        </p:nvSpPr>
        <p:spPr bwMode="auto"/>
        <p:txBody>
          <a:bodyPr/>
          <a:lstStyle/>
          <a:p>
            <a:pPr>
              <a:defRPr/>
            </a:pPr>
            <a:fld id="{99C41655-1B00-DE72-D7C6-91695DAD22DE}"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9EC8BC-B3D1-A74E-C214-6A6C616F21EC}"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92281921" name="Slide Image Placeholder 1"/>
          <p:cNvSpPr>
            <a:spLocks noGrp="1" noRot="1" noChangeAspect="1"/>
          </p:cNvSpPr>
          <p:nvPr>
            <p:ph type="sldImg"/>
          </p:nvPr>
        </p:nvSpPr>
        <p:spPr bwMode="auto"/>
      </p:sp>
      <p:sp>
        <p:nvSpPr>
          <p:cNvPr id="1895640993" name="Notes Placeholder 2"/>
          <p:cNvSpPr>
            <a:spLocks noGrp="1"/>
          </p:cNvSpPr>
          <p:nvPr>
            <p:ph type="body" idx="1"/>
          </p:nvPr>
        </p:nvSpPr>
        <p:spPr bwMode="auto"/>
        <p:txBody>
          <a:bodyPr/>
          <a:lstStyle/>
          <a:p>
            <a:pPr>
              <a:defRPr/>
            </a:pPr>
            <a:endParaRPr lang="en-US"/>
          </a:p>
        </p:txBody>
      </p:sp>
      <p:sp>
        <p:nvSpPr>
          <p:cNvPr id="973387305"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blank" userDrawn="1">
  <p:cSld name="Blank">
    <p:spTree>
      <p:nvGrpSpPr>
        <p:cNvPr id="1" name=""/>
        <p:cNvGrpSpPr/>
        <p:nvPr/>
      </p:nvGrpSpPr>
      <p:grpSpPr bwMode="auto">
        <a:xfrm>
          <a:off x="0" y="0"/>
          <a:ext cx="0" cy="0"/>
          <a:chOff x="0" y="0"/>
          <a:chExt cx="0" cy="0"/>
        </a:xfrm>
      </p:grpSpPr>
      <p:sp>
        <p:nvSpPr>
          <p:cNvPr id="952917215" name="Date Placeholder 1"/>
          <p:cNvSpPr>
            <a:spLocks noGrp="1"/>
          </p:cNvSpPr>
          <p:nvPr>
            <p:ph type="dt" sz="half" idx="10"/>
          </p:nvPr>
        </p:nvSpPr>
        <p:spPr bwMode="auto"/>
        <p:txBody>
          <a:bodyPr/>
          <a:lstStyle/>
          <a:p>
            <a:pPr>
              <a:defRPr/>
            </a:pPr>
            <a:fld id="{1D8BD707-D9CF-40AE-B4C6-C98DA3205C09}" type="datetimeFigureOut">
              <a:rPr lang="en-US"/>
              <a:t>6/5/2026</a:t>
            </a:fld>
            <a:endParaRPr lang="en-US"/>
          </a:p>
        </p:txBody>
      </p:sp>
      <p:sp>
        <p:nvSpPr>
          <p:cNvPr id="1553629852" name="Footer Placeholder 2"/>
          <p:cNvSpPr>
            <a:spLocks noGrp="1"/>
          </p:cNvSpPr>
          <p:nvPr>
            <p:ph type="ftr" sz="quarter" idx="11"/>
          </p:nvPr>
        </p:nvSpPr>
        <p:spPr bwMode="auto"/>
        <p:txBody>
          <a:bodyPr/>
          <a:lstStyle/>
          <a:p>
            <a:pPr>
              <a:defRPr/>
            </a:pPr>
            <a:endParaRPr lang="en-US"/>
          </a:p>
        </p:txBody>
      </p:sp>
      <p:sp>
        <p:nvSpPr>
          <p:cNvPr id="1786375482" name="Slide Number Placeholder 3"/>
          <p:cNvSpPr>
            <a:spLocks noGrp="1"/>
          </p:cNvSpPr>
          <p:nvPr>
            <p:ph type="sldNum" sz="quarter" idx="12"/>
          </p:nvPr>
        </p:nvSpPr>
        <p:spPr bwMode="auto"/>
        <p:txBody>
          <a:bodyPr/>
          <a:lstStyle/>
          <a:p>
            <a:pPr>
              <a:defRPr/>
            </a:pPr>
            <a:fld id="{B6F15528-21DE-4FAA-801E-634DDDAF4B2B}" type="slidenum">
              <a:rPr lang="en-US"/>
              <a:t>‹Nº›</a:t>
            </a:fld>
            <a:endParaRPr lang="en-US"/>
          </a:p>
        </p:txBody>
      </p:sp>
    </p:spTree>
    <p:extLst>
      <p:ext uri="{BB962C8B-B14F-4D97-AF65-F5344CB8AC3E}">
        <p14:creationId xmlns:p14="http://schemas.microsoft.com/office/powerpoint/2010/main" val="1231916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name="Slide 1">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468093270" name="Text 3"/>
          <p:cNvSpPr/>
          <p:nvPr/>
        </p:nvSpPr>
        <p:spPr bwMode="auto">
          <a:xfrm>
            <a:off x="3749040" y="73152"/>
            <a:ext cx="1645920" cy="804672"/>
          </a:xfrm>
          <a:prstGeom prst="rect">
            <a:avLst/>
          </a:prstGeom>
          <a:noFill/>
          <a:ln/>
        </p:spPr>
        <p:txBody>
          <a:bodyPr wrap="square" rtlCol="0" anchor="ctr"/>
          <a:lstStyle/>
          <a:p>
            <a:pPr marL="0" indent="0" algn="ctr">
              <a:buNone/>
              <a:defRPr/>
            </a:pPr>
            <a:endParaRPr lang="en-US" sz="700"/>
          </a:p>
        </p:txBody>
      </p:sp>
      <p:sp>
        <p:nvSpPr>
          <p:cNvPr id="1789837773" name="Text 6"/>
          <p:cNvSpPr/>
          <p:nvPr/>
        </p:nvSpPr>
        <p:spPr bwMode="auto">
          <a:xfrm>
            <a:off x="914400" y="1005840"/>
            <a:ext cx="7315200" cy="384048"/>
          </a:xfrm>
          <a:prstGeom prst="rect">
            <a:avLst/>
          </a:prstGeom>
          <a:noFill/>
          <a:ln/>
        </p:spPr>
        <p:txBody>
          <a:bodyPr wrap="square" rtlCol="0" anchor="ctr"/>
          <a:lstStyle/>
          <a:p>
            <a:pPr marL="0" indent="0" algn="ctr">
              <a:buNone/>
              <a:defRPr/>
            </a:pPr>
            <a:r>
              <a:rPr lang="en-US" sz="1800" b="1">
                <a:solidFill>
                  <a:srgbClr val="000000"/>
                </a:solidFill>
                <a:latin typeface="Calibri"/>
                <a:ea typeface="Calibri"/>
                <a:cs typeface="Calibri"/>
              </a:rPr>
              <a:t>Instituto Tecnológico de Frontera Comalapa</a:t>
            </a:r>
            <a:endParaRPr lang="en-US" sz="1800"/>
          </a:p>
        </p:txBody>
      </p:sp>
      <p:sp>
        <p:nvSpPr>
          <p:cNvPr id="1058616990" name="Text 7"/>
          <p:cNvSpPr/>
          <p:nvPr/>
        </p:nvSpPr>
        <p:spPr bwMode="auto">
          <a:xfrm>
            <a:off x="914400" y="1389888"/>
            <a:ext cx="7315200" cy="320040"/>
          </a:xfrm>
          <a:prstGeom prst="rect">
            <a:avLst/>
          </a:prstGeom>
          <a:noFill/>
          <a:ln/>
        </p:spPr>
        <p:txBody>
          <a:bodyPr wrap="square" rtlCol="0" anchor="ctr"/>
          <a:lstStyle/>
          <a:p>
            <a:pPr marL="0" indent="0" algn="ctr">
              <a:buNone/>
              <a:defRPr/>
            </a:pPr>
            <a:r>
              <a:rPr lang="en-US" sz="1600" b="1">
                <a:solidFill>
                  <a:srgbClr val="000000"/>
                </a:solidFill>
                <a:latin typeface="Calibri"/>
                <a:ea typeface="Calibri"/>
                <a:cs typeface="Calibri"/>
              </a:rPr>
              <a:t>Modalidad Mixta</a:t>
            </a:r>
            <a:endParaRPr lang="en-US" sz="1600"/>
          </a:p>
        </p:txBody>
      </p:sp>
      <p:sp>
        <p:nvSpPr>
          <p:cNvPr id="2095680175" name="Text 8"/>
          <p:cNvSpPr/>
          <p:nvPr/>
        </p:nvSpPr>
        <p:spPr bwMode="auto">
          <a:xfrm>
            <a:off x="1371600" y="1828800"/>
            <a:ext cx="6400800" cy="475488"/>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Materia:</a:t>
            </a:r>
            <a:br>
              <a:rPr lang="en-US" sz="1400">
                <a:solidFill>
                  <a:srgbClr val="000000"/>
                </a:solidFill>
                <a:latin typeface="Calibri"/>
                <a:ea typeface="Calibri"/>
                <a:cs typeface="Calibri"/>
              </a:rPr>
            </a:br>
            <a:r>
              <a:rPr lang="en-US" sz="1400">
                <a:solidFill>
                  <a:srgbClr val="000000"/>
                </a:solidFill>
                <a:latin typeface="Calibri"/>
                <a:ea typeface="Calibri"/>
                <a:cs typeface="Calibri"/>
              </a:rPr>
              <a:t>Pruebas de Software</a:t>
            </a:r>
            <a:endParaRPr lang="en-US" sz="1400"/>
          </a:p>
        </p:txBody>
      </p:sp>
      <p:sp>
        <p:nvSpPr>
          <p:cNvPr id="746470571" name="Text 9"/>
          <p:cNvSpPr/>
          <p:nvPr/>
        </p:nvSpPr>
        <p:spPr bwMode="auto">
          <a:xfrm>
            <a:off x="1371600" y="2313432"/>
            <a:ext cx="6400800" cy="475488"/>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Semestre:</a:t>
            </a:r>
            <a:br>
              <a:rPr lang="en-US" sz="1400">
                <a:solidFill>
                  <a:srgbClr val="000000"/>
                </a:solidFill>
                <a:latin typeface="Calibri"/>
                <a:ea typeface="Calibri"/>
                <a:cs typeface="Calibri"/>
              </a:rPr>
            </a:br>
            <a:r>
              <a:rPr lang="en-US" sz="1400">
                <a:solidFill>
                  <a:srgbClr val="000000"/>
                </a:solidFill>
                <a:latin typeface="Calibri"/>
                <a:ea typeface="Calibri"/>
                <a:cs typeface="Calibri"/>
              </a:rPr>
              <a:t>Sexto semestre</a:t>
            </a:r>
            <a:endParaRPr lang="en-US" sz="1400"/>
          </a:p>
        </p:txBody>
      </p:sp>
      <p:sp>
        <p:nvSpPr>
          <p:cNvPr id="1777386840" name="Text 10"/>
          <p:cNvSpPr/>
          <p:nvPr/>
        </p:nvSpPr>
        <p:spPr bwMode="auto">
          <a:xfrm>
            <a:off x="1371600" y="2798064"/>
            <a:ext cx="6400800" cy="475488"/>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Especialidad:</a:t>
            </a:r>
            <a:br>
              <a:rPr lang="en-US" sz="1400">
                <a:solidFill>
                  <a:srgbClr val="000000"/>
                </a:solidFill>
                <a:latin typeface="Calibri"/>
                <a:ea typeface="Calibri"/>
                <a:cs typeface="Calibri"/>
              </a:rPr>
            </a:br>
            <a:r>
              <a:rPr lang="en-US" sz="1400">
                <a:solidFill>
                  <a:srgbClr val="000000"/>
                </a:solidFill>
                <a:latin typeface="Calibri"/>
                <a:ea typeface="Calibri"/>
                <a:cs typeface="Calibri"/>
              </a:rPr>
              <a:t>Ingeniería en Sistemas Computacionales.</a:t>
            </a:r>
            <a:endParaRPr lang="en-US" sz="1400"/>
          </a:p>
        </p:txBody>
      </p:sp>
      <p:sp>
        <p:nvSpPr>
          <p:cNvPr id="741762138" name="Text 11"/>
          <p:cNvSpPr/>
          <p:nvPr/>
        </p:nvSpPr>
        <p:spPr bwMode="auto">
          <a:xfrm>
            <a:off x="1371600" y="3291840"/>
            <a:ext cx="6400800" cy="256032"/>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Nombre del alumno:</a:t>
            </a:r>
            <a:endParaRPr lang="en-US" sz="1400"/>
          </a:p>
        </p:txBody>
      </p:sp>
      <p:sp>
        <p:nvSpPr>
          <p:cNvPr id="356515605" name="Text 12"/>
          <p:cNvSpPr/>
          <p:nvPr/>
        </p:nvSpPr>
        <p:spPr bwMode="auto">
          <a:xfrm>
            <a:off x="1371600" y="3547872"/>
            <a:ext cx="6400800" cy="274320"/>
          </a:xfrm>
          <a:prstGeom prst="rect">
            <a:avLst/>
          </a:prstGeom>
          <a:noFill/>
          <a:ln/>
        </p:spPr>
        <p:txBody>
          <a:bodyPr wrap="square" rtlCol="0" anchor="ctr"/>
          <a:lstStyle/>
          <a:p>
            <a:pPr marL="0" indent="0" algn="ctr">
              <a:buNone/>
              <a:defRPr/>
            </a:pPr>
            <a:r>
              <a:rPr lang="es-ES" sz="1400" b="1">
                <a:solidFill>
                  <a:srgbClr val="000000"/>
                </a:solidFill>
                <a:latin typeface="Calibri"/>
                <a:ea typeface="Calibri"/>
                <a:cs typeface="Calibri"/>
              </a:rPr>
              <a:t>Eddi Uriel Castillo Sanchez</a:t>
            </a:r>
            <a:endParaRPr lang="en-US" sz="1400"/>
          </a:p>
        </p:txBody>
      </p:sp>
      <p:sp>
        <p:nvSpPr>
          <p:cNvPr id="799103491" name="Text 13"/>
          <p:cNvSpPr/>
          <p:nvPr/>
        </p:nvSpPr>
        <p:spPr bwMode="auto">
          <a:xfrm>
            <a:off x="1371600" y="3822192"/>
            <a:ext cx="6400800" cy="411480"/>
          </a:xfrm>
          <a:prstGeom prst="rect">
            <a:avLst/>
          </a:prstGeom>
          <a:noFill/>
          <a:ln/>
        </p:spPr>
        <p:txBody>
          <a:bodyPr wrap="square" rtlCol="0" anchor="ctr"/>
          <a:lstStyle/>
          <a:p>
            <a:pPr marL="0" indent="0" algn="ctr">
              <a:buNone/>
              <a:defRPr/>
            </a:pPr>
            <a:r>
              <a:rPr lang="en-US" sz="1300">
                <a:solidFill>
                  <a:srgbClr val="000000"/>
                </a:solidFill>
                <a:latin typeface="Calibri"/>
                <a:ea typeface="Calibri"/>
                <a:cs typeface="Calibri"/>
              </a:rPr>
              <a:t>Nombre del docente:</a:t>
            </a:r>
            <a:br>
              <a:rPr lang="en-US" sz="1300">
                <a:solidFill>
                  <a:srgbClr val="000000"/>
                </a:solidFill>
                <a:latin typeface="Calibri"/>
                <a:ea typeface="Calibri"/>
                <a:cs typeface="Calibri"/>
              </a:rPr>
            </a:br>
            <a:r>
              <a:rPr lang="en-US" sz="1300">
                <a:solidFill>
                  <a:srgbClr val="000000"/>
                </a:solidFill>
                <a:latin typeface="Calibri"/>
                <a:ea typeface="Calibri"/>
                <a:cs typeface="Calibri"/>
              </a:rPr>
              <a:t>Ing. Francisco Javier Mingo Velazquez</a:t>
            </a:r>
            <a:endParaRPr lang="en-US" sz="1300"/>
          </a:p>
        </p:txBody>
      </p:sp>
      <p:sp>
        <p:nvSpPr>
          <p:cNvPr id="912402133" name="Text 14"/>
          <p:cNvSpPr/>
          <p:nvPr/>
        </p:nvSpPr>
        <p:spPr bwMode="auto">
          <a:xfrm>
            <a:off x="1371600" y="4233672"/>
            <a:ext cx="6400800" cy="384048"/>
          </a:xfrm>
          <a:prstGeom prst="rect">
            <a:avLst/>
          </a:prstGeom>
          <a:noFill/>
          <a:ln/>
        </p:spPr>
        <p:txBody>
          <a:bodyPr wrap="square" rtlCol="0" anchor="ctr"/>
          <a:lstStyle/>
          <a:p>
            <a:pPr marL="0" indent="0" algn="ctr">
              <a:buNone/>
              <a:defRPr/>
            </a:pPr>
            <a:r>
              <a:rPr lang="en-US" sz="1300">
                <a:solidFill>
                  <a:srgbClr val="000000"/>
                </a:solidFill>
                <a:latin typeface="Calibri"/>
                <a:ea typeface="Calibri"/>
                <a:cs typeface="Calibri"/>
              </a:rPr>
              <a:t>Nombre del trabajo:</a:t>
            </a:r>
            <a:br>
              <a:rPr lang="en-US" sz="1300">
                <a:solidFill>
                  <a:srgbClr val="000000"/>
                </a:solidFill>
                <a:latin typeface="Calibri"/>
                <a:ea typeface="Calibri"/>
                <a:cs typeface="Calibri"/>
              </a:rPr>
            </a:br>
            <a:r>
              <a:rPr lang="en-US" sz="1300">
                <a:solidFill>
                  <a:srgbClr val="000000"/>
                </a:solidFill>
                <a:latin typeface="Calibri"/>
                <a:ea typeface="Calibri"/>
                <a:cs typeface="Calibri"/>
              </a:rPr>
              <a:t>3.2 Reporte de Practica</a:t>
            </a:r>
            <a:endParaRPr lang="en-US" sz="1300"/>
          </a:p>
        </p:txBody>
      </p:sp>
      <p:sp>
        <p:nvSpPr>
          <p:cNvPr id="1027909912" name="Text 15"/>
          <p:cNvSpPr/>
          <p:nvPr/>
        </p:nvSpPr>
        <p:spPr bwMode="auto">
          <a:xfrm>
            <a:off x="457200" y="4754880"/>
            <a:ext cx="8229600" cy="274320"/>
          </a:xfrm>
          <a:prstGeom prst="rect">
            <a:avLst/>
          </a:prstGeom>
          <a:noFill/>
          <a:ln/>
        </p:spPr>
        <p:txBody>
          <a:bodyPr wrap="square" rtlCol="0" anchor="ctr"/>
          <a:lstStyle/>
          <a:p>
            <a:pPr marL="0" indent="0" algn="ctr">
              <a:buNone/>
              <a:defRPr/>
            </a:pPr>
            <a:r>
              <a:rPr lang="en-US" sz="1200">
                <a:solidFill>
                  <a:srgbClr val="000000"/>
                </a:solidFill>
                <a:latin typeface="Calibri"/>
                <a:ea typeface="Calibri"/>
                <a:cs typeface="Calibri"/>
              </a:rPr>
              <a:t>Frontera Comalapa, Chiapas. A </a:t>
            </a:r>
            <a:r>
              <a:rPr lang="es-ES" sz="1200">
                <a:solidFill>
                  <a:srgbClr val="000000"/>
                </a:solidFill>
                <a:latin typeface="Calibri"/>
                <a:ea typeface="Calibri"/>
                <a:cs typeface="Calibri"/>
              </a:rPr>
              <a:t>19</a:t>
            </a:r>
            <a:r>
              <a:rPr lang="en-US" sz="1200">
                <a:solidFill>
                  <a:srgbClr val="000000"/>
                </a:solidFill>
                <a:latin typeface="Calibri"/>
                <a:ea typeface="Calibri"/>
                <a:cs typeface="Calibri"/>
              </a:rPr>
              <a:t> de Mayo del 2026</a:t>
            </a:r>
            <a:endParaRPr lang="en-US" sz="1200"/>
          </a:p>
        </p:txBody>
      </p:sp>
      <p:pic>
        <p:nvPicPr>
          <p:cNvPr id="2060885897" name="Imagen 2060885896"/>
          <p:cNvPicPr>
            <a:picLocks noChangeAspect="1"/>
          </p:cNvPicPr>
          <p:nvPr/>
        </p:nvPicPr>
        <p:blipFill rotWithShape="1">
          <a:blip r:embed="rId4"/>
          <a:srcRect l="905" t="8279" b="-1"/>
          <a:stretch/>
        </p:blipFill>
        <p:spPr bwMode="auto">
          <a:xfrm>
            <a:off x="1992020" y="372745"/>
            <a:ext cx="5561328" cy="633093"/>
          </a:xfrm>
          <a:prstGeom prst="rect">
            <a:avLst/>
          </a:prstGeom>
          <a:ln>
            <a:noFill/>
          </a:ln>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name="Slide 2">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751760111" name="Text 0"/>
          <p:cNvSpPr/>
          <p:nvPr/>
        </p:nvSpPr>
        <p:spPr bwMode="auto">
          <a:xfrm>
            <a:off x="2335237" y="223324"/>
            <a:ext cx="8412480" cy="640080"/>
          </a:xfrm>
          <a:prstGeom prst="rect">
            <a:avLst/>
          </a:prstGeom>
          <a:noFill/>
          <a:ln/>
        </p:spPr>
        <p:txBody>
          <a:bodyPr wrap="square" rtlCol="0" anchor="ctr"/>
          <a:lstStyle/>
          <a:p>
            <a:pPr marL="0" indent="0">
              <a:buNone/>
              <a:defRPr/>
            </a:pPr>
            <a:r>
              <a:rPr lang="en-US" sz="4000">
                <a:solidFill>
                  <a:srgbClr val="000000"/>
                </a:solidFill>
                <a:latin typeface="Calibri Light"/>
                <a:ea typeface="Calibri Light"/>
                <a:cs typeface="Calibri Light"/>
              </a:rPr>
              <a:t>INTRODUCCION</a:t>
            </a:r>
            <a:endParaRPr lang="en-US" sz="4000"/>
          </a:p>
        </p:txBody>
      </p:sp>
      <p:sp>
        <p:nvSpPr>
          <p:cNvPr id="68873395" name="Text 1"/>
          <p:cNvSpPr/>
          <p:nvPr/>
        </p:nvSpPr>
        <p:spPr bwMode="auto">
          <a:xfrm>
            <a:off x="907366" y="1065628"/>
            <a:ext cx="6499274" cy="2226212"/>
          </a:xfrm>
          <a:prstGeom prst="rect">
            <a:avLst/>
          </a:prstGeom>
          <a:noFill/>
          <a:ln/>
        </p:spPr>
        <p:txBody>
          <a:bodyPr wrap="square" rtlCol="0" anchor="t"/>
          <a:lstStyle/>
          <a:p>
            <a:pPr marL="0" indent="0" algn="just">
              <a:buNone/>
              <a:defRPr/>
            </a:pPr>
            <a:r>
              <a:rPr lang="en-US" sz="1400">
                <a:solidFill>
                  <a:srgbClr val="000000"/>
                </a:solidFill>
                <a:latin typeface="Calibri"/>
                <a:ea typeface="Calibri"/>
                <a:cs typeface="Calibri"/>
              </a:rPr>
              <a:t>Las pruebas de software son una etapa fundamental en el desarrollo de aplicaciones, ya que permiten verificar que el sistema funcione correctamente antes de ser utilizado en producción. En esta práctica se realizaron pruebas unitarias y pruebas de integración sobre el microservicio de gestión de estudiantes desarrollado con Spring Boot 3 y PostgreSQL, utilizando herramientas como JUnit 5, Mockito y MockMvc. Estas pruebas permitieron validar el funcionamiento de los métodos del servicio (EstudianteService), los controladores REST (EstudianteController), la conexión con la base de datos y la interacción entre los componentes del sistema.</a:t>
            </a:r>
            <a:endParaRPr lang="en-US" sz="140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name="Slide 3">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62834164" name="Text 0"/>
          <p:cNvSpPr/>
          <p:nvPr/>
        </p:nvSpPr>
        <p:spPr bwMode="auto">
          <a:xfrm>
            <a:off x="365760" y="182880"/>
            <a:ext cx="8412480" cy="640080"/>
          </a:xfrm>
          <a:prstGeom prst="rect">
            <a:avLst/>
          </a:prstGeom>
          <a:noFill/>
          <a:ln/>
        </p:spPr>
        <p:txBody>
          <a:bodyPr wrap="square" rtlCol="0" anchor="ctr"/>
          <a:lstStyle/>
          <a:p>
            <a:pPr marL="0" indent="0" algn="ctr">
              <a:buNone/>
              <a:defRPr/>
            </a:pPr>
            <a:r>
              <a:rPr lang="en-US" sz="4000">
                <a:solidFill>
                  <a:srgbClr val="000000"/>
                </a:solidFill>
                <a:latin typeface="Calibri Light"/>
                <a:ea typeface="Calibri Light"/>
                <a:cs typeface="Calibri Light"/>
              </a:rPr>
              <a:t>JUSTIFICACION</a:t>
            </a:r>
            <a:endParaRPr lang="en-US" sz="4000"/>
          </a:p>
        </p:txBody>
      </p:sp>
      <p:sp>
        <p:nvSpPr>
          <p:cNvPr id="565630684" name="Text 1"/>
          <p:cNvSpPr/>
          <p:nvPr/>
        </p:nvSpPr>
        <p:spPr bwMode="auto">
          <a:xfrm>
            <a:off x="1329396" y="1255541"/>
            <a:ext cx="6984609" cy="1684606"/>
          </a:xfrm>
          <a:prstGeom prst="rect">
            <a:avLst/>
          </a:prstGeom>
          <a:noFill/>
          <a:ln/>
        </p:spPr>
        <p:txBody>
          <a:bodyPr wrap="square" rtlCol="0" anchor="t"/>
          <a:lstStyle/>
          <a:p>
            <a:pPr marL="0" indent="0" algn="just">
              <a:buNone/>
              <a:defRPr/>
            </a:pPr>
            <a:r>
              <a:rPr lang="en-US" sz="1400">
                <a:solidFill>
                  <a:srgbClr val="000000"/>
                </a:solidFill>
                <a:latin typeface="Calibri"/>
                <a:ea typeface="Calibri"/>
                <a:cs typeface="Calibri"/>
              </a:rPr>
              <a:t>La realización de pruebas de software sobre el microservicio de estudiantes permite detectar errores de manera temprana y garantizar que cada componente del sistema cumpla con su función. En esta práctica se aplicaron diferentes tipos de pruebas para asegurar la calidad del software desarrollado con Spring Boot 3 y PostgreSQL. Se verificó tanto el comportamiento individual de los métodos (capa Service) como la integración real con la base de datos y la correcta respuesta de los endpoints REST. Esto es especialmente importante dado que el microservicio maneja reglas de negocio críticas como la unicidad de correos electrónicos y matrículas de estudiantes.</a:t>
            </a:r>
            <a:endParaRPr lang="en-US" sz="140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name="Slide 5">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43353914" name="Text 0"/>
          <p:cNvSpPr/>
          <p:nvPr/>
        </p:nvSpPr>
        <p:spPr bwMode="auto">
          <a:xfrm>
            <a:off x="274320" y="91440"/>
            <a:ext cx="8595360" cy="502920"/>
          </a:xfrm>
          <a:prstGeom prst="rect">
            <a:avLst/>
          </a:prstGeom>
          <a:noFill/>
          <a:ln/>
        </p:spPr>
        <p:txBody>
          <a:bodyPr wrap="square" rtlCol="0" anchor="ctr"/>
          <a:lstStyle/>
          <a:p>
            <a:pPr marL="0" indent="0">
              <a:buNone/>
              <a:defRPr/>
            </a:pPr>
            <a:r>
              <a:rPr lang="en-US" sz="2200" b="1">
                <a:solidFill>
                  <a:srgbClr val="000000"/>
                </a:solidFill>
                <a:latin typeface="Calibri"/>
                <a:ea typeface="Calibri"/>
                <a:cs typeface="Calibri"/>
              </a:rPr>
              <a:t>1- EstudianteServiceTest </a:t>
            </a:r>
            <a:endParaRPr/>
          </a:p>
          <a:p>
            <a:pPr marL="0" indent="0">
              <a:buNone/>
              <a:defRPr/>
            </a:pPr>
            <a:r>
              <a:rPr lang="en-US" sz="2200" b="1">
                <a:solidFill>
                  <a:srgbClr val="000000"/>
                </a:solidFill>
                <a:latin typeface="Calibri"/>
                <a:ea typeface="Calibri"/>
                <a:cs typeface="Calibri"/>
              </a:rPr>
              <a:t>prueba unitaria</a:t>
            </a:r>
            <a:endParaRPr lang="en-US" sz="2200"/>
          </a:p>
        </p:txBody>
      </p:sp>
      <p:sp>
        <p:nvSpPr>
          <p:cNvPr id="311621311" name="Text 1"/>
          <p:cNvSpPr/>
          <p:nvPr/>
        </p:nvSpPr>
        <p:spPr bwMode="auto">
          <a:xfrm>
            <a:off x="274320" y="371739"/>
            <a:ext cx="8869680" cy="1371600"/>
          </a:xfrm>
          <a:prstGeom prst="rect">
            <a:avLst/>
          </a:prstGeom>
          <a:noFill/>
          <a:ln/>
        </p:spPr>
        <p:txBody>
          <a:bodyPr wrap="square" rtlCol="0" anchor="ctr"/>
          <a:lstStyle/>
          <a:p>
            <a:pPr>
              <a:defRPr/>
            </a:pPr>
            <a:r>
              <a:rPr lang="es-ES" sz="1400"/>
              <a:t>Este código pertenece a una prueba unitaria hecha con JUnit 5 y Mockito. Su objetivo es comprobar que el servicio funcione correctamente sin tener que usar una base de datos real. Con Mockito se simulan las respuestas del repositorio, y con JUnit se validan los resultados mediante aserciones para confirmar que sean los esperados.</a:t>
            </a:r>
            <a:endParaRPr/>
          </a:p>
        </p:txBody>
      </p:sp>
      <p:sp>
        <p:nvSpPr>
          <p:cNvPr id="1192271770" name="Text 2"/>
          <p:cNvSpPr/>
          <p:nvPr/>
        </p:nvSpPr>
        <p:spPr bwMode="auto">
          <a:xfrm>
            <a:off x="5516880" y="2259932"/>
            <a:ext cx="4114800" cy="256032"/>
          </a:xfrm>
          <a:prstGeom prst="rect">
            <a:avLst/>
          </a:prstGeom>
          <a:noFill/>
          <a:ln/>
        </p:spPr>
        <p:txBody>
          <a:bodyPr wrap="square" rtlCol="0" anchor="ctr"/>
          <a:lstStyle/>
          <a:p>
            <a:pPr marL="0" indent="0">
              <a:buNone/>
              <a:defRPr/>
            </a:pPr>
            <a:r>
              <a:rPr lang="en-US" sz="1400"/>
              <a:t>FUNCIONES:</a:t>
            </a:r>
            <a:endParaRPr/>
          </a:p>
        </p:txBody>
      </p:sp>
      <p:sp>
        <p:nvSpPr>
          <p:cNvPr id="1673081404" name="Text 3"/>
          <p:cNvSpPr/>
          <p:nvPr/>
        </p:nvSpPr>
        <p:spPr bwMode="auto">
          <a:xfrm>
            <a:off x="4753122" y="2387948"/>
            <a:ext cx="4390878" cy="1654713"/>
          </a:xfrm>
          <a:prstGeom prst="rect">
            <a:avLst/>
          </a:prstGeom>
          <a:noFill/>
          <a:ln/>
        </p:spPr>
        <p:txBody>
          <a:bodyPr wrap="square" rtlCol="0" anchor="ctr"/>
          <a:lstStyle/>
          <a:p>
            <a:pPr>
              <a:buSzPct val="100000"/>
              <a:defRPr/>
            </a:pPr>
            <a:r>
              <a:rPr lang="es-ES" sz="1100"/>
              <a:t>1-Se comprueba el registro de un estudiante cuando el correo ya existe.</a:t>
            </a:r>
            <a:br>
              <a:rPr lang="es-ES" sz="1100"/>
            </a:br>
            <a:r>
              <a:rPr lang="es-ES" sz="1100"/>
              <a:t>2-Se valida que un estudiante con información correcta pueda guardarse sin problemas.</a:t>
            </a:r>
            <a:br>
              <a:rPr lang="es-ES" sz="1100"/>
            </a:br>
            <a:r>
              <a:rPr lang="es-ES" sz="1100"/>
              <a:t>3-Se confirma que el sistema genere una excepción cuando se busca un ID que no existe.</a:t>
            </a:r>
            <a:br>
              <a:rPr lang="es-ES" sz="1100"/>
            </a:br>
            <a:r>
              <a:rPr lang="es-ES" sz="1100"/>
              <a:t>4-No se conecta a una base de datos PostgreSQL real, ya que se utilizan simulaciones con Mockito.</a:t>
            </a:r>
            <a:endParaRPr lang="en-US" sz="1100"/>
          </a:p>
        </p:txBody>
      </p:sp>
      <p:sp>
        <p:nvSpPr>
          <p:cNvPr id="23003610" name="Text 5"/>
          <p:cNvSpPr/>
          <p:nvPr/>
        </p:nvSpPr>
        <p:spPr bwMode="auto">
          <a:xfrm>
            <a:off x="4617720" y="658368"/>
            <a:ext cx="4251960" cy="4160519"/>
          </a:xfrm>
          <a:prstGeom prst="rect">
            <a:avLst/>
          </a:prstGeom>
          <a:noFill/>
          <a:ln/>
        </p:spPr>
        <p:txBody>
          <a:bodyPr wrap="square" rtlCol="0" anchor="t"/>
          <a:lstStyle/>
          <a:p>
            <a:pPr marL="0" indent="0">
              <a:buNone/>
              <a:defRPr/>
            </a:pPr>
            <a:r>
              <a:rPr lang="en-US" sz="900">
                <a:solidFill>
                  <a:srgbClr val="79C0FF"/>
                </a:solidFill>
                <a:latin typeface="Courier New"/>
                <a:ea typeface="Courier New"/>
                <a:cs typeface="Courier New"/>
              </a:rPr>
              <a:t>}</a:t>
            </a:r>
            <a:endParaRPr lang="en-US" sz="900"/>
          </a:p>
        </p:txBody>
      </p:sp>
      <p:pic>
        <p:nvPicPr>
          <p:cNvPr id="1837200575" name="Imagen 8"/>
          <p:cNvPicPr>
            <a:picLocks noChangeAspect="1"/>
          </p:cNvPicPr>
          <p:nvPr/>
        </p:nvPicPr>
        <p:blipFill rotWithShape="1">
          <a:blip r:embed="rId4"/>
          <a:stretch/>
        </p:blipFill>
        <p:spPr bwMode="auto">
          <a:xfrm>
            <a:off x="152393" y="1394453"/>
            <a:ext cx="4076073" cy="373380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name="Slide 6">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110220425" name="Text 0"/>
          <p:cNvSpPr/>
          <p:nvPr/>
        </p:nvSpPr>
        <p:spPr bwMode="auto">
          <a:xfrm>
            <a:off x="274320" y="91440"/>
            <a:ext cx="8595360" cy="502920"/>
          </a:xfrm>
          <a:prstGeom prst="rect">
            <a:avLst/>
          </a:prstGeom>
          <a:noFill/>
          <a:ln/>
        </p:spPr>
        <p:txBody>
          <a:bodyPr wrap="square" rtlCol="0" anchor="ctr"/>
          <a:lstStyle/>
          <a:p>
            <a:pPr marL="0" indent="0">
              <a:buNone/>
              <a:defRPr/>
            </a:pPr>
            <a:r>
              <a:rPr lang="en-US" sz="2000" b="1">
                <a:solidFill>
                  <a:srgbClr val="000000"/>
                </a:solidFill>
                <a:latin typeface="Calibri"/>
                <a:ea typeface="Calibri"/>
                <a:cs typeface="Calibri"/>
              </a:rPr>
              <a:t>EstudianteControllerTest (prueba de integración)</a:t>
            </a:r>
            <a:endParaRPr lang="en-US" sz="2000"/>
          </a:p>
        </p:txBody>
      </p:sp>
      <p:sp>
        <p:nvSpPr>
          <p:cNvPr id="1624396556" name="Text 1"/>
          <p:cNvSpPr/>
          <p:nvPr/>
        </p:nvSpPr>
        <p:spPr bwMode="auto">
          <a:xfrm>
            <a:off x="274320" y="658367"/>
            <a:ext cx="6423067" cy="1463040"/>
          </a:xfrm>
          <a:prstGeom prst="rect">
            <a:avLst/>
          </a:prstGeom>
          <a:noFill/>
          <a:ln/>
        </p:spPr>
        <p:txBody>
          <a:bodyPr wrap="square" rtlCol="0" anchor="ctr"/>
          <a:lstStyle/>
          <a:p>
            <a:pPr>
              <a:defRPr/>
            </a:pPr>
            <a:r>
              <a:rPr sz="1200" b="0" i="0" u="none">
                <a:solidFill>
                  <a:srgbClr val="000000"/>
                </a:solidFill>
                <a:latin typeface="Times New Roman"/>
                <a:ea typeface="Times New Roman"/>
                <a:cs typeface="Times New Roman"/>
              </a:rPr>
              <a:t>La prueba fue implementada utilizando </a:t>
            </a:r>
            <a:r>
              <a:rPr sz="1200" b="1" i="0" u="none">
                <a:solidFill>
                  <a:srgbClr val="000000"/>
                </a:solidFill>
                <a:latin typeface="Times New Roman"/>
                <a:ea typeface="Times New Roman"/>
                <a:cs typeface="Times New Roman"/>
              </a:rPr>
              <a:t>@SpringBootTest</a:t>
            </a:r>
            <a:r>
              <a:rPr sz="1200" b="0" i="0" u="none">
                <a:solidFill>
                  <a:srgbClr val="000000"/>
                </a:solidFill>
                <a:latin typeface="Times New Roman"/>
                <a:ea typeface="Times New Roman"/>
                <a:cs typeface="Times New Roman"/>
              </a:rPr>
              <a:t> junto con </a:t>
            </a:r>
            <a:r>
              <a:rPr sz="1200" b="1" i="0" u="none">
                <a:solidFill>
                  <a:srgbClr val="000000"/>
                </a:solidFill>
                <a:latin typeface="Times New Roman"/>
                <a:ea typeface="Times New Roman"/>
                <a:cs typeface="Times New Roman"/>
              </a:rPr>
              <a:t>MockMvc</a:t>
            </a:r>
            <a:r>
              <a:rPr sz="1200" b="0" i="0" u="none">
                <a:solidFill>
                  <a:srgbClr val="000000"/>
                </a:solidFill>
                <a:latin typeface="Times New Roman"/>
                <a:ea typeface="Times New Roman"/>
                <a:cs typeface="Times New Roman"/>
              </a:rPr>
              <a:t>, lo que permite cargar toda la configuración de Spring Boot y evaluar directamente las peticiones HTTP. Se utilizó una base de datos </a:t>
            </a:r>
            <a:r>
              <a:rPr sz="1200" b="1" i="0" u="none">
                <a:solidFill>
                  <a:srgbClr val="000000"/>
                </a:solidFill>
                <a:latin typeface="Times New Roman"/>
                <a:ea typeface="Times New Roman"/>
                <a:cs typeface="Times New Roman"/>
              </a:rPr>
              <a:t>H2 en memoria</a:t>
            </a:r>
            <a:r>
              <a:rPr sz="1200" b="0" i="0" u="none">
                <a:solidFill>
                  <a:srgbClr val="000000"/>
                </a:solidFill>
                <a:latin typeface="Times New Roman"/>
                <a:ea typeface="Times New Roman"/>
                <a:cs typeface="Times New Roman"/>
              </a:rPr>
              <a:t> para ejecutar las pruebas sin requerir una conexión a PostgreSQL. Además, se verificaron procesos reales de inserción y consulta de información a través de los endpoints REST, garantizando el correcto funcionamiento de la aplicación.</a:t>
            </a:r>
            <a:endParaRPr/>
          </a:p>
        </p:txBody>
      </p:sp>
      <p:sp>
        <p:nvSpPr>
          <p:cNvPr id="1080911834" name="Text 2"/>
          <p:cNvSpPr/>
          <p:nvPr/>
        </p:nvSpPr>
        <p:spPr bwMode="auto">
          <a:xfrm>
            <a:off x="1809693" y="2212848"/>
            <a:ext cx="4114800" cy="256032"/>
          </a:xfrm>
          <a:prstGeom prst="rect">
            <a:avLst/>
          </a:prstGeom>
          <a:noFill/>
          <a:ln/>
        </p:spPr>
        <p:txBody>
          <a:bodyPr wrap="square" rtlCol="0" anchor="ctr"/>
          <a:lstStyle/>
          <a:p>
            <a:pPr marL="0" indent="0">
              <a:buNone/>
              <a:defRPr/>
            </a:pPr>
            <a:r>
              <a:rPr lang="es-ES" sz="1400" b="1">
                <a:solidFill>
                  <a:srgbClr val="000000"/>
                </a:solidFill>
                <a:latin typeface="Calibri"/>
                <a:ea typeface="Calibri"/>
                <a:cs typeface="Calibri"/>
              </a:rPr>
              <a:t>FUNCION:</a:t>
            </a:r>
            <a:endParaRPr lang="en-US" sz="1400"/>
          </a:p>
        </p:txBody>
      </p:sp>
      <p:sp>
        <p:nvSpPr>
          <p:cNvPr id="370792604" name="Text 3"/>
          <p:cNvSpPr/>
          <p:nvPr/>
        </p:nvSpPr>
        <p:spPr bwMode="auto">
          <a:xfrm>
            <a:off x="743461" y="2212848"/>
            <a:ext cx="5100941" cy="2468880"/>
          </a:xfrm>
          <a:prstGeom prst="rect">
            <a:avLst/>
          </a:prstGeom>
          <a:noFill/>
          <a:ln/>
        </p:spPr>
        <p:txBody>
          <a:bodyPr wrap="square" rtlCol="0" anchor="ctr"/>
          <a:lstStyle/>
          <a:p>
            <a:pPr>
              <a:defRPr/>
            </a:pPr>
            <a:r>
              <a:rPr sz="1200" b="0" i="0" u="none">
                <a:solidFill>
                  <a:srgbClr val="000000"/>
                </a:solidFill>
                <a:latin typeface="Arial"/>
                <a:ea typeface="Arial"/>
                <a:cs typeface="Arial"/>
              </a:rPr>
              <a:t>Inicia Spring Boot cargando todo el contexto de la aplicación.</a:t>
            </a:r>
            <a:endParaRPr>
              <a:latin typeface="Arial"/>
              <a:cs typeface="Arial"/>
            </a:endParaRPr>
          </a:p>
          <a:p>
            <a:pPr>
              <a:defRPr/>
            </a:pPr>
            <a:r>
              <a:rPr sz="1200" b="0" i="0" u="none">
                <a:solidFill>
                  <a:srgbClr val="000000"/>
                </a:solidFill>
                <a:latin typeface="Arial"/>
                <a:ea typeface="Arial"/>
                <a:cs typeface="Arial"/>
              </a:rPr>
              <a:t>Usa H2 como base de datos temporal en memoria, sustituyendo a PostgreSQL durante las pruebas.</a:t>
            </a:r>
            <a:endParaRPr>
              <a:latin typeface="Arial"/>
              <a:cs typeface="Arial"/>
            </a:endParaRPr>
          </a:p>
          <a:p>
            <a:pPr>
              <a:defRPr/>
            </a:pPr>
            <a:r>
              <a:rPr sz="1200" b="0" i="0" u="none">
                <a:solidFill>
                  <a:srgbClr val="000000"/>
                </a:solidFill>
                <a:latin typeface="Arial"/>
                <a:ea typeface="Arial"/>
                <a:cs typeface="Arial"/>
              </a:rPr>
              <a:t>Realiza peticiones reales tipo POST, GET, PUT y DELETE.</a:t>
            </a:r>
            <a:endParaRPr>
              <a:latin typeface="Arial"/>
              <a:cs typeface="Arial"/>
            </a:endParaRPr>
          </a:p>
          <a:p>
            <a:pPr>
              <a:defRPr/>
            </a:pPr>
            <a:r>
              <a:rPr sz="1200" b="0" i="0" u="none">
                <a:solidFill>
                  <a:srgbClr val="000000"/>
                </a:solidFill>
                <a:latin typeface="Arial"/>
                <a:ea typeface="Arial"/>
                <a:cs typeface="Arial"/>
              </a:rPr>
              <a:t>Comprueba las respuestas HTTP esperadas, como 200, 201, 404 y 400.</a:t>
            </a:r>
            <a:endParaRPr>
              <a:latin typeface="Arial"/>
              <a:cs typeface="Arial"/>
            </a:endParaRPr>
          </a:p>
          <a:p>
            <a:pPr>
              <a:defRPr/>
            </a:pPr>
            <a:r>
              <a:rPr sz="1200" b="0" i="0" u="none">
                <a:solidFill>
                  <a:srgbClr val="000000"/>
                </a:solidFill>
                <a:latin typeface="Arial"/>
                <a:ea typeface="Arial"/>
                <a:cs typeface="Arial"/>
              </a:rPr>
              <a:t> Revisa el contenido JSON de las respuestas mediante </a:t>
            </a:r>
            <a:r>
              <a:rPr sz="1000" b="0" i="0" u="none">
                <a:solidFill>
                  <a:srgbClr val="000000"/>
                </a:solidFill>
                <a:latin typeface="Arial"/>
                <a:ea typeface="Arial"/>
                <a:cs typeface="Arial"/>
              </a:rPr>
              <a:t>jsonPath()</a:t>
            </a:r>
            <a:r>
              <a:rPr sz="1200" b="0" i="0" u="none">
                <a:solidFill>
                  <a:srgbClr val="000000"/>
                </a:solidFill>
                <a:latin typeface="Arial"/>
                <a:ea typeface="Arial"/>
                <a:cs typeface="Arial"/>
              </a:rPr>
              <a:t>.</a:t>
            </a:r>
            <a:endParaRPr lang="en-US" sz="1300"/>
          </a:p>
        </p:txBody>
      </p:sp>
      <p:sp>
        <p:nvSpPr>
          <p:cNvPr id="833482439" name="Text 5"/>
          <p:cNvSpPr/>
          <p:nvPr/>
        </p:nvSpPr>
        <p:spPr bwMode="auto">
          <a:xfrm>
            <a:off x="4617720" y="658368"/>
            <a:ext cx="4251960" cy="4160519"/>
          </a:xfrm>
          <a:prstGeom prst="rect">
            <a:avLst/>
          </a:prstGeom>
          <a:noFill/>
          <a:ln/>
        </p:spPr>
        <p:txBody>
          <a:bodyPr wrap="square" rtlCol="0" anchor="t"/>
          <a:lstStyle/>
          <a:p>
            <a:pPr marL="0" indent="0">
              <a:buNone/>
              <a:defRPr/>
            </a:pPr>
            <a:r>
              <a:rPr lang="en-US" sz="900">
                <a:solidFill>
                  <a:srgbClr val="79C0FF"/>
                </a:solidFill>
                <a:latin typeface="Courier New"/>
                <a:ea typeface="Courier New"/>
                <a:cs typeface="Courier New"/>
              </a:rPr>
              <a:t>}</a:t>
            </a:r>
            <a:endParaRPr lang="en-US" sz="90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name="Slide 3">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435196280" name="Text 0"/>
          <p:cNvSpPr/>
          <p:nvPr/>
        </p:nvSpPr>
        <p:spPr bwMode="auto">
          <a:xfrm>
            <a:off x="365760" y="182880"/>
            <a:ext cx="8412480" cy="640080"/>
          </a:xfrm>
          <a:prstGeom prst="rect">
            <a:avLst/>
          </a:prstGeom>
          <a:noFill/>
          <a:ln/>
        </p:spPr>
        <p:txBody>
          <a:bodyPr wrap="square" rtlCol="0" anchor="ctr"/>
          <a:lstStyle/>
          <a:p>
            <a:pPr marL="0" indent="0" algn="ctr">
              <a:buNone/>
              <a:defRPr/>
            </a:pPr>
            <a:endParaRPr lang="en-US" sz="4000"/>
          </a:p>
        </p:txBody>
      </p:sp>
      <p:sp>
        <p:nvSpPr>
          <p:cNvPr id="1973600044" name="Text 1"/>
          <p:cNvSpPr/>
          <p:nvPr/>
        </p:nvSpPr>
        <p:spPr bwMode="auto">
          <a:xfrm>
            <a:off x="1329395" y="1255540"/>
            <a:ext cx="6984608" cy="1684605"/>
          </a:xfrm>
          <a:prstGeom prst="rect">
            <a:avLst/>
          </a:prstGeom>
          <a:noFill/>
          <a:ln/>
        </p:spPr>
        <p:txBody>
          <a:bodyPr wrap="square" rtlCol="0" anchor="t"/>
          <a:lstStyle/>
          <a:p>
            <a:pPr marL="0" indent="0" algn="just">
              <a:buNone/>
              <a:defRPr/>
            </a:pPr>
            <a:endParaRPr lang="en-US" sz="1400"/>
          </a:p>
        </p:txBody>
      </p:sp>
      <p:pic>
        <p:nvPicPr>
          <p:cNvPr id="279036666" name="Imagen 279036665"/>
          <p:cNvPicPr>
            <a:picLocks noChangeAspect="1"/>
          </p:cNvPicPr>
          <p:nvPr/>
        </p:nvPicPr>
        <p:blipFill rotWithShape="1">
          <a:blip r:embed="rId4"/>
          <a:stretch/>
        </p:blipFill>
        <p:spPr bwMode="auto">
          <a:xfrm>
            <a:off x="536356" y="822960"/>
            <a:ext cx="7596889" cy="3865707"/>
          </a:xfrm>
          <a:prstGeom prst="rect">
            <a:avLst/>
          </a:prstGeom>
        </p:spPr>
      </p:pic>
      <p:sp>
        <p:nvSpPr>
          <p:cNvPr id="505238481" name="CuadroTexto 505238480"/>
          <p:cNvSpPr txBox="1"/>
          <p:nvPr/>
        </p:nvSpPr>
        <p:spPr bwMode="auto">
          <a:xfrm>
            <a:off x="1869086" y="5515"/>
            <a:ext cx="3642990" cy="6400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indent="0" algn="l">
              <a:buNone/>
              <a:defRPr/>
            </a:pPr>
            <a:r>
              <a:rPr lang="en-US" b="1">
                <a:solidFill>
                  <a:srgbClr val="000000"/>
                </a:solidFill>
                <a:latin typeface="Calibri"/>
                <a:ea typeface="Calibri"/>
                <a:cs typeface="Calibri"/>
              </a:rPr>
              <a:t>EstudianteControllerTest (prueba de integración)</a:t>
            </a:r>
            <a:endParaRPr lang="en-US" sz="200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10098521" name="Freeform 8"/>
          <p:cNvSpPr/>
          <p:nvPr/>
        </p:nvSpPr>
        <p:spPr bwMode="auto">
          <a:xfrm>
            <a:off x="210541" y="260986"/>
            <a:ext cx="2901462" cy="2057400"/>
          </a:xfrm>
          <a:custGeom>
            <a:avLst/>
            <a:gdLst/>
            <a:ahLst/>
            <a:cxnLst/>
            <a:rect l="l" t="t" r="r" b="b"/>
            <a:pathLst>
              <a:path w="5802923" h="4114800" extrusionOk="0">
                <a:moveTo>
                  <a:pt x="0" y="0"/>
                </a:moveTo>
                <a:lnTo>
                  <a:pt x="5802923" y="0"/>
                </a:lnTo>
                <a:lnTo>
                  <a:pt x="5802923" y="4114800"/>
                </a:lnTo>
                <a:lnTo>
                  <a:pt x="0" y="4114800"/>
                </a:lnTo>
                <a:lnTo>
                  <a:pt x="0" y="0"/>
                </a:lnTo>
                <a:close/>
              </a:path>
            </a:pathLst>
          </a:custGeom>
          <a:blipFill rotWithShape="1">
            <a:blip r:embed="rId3"/>
            <a:stretch>
              <a:fillRect/>
            </a:stretch>
          </a:blipFill>
        </p:spPr>
        <p:txBody>
          <a:bodyPr/>
          <a:lstStyle/>
          <a:p>
            <a:endParaRPr lang="es-MX" dirty="0"/>
          </a:p>
        </p:txBody>
      </p:sp>
      <p:sp>
        <p:nvSpPr>
          <p:cNvPr id="837217533" name="Freeform 9"/>
          <p:cNvSpPr/>
          <p:nvPr/>
        </p:nvSpPr>
        <p:spPr bwMode="auto">
          <a:xfrm flipH="1" flipV="1">
            <a:off x="6031998" y="2886681"/>
            <a:ext cx="2901462" cy="2057400"/>
          </a:xfrm>
          <a:custGeom>
            <a:avLst/>
            <a:gdLst/>
            <a:ahLst/>
            <a:cxnLst/>
            <a:rect l="l" t="t" r="r" b="b"/>
            <a:pathLst>
              <a:path w="5802923" h="4114800" extrusionOk="0">
                <a:moveTo>
                  <a:pt x="5802923" y="4114800"/>
                </a:moveTo>
                <a:lnTo>
                  <a:pt x="0" y="4114800"/>
                </a:lnTo>
                <a:lnTo>
                  <a:pt x="0" y="0"/>
                </a:lnTo>
                <a:lnTo>
                  <a:pt x="5802923" y="0"/>
                </a:lnTo>
                <a:lnTo>
                  <a:pt x="5802923" y="4114800"/>
                </a:lnTo>
                <a:close/>
              </a:path>
            </a:pathLst>
          </a:custGeom>
          <a:blipFill rotWithShape="1">
            <a:blip r:embed="rId3"/>
            <a:stretch>
              <a:fillRect/>
            </a:stretch>
          </a:blipFill>
        </p:spPr>
      </p:sp>
      <p:sp>
        <p:nvSpPr>
          <p:cNvPr id="552871635" name="AutoShape 10"/>
          <p:cNvSpPr/>
          <p:nvPr/>
        </p:nvSpPr>
        <p:spPr bwMode="auto">
          <a:xfrm flipV="1">
            <a:off x="3264274" y="303848"/>
            <a:ext cx="5471121" cy="0"/>
          </a:xfrm>
          <a:prstGeom prst="line">
            <a:avLst/>
          </a:prstGeom>
          <a:ln w="19050" cap="flat">
            <a:solidFill>
              <a:srgbClr val="FFFFFF"/>
            </a:solidFill>
            <a:prstDash val="solid"/>
            <a:headEnd type="oval" w="lg" len="lg"/>
            <a:tailEnd type="none" w="sm" len="sm"/>
          </a:ln>
        </p:spPr>
      </p:sp>
      <p:sp>
        <p:nvSpPr>
          <p:cNvPr id="1365982969" name="AutoShape 11"/>
          <p:cNvSpPr/>
          <p:nvPr/>
        </p:nvSpPr>
        <p:spPr bwMode="auto">
          <a:xfrm flipH="1">
            <a:off x="376442" y="4872644"/>
            <a:ext cx="5471121" cy="0"/>
          </a:xfrm>
          <a:prstGeom prst="line">
            <a:avLst/>
          </a:prstGeom>
          <a:ln w="19050" cap="flat">
            <a:solidFill>
              <a:srgbClr val="FFFFFF"/>
            </a:solidFill>
            <a:prstDash val="solid"/>
            <a:headEnd type="oval" w="lg" len="lg"/>
            <a:tailEnd type="none" w="sm" len="sm"/>
          </a:ln>
        </p:spPr>
      </p:sp>
      <p:sp>
        <p:nvSpPr>
          <p:cNvPr id="1237816248" name="TextBox 12"/>
          <p:cNvSpPr txBox="1"/>
          <p:nvPr/>
        </p:nvSpPr>
        <p:spPr bwMode="auto">
          <a:xfrm>
            <a:off x="2912931" y="1739953"/>
            <a:ext cx="3318139" cy="1077218"/>
          </a:xfrm>
          <a:prstGeom prst="rect">
            <a:avLst/>
          </a:prstGeom>
        </p:spPr>
        <p:txBody>
          <a:bodyPr wrap="square" lIns="0" tIns="0" rIns="0" bIns="0" rtlCol="0" anchor="t">
            <a:spAutoFit/>
          </a:bodyPr>
          <a:lstStyle/>
          <a:p>
            <a:pPr algn="l"/>
            <a:r>
              <a:rPr lang="es-ES" sz="1400" dirty="0">
                <a:latin typeface="pplxSerif"/>
              </a:rPr>
              <a:t>Anexo link de </a:t>
            </a:r>
            <a:r>
              <a:rPr lang="es-ES" sz="1400" dirty="0" err="1">
                <a:latin typeface="pplxSerif"/>
              </a:rPr>
              <a:t>git</a:t>
            </a:r>
            <a:r>
              <a:rPr lang="es-ES" sz="1400" dirty="0">
                <a:latin typeface="pplxSerif"/>
              </a:rPr>
              <a:t> con las actividades correspondientes proyecto https://github.com/eddiCastS/PRUEBAS-EN-BRUNO.git</a:t>
            </a:r>
          </a:p>
          <a:p>
            <a:pPr algn="l"/>
            <a:endParaRPr lang="es-ES" sz="1400" dirty="0">
              <a:solidFill>
                <a:schemeClr val="bg1"/>
              </a:solidFill>
              <a:latin typeface="pplxSerif"/>
            </a:endParaRPr>
          </a:p>
        </p:txBody>
      </p:sp>
      <p:sp>
        <p:nvSpPr>
          <p:cNvPr id="702311257" name="TextBox 13"/>
          <p:cNvSpPr txBox="1"/>
          <p:nvPr/>
        </p:nvSpPr>
        <p:spPr bwMode="auto">
          <a:xfrm>
            <a:off x="2092998" y="879517"/>
            <a:ext cx="4958005" cy="528991"/>
          </a:xfrm>
          <a:prstGeom prst="rect">
            <a:avLst/>
          </a:prstGeom>
        </p:spPr>
        <p:txBody>
          <a:bodyPr lIns="0" tIns="0" rIns="0" bIns="0" rtlCol="0" anchor="t">
            <a:spAutoFit/>
          </a:bodyPr>
          <a:lstStyle/>
          <a:p>
            <a:pPr algn="ctr">
              <a:lnSpc>
                <a:spcPts val="4379"/>
              </a:lnSpc>
              <a:defRPr/>
            </a:pPr>
            <a:r>
              <a:rPr lang="en-US" sz="3125" spc="91" dirty="0">
                <a:latin typeface="Etna Sans Serif"/>
                <a:ea typeface="Etna Sans Serif"/>
                <a:cs typeface="Etna Sans Serif"/>
              </a:rPr>
              <a:t>Link de git hub</a:t>
            </a:r>
            <a:endParaRPr sz="900"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name="Slide 8">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373816409" name="Text 0"/>
          <p:cNvSpPr/>
          <p:nvPr/>
        </p:nvSpPr>
        <p:spPr bwMode="auto">
          <a:xfrm>
            <a:off x="2228110" y="253962"/>
            <a:ext cx="8412480" cy="640080"/>
          </a:xfrm>
          <a:prstGeom prst="rect">
            <a:avLst/>
          </a:prstGeom>
          <a:noFill/>
          <a:ln/>
        </p:spPr>
        <p:txBody>
          <a:bodyPr wrap="square" rtlCol="0" anchor="ctr"/>
          <a:lstStyle/>
          <a:p>
            <a:pPr marL="0" indent="0">
              <a:buNone/>
              <a:defRPr/>
            </a:pPr>
            <a:r>
              <a:rPr lang="es-ES" sz="4000">
                <a:solidFill>
                  <a:srgbClr val="000000"/>
                </a:solidFill>
                <a:latin typeface="Calibri Light"/>
                <a:ea typeface="Calibri Light"/>
                <a:cs typeface="Calibri Light"/>
              </a:rPr>
              <a:t>CONCLUSION</a:t>
            </a:r>
            <a:endParaRPr lang="en-US" sz="4000"/>
          </a:p>
        </p:txBody>
      </p:sp>
      <p:sp>
        <p:nvSpPr>
          <p:cNvPr id="1665958716" name="Text 1"/>
          <p:cNvSpPr/>
          <p:nvPr/>
        </p:nvSpPr>
        <p:spPr bwMode="auto">
          <a:xfrm>
            <a:off x="365760" y="960120"/>
            <a:ext cx="8412480" cy="3931920"/>
          </a:xfrm>
          <a:prstGeom prst="rect">
            <a:avLst/>
          </a:prstGeom>
          <a:noFill/>
          <a:ln/>
        </p:spPr>
        <p:txBody>
          <a:bodyPr wrap="square" rtlCol="0" anchor="t"/>
          <a:lstStyle/>
          <a:p>
            <a:pPr algn="just">
              <a:defRPr/>
            </a:pPr>
            <a:r>
              <a:rPr sz="1200" b="0" i="0" u="none">
                <a:solidFill>
                  <a:srgbClr val="000000"/>
                </a:solidFill>
                <a:latin typeface="Arial"/>
                <a:ea typeface="Arial"/>
                <a:cs typeface="Arial"/>
              </a:rPr>
              <a:t>Las pruebas aplicadas al microservicio de estudiantes permitieron verificar que el sistema opera de forma correcta tanto a nivel individual mediante pruebas unitarias con JUnit 5 y Mockito, como a nivel global a través de pruebas de integración utilizando SpringBootTest, MockMvc y H2. Estas herramientas hicieron posible evaluar la lógica de negocio, detectar posibles fallos y comprobar el funcionamiento adecuado de los servicios REST. Asimismo, se validaron aspectos importantes como la unicidad de correos electrónicos y matrículas, las restricciones de los campos y las respuestas HTTP generadas por la aplicación. Gracias a ello, se incrementa la calidad, estabilidad y confiabilidad del microservicio antes de ser implementado en un entorno real con PostgreSQL.</a:t>
            </a:r>
            <a:endParaRPr>
              <a:latin typeface="Arial"/>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718</Words>
  <Application>Microsoft Office PowerPoint</Application>
  <PresentationFormat>Presentación en pantalla (16:9)</PresentationFormat>
  <Paragraphs>42</Paragraphs>
  <Slides>8</Slides>
  <Notes>8</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8</vt:i4>
      </vt:variant>
    </vt:vector>
  </HeadingPairs>
  <TitlesOfParts>
    <vt:vector size="16" baseType="lpstr">
      <vt:lpstr>Arial</vt:lpstr>
      <vt:lpstr>Calibri</vt:lpstr>
      <vt:lpstr>Calibri Light</vt:lpstr>
      <vt:lpstr>Courier New</vt:lpstr>
      <vt:lpstr>Etna Sans Serif</vt:lpstr>
      <vt:lpstr>pplxSerif</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3.2 Reporte de Practica - Pruebas de Software</dc:title>
  <dc:subject>PptxGenJS Presentation</dc:subject>
  <dc:creator>PptxGenJS</dc:creator>
  <cp:lastModifiedBy>eddi castillo</cp:lastModifiedBy>
  <cp:revision>4</cp:revision>
  <dcterms:created xsi:type="dcterms:W3CDTF">2026-05-31T01:46:32Z</dcterms:created>
  <dcterms:modified xsi:type="dcterms:W3CDTF">2026-06-05T16:12:45Z</dcterms:modified>
</cp:coreProperties>
</file>