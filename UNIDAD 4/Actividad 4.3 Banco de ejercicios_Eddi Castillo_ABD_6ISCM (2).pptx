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82" r:id="rId6"/>
    <p:sldId id="283" r:id="rId7"/>
    <p:sldId id="284" r:id="rId8"/>
    <p:sldId id="270" r:id="rId9"/>
    <p:sldId id="263" r:id="rId10"/>
  </p:sldIdLst>
  <p:sldSz cx="18288000" cy="10287000"/>
  <p:notesSz cx="18288000" cy="10287000"/>
  <p:defaultTextStyle>
    <a:defPPr>
      <a:defRPr/>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66" autoAdjust="0"/>
    <p:restoredTop sz="94660"/>
  </p:normalViewPr>
  <p:slideViewPr>
    <p:cSldViewPr>
      <p:cViewPr varScale="1">
        <p:scale>
          <a:sx n="52" d="100"/>
          <a:sy n="52" d="100"/>
        </p:scale>
        <p:origin x="965" y="62"/>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4"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BF18944-D6FA-56D4-FD40-79D83DBD4AAC}"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51C3244-B1D7-8B3E-B480-BDDD44BB755E}"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FAAC240-CDCB-4B3E-A3FD-AAFE001FB73F}"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396FD67-E116-32D4-510D-13CDE925C7C2}"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396FD67-E116-32D4-510D-13CDE925C7C2}" type="slidenum">
              <a:rPr/>
              <a:t>5</a:t>
            </a:fld>
            <a:endParaRPr/>
          </a:p>
        </p:txBody>
      </p:sp>
    </p:spTree>
    <p:extLst>
      <p:ext uri="{BB962C8B-B14F-4D97-AF65-F5344CB8AC3E}">
        <p14:creationId xmlns:p14="http://schemas.microsoft.com/office/powerpoint/2010/main" val="2183737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396FD67-E116-32D4-510D-13CDE925C7C2}" type="slidenum">
              <a:rPr/>
              <a:t>6</a:t>
            </a:fld>
            <a:endParaRPr/>
          </a:p>
        </p:txBody>
      </p:sp>
    </p:spTree>
    <p:extLst>
      <p:ext uri="{BB962C8B-B14F-4D97-AF65-F5344CB8AC3E}">
        <p14:creationId xmlns:p14="http://schemas.microsoft.com/office/powerpoint/2010/main" val="2010440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396FD67-E116-32D4-510D-13CDE925C7C2}" type="slidenum">
              <a:rPr/>
              <a:t>7</a:t>
            </a:fld>
            <a:endParaRPr/>
          </a:p>
        </p:txBody>
      </p:sp>
    </p:spTree>
    <p:extLst>
      <p:ext uri="{BB962C8B-B14F-4D97-AF65-F5344CB8AC3E}">
        <p14:creationId xmlns:p14="http://schemas.microsoft.com/office/powerpoint/2010/main" val="39299118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09EC8BC-B3D1-A74E-C214-6A6C616F21EC}"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85CC06C-4856-61F3-0BF2-E27DEFF228F3}" type="slidenum">
              <a:rPr/>
              <a:t>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obj" preserve="1" userDrawn="1">
  <p:cSld name="Title Slide">
    <p:spTree>
      <p:nvGrpSpPr>
        <p:cNvPr id="1" name=""/>
        <p:cNvGrpSpPr/>
        <p:nvPr/>
      </p:nvGrpSpPr>
      <p:grpSpPr bwMode="auto">
        <a:xfrm>
          <a:off x="0" y="0"/>
          <a:ext cx="0" cy="0"/>
          <a:chOff x="0" y="0"/>
          <a:chExt cx="0" cy="0"/>
        </a:xfrm>
      </p:grpSpPr>
      <p:sp>
        <p:nvSpPr>
          <p:cNvPr id="2018149164" name="Holder 2"/>
          <p:cNvSpPr>
            <a:spLocks noGrp="1"/>
          </p:cNvSpPr>
          <p:nvPr>
            <p:ph type="ctrTitle"/>
          </p:nvPr>
        </p:nvSpPr>
        <p:spPr bwMode="auto">
          <a:xfrm>
            <a:off x="1371600" y="3188970"/>
            <a:ext cx="15544800" cy="2160270"/>
          </a:xfrm>
          <a:prstGeom prst="rect">
            <a:avLst/>
          </a:prstGeom>
        </p:spPr>
        <p:txBody>
          <a:bodyPr wrap="square" lIns="0" tIns="0" rIns="0" bIns="0">
            <a:spAutoFit/>
          </a:bodyPr>
          <a:lstStyle>
            <a:lvl1pPr>
              <a:defRPr sz="2600" b="0" i="0">
                <a:solidFill>
                  <a:schemeClr val="bg1"/>
                </a:solidFill>
                <a:latin typeface="Arial"/>
                <a:cs typeface="Arial"/>
              </a:defRPr>
            </a:lvl1pPr>
          </a:lstStyle>
          <a:p>
            <a:pPr>
              <a:defRPr/>
            </a:pPr>
            <a:endParaRPr/>
          </a:p>
        </p:txBody>
      </p:sp>
      <p:sp>
        <p:nvSpPr>
          <p:cNvPr id="629003789" name="Holder 3"/>
          <p:cNvSpPr>
            <a:spLocks noGrp="1"/>
          </p:cNvSpPr>
          <p:nvPr>
            <p:ph type="subTitle" idx="4"/>
          </p:nvPr>
        </p:nvSpPr>
        <p:spPr bwMode="auto">
          <a:xfrm>
            <a:off x="2743200" y="5760720"/>
            <a:ext cx="12801600" cy="2571750"/>
          </a:xfrm>
          <a:prstGeom prst="rect">
            <a:avLst/>
          </a:prstGeom>
        </p:spPr>
        <p:txBody>
          <a:bodyPr wrap="square" lIns="0" tIns="0" rIns="0" bIns="0">
            <a:spAutoFit/>
          </a:bodyPr>
          <a:lstStyle>
            <a:lvl1pPr>
              <a:defRPr sz="1800" b="0" i="0">
                <a:solidFill>
                  <a:schemeClr val="tx1"/>
                </a:solidFill>
                <a:latin typeface="Calibri"/>
                <a:cs typeface="Calibri"/>
              </a:defRPr>
            </a:lvl1pPr>
          </a:lstStyle>
          <a:p>
            <a:pPr>
              <a:defRPr/>
            </a:pPr>
            <a:endParaRPr/>
          </a:p>
        </p:txBody>
      </p:sp>
      <p:sp>
        <p:nvSpPr>
          <p:cNvPr id="213754297" name="Holder 4"/>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1678705121" name="Holder 5"/>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6/6/2026</a:t>
            </a:fld>
            <a:endParaRPr/>
          </a:p>
        </p:txBody>
      </p:sp>
      <p:sp>
        <p:nvSpPr>
          <p:cNvPr id="785124094" name="Holder 6"/>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1627524495" name="Holder 2"/>
          <p:cNvSpPr>
            <a:spLocks noGrp="1"/>
          </p:cNvSpPr>
          <p:nvPr>
            <p:ph type="title"/>
          </p:nvPr>
        </p:nvSpPr>
        <p:spPr bwMode="auto"/>
        <p:txBody>
          <a:bodyPr lIns="0" tIns="0" rIns="0" bIns="0"/>
          <a:lstStyle>
            <a:lvl1pPr>
              <a:defRPr sz="2600" b="0" i="0">
                <a:solidFill>
                  <a:schemeClr val="bg1"/>
                </a:solidFill>
                <a:latin typeface="Arial"/>
                <a:cs typeface="Arial"/>
              </a:defRPr>
            </a:lvl1pPr>
          </a:lstStyle>
          <a:p>
            <a:pPr>
              <a:defRPr/>
            </a:pPr>
            <a:endParaRPr/>
          </a:p>
        </p:txBody>
      </p:sp>
      <p:sp>
        <p:nvSpPr>
          <p:cNvPr id="325639691" name="Holder 3"/>
          <p:cNvSpPr>
            <a:spLocks noGrp="1"/>
          </p:cNvSpPr>
          <p:nvPr>
            <p:ph type="body" idx="1"/>
          </p:nvPr>
        </p:nvSpPr>
        <p:spPr bwMode="auto"/>
        <p:txBody>
          <a:bodyPr lIns="0" tIns="0" rIns="0" bIns="0"/>
          <a:lstStyle>
            <a:lvl1pPr>
              <a:defRPr sz="1800" b="0" i="0">
                <a:solidFill>
                  <a:schemeClr val="tx1"/>
                </a:solidFill>
                <a:latin typeface="Calibri"/>
                <a:cs typeface="Calibri"/>
              </a:defRPr>
            </a:lvl1pPr>
          </a:lstStyle>
          <a:p>
            <a:pPr>
              <a:defRPr/>
            </a:pPr>
            <a:endParaRPr/>
          </a:p>
        </p:txBody>
      </p:sp>
      <p:sp>
        <p:nvSpPr>
          <p:cNvPr id="2139457769" name="Holder 4"/>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483770364" name="Holder 5"/>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6/6/2026</a:t>
            </a:fld>
            <a:endParaRPr/>
          </a:p>
        </p:txBody>
      </p:sp>
      <p:sp>
        <p:nvSpPr>
          <p:cNvPr id="1291913832" name="Holder 6"/>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obj" preserve="1" userDrawn="1">
  <p:cSld name="Two Content">
    <p:spTree>
      <p:nvGrpSpPr>
        <p:cNvPr id="1" name=""/>
        <p:cNvGrpSpPr/>
        <p:nvPr/>
      </p:nvGrpSpPr>
      <p:grpSpPr bwMode="auto">
        <a:xfrm>
          <a:off x="0" y="0"/>
          <a:ext cx="0" cy="0"/>
          <a:chOff x="0" y="0"/>
          <a:chExt cx="0" cy="0"/>
        </a:xfrm>
      </p:grpSpPr>
      <p:sp>
        <p:nvSpPr>
          <p:cNvPr id="1112662680" name="Holder 2"/>
          <p:cNvSpPr>
            <a:spLocks noGrp="1"/>
          </p:cNvSpPr>
          <p:nvPr>
            <p:ph type="title"/>
          </p:nvPr>
        </p:nvSpPr>
        <p:spPr bwMode="auto"/>
        <p:txBody>
          <a:bodyPr lIns="0" tIns="0" rIns="0" bIns="0"/>
          <a:lstStyle>
            <a:lvl1pPr>
              <a:defRPr sz="2600" b="0" i="0">
                <a:solidFill>
                  <a:schemeClr val="bg1"/>
                </a:solidFill>
                <a:latin typeface="Arial"/>
                <a:cs typeface="Arial"/>
              </a:defRPr>
            </a:lvl1pPr>
          </a:lstStyle>
          <a:p>
            <a:pPr>
              <a:defRPr/>
            </a:pPr>
            <a:endParaRPr/>
          </a:p>
        </p:txBody>
      </p:sp>
      <p:sp>
        <p:nvSpPr>
          <p:cNvPr id="1510550572" name="Holder 3"/>
          <p:cNvSpPr>
            <a:spLocks noGrp="1"/>
          </p:cNvSpPr>
          <p:nvPr>
            <p:ph sz="half" idx="2"/>
          </p:nvPr>
        </p:nvSpPr>
        <p:spPr bwMode="auto">
          <a:xfrm>
            <a:off x="914400" y="2366010"/>
            <a:ext cx="7955280" cy="6789420"/>
          </a:xfrm>
          <a:prstGeom prst="rect">
            <a:avLst/>
          </a:prstGeom>
        </p:spPr>
        <p:txBody>
          <a:bodyPr wrap="square" lIns="0" tIns="0" rIns="0" bIns="0">
            <a:spAutoFit/>
          </a:bodyPr>
          <a:lstStyle>
            <a:lvl1pPr>
              <a:defRPr/>
            </a:lvl1pPr>
          </a:lstStyle>
          <a:p>
            <a:pPr>
              <a:defRPr/>
            </a:pPr>
            <a:endParaRPr/>
          </a:p>
        </p:txBody>
      </p:sp>
      <p:sp>
        <p:nvSpPr>
          <p:cNvPr id="1443120115" name="Holder 4"/>
          <p:cNvSpPr>
            <a:spLocks noGrp="1"/>
          </p:cNvSpPr>
          <p:nvPr>
            <p:ph sz="half" idx="3"/>
          </p:nvPr>
        </p:nvSpPr>
        <p:spPr bwMode="auto">
          <a:xfrm>
            <a:off x="9418320" y="2366010"/>
            <a:ext cx="7955280" cy="6789420"/>
          </a:xfrm>
          <a:prstGeom prst="rect">
            <a:avLst/>
          </a:prstGeom>
        </p:spPr>
        <p:txBody>
          <a:bodyPr wrap="square" lIns="0" tIns="0" rIns="0" bIns="0">
            <a:spAutoFit/>
          </a:bodyPr>
          <a:lstStyle>
            <a:lvl1pPr>
              <a:defRPr/>
            </a:lvl1pPr>
          </a:lstStyle>
          <a:p>
            <a:pPr>
              <a:defRPr/>
            </a:pPr>
            <a:endParaRPr/>
          </a:p>
        </p:txBody>
      </p:sp>
      <p:sp>
        <p:nvSpPr>
          <p:cNvPr id="924331020" name="Holder 5"/>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1275952006" name="Holder 6"/>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6/6/2026</a:t>
            </a:fld>
            <a:endParaRPr/>
          </a:p>
        </p:txBody>
      </p:sp>
      <p:sp>
        <p:nvSpPr>
          <p:cNvPr id="577549689" name="Holder 7"/>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obj" preserve="1" userDrawn="1">
  <p:cSld name="Title Only">
    <p:spTree>
      <p:nvGrpSpPr>
        <p:cNvPr id="1" name=""/>
        <p:cNvGrpSpPr/>
        <p:nvPr/>
      </p:nvGrpSpPr>
      <p:grpSpPr bwMode="auto">
        <a:xfrm>
          <a:off x="0" y="0"/>
          <a:ext cx="0" cy="0"/>
          <a:chOff x="0" y="0"/>
          <a:chExt cx="0" cy="0"/>
        </a:xfrm>
      </p:grpSpPr>
      <p:sp>
        <p:nvSpPr>
          <p:cNvPr id="1127847346" name="Holder 2"/>
          <p:cNvSpPr>
            <a:spLocks noGrp="1"/>
          </p:cNvSpPr>
          <p:nvPr>
            <p:ph type="title"/>
          </p:nvPr>
        </p:nvSpPr>
        <p:spPr bwMode="auto"/>
        <p:txBody>
          <a:bodyPr lIns="0" tIns="0" rIns="0" bIns="0"/>
          <a:lstStyle>
            <a:lvl1pPr>
              <a:defRPr sz="2600" b="0" i="0">
                <a:solidFill>
                  <a:schemeClr val="bg1"/>
                </a:solidFill>
                <a:latin typeface="Arial"/>
                <a:cs typeface="Arial"/>
              </a:defRPr>
            </a:lvl1pPr>
          </a:lstStyle>
          <a:p>
            <a:pPr>
              <a:defRPr/>
            </a:pPr>
            <a:endParaRPr/>
          </a:p>
        </p:txBody>
      </p:sp>
      <p:sp>
        <p:nvSpPr>
          <p:cNvPr id="748535332" name="Holder 3"/>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1921483583" name="Holder 4"/>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6/6/2026</a:t>
            </a:fld>
            <a:endParaRPr/>
          </a:p>
        </p:txBody>
      </p:sp>
      <p:sp>
        <p:nvSpPr>
          <p:cNvPr id="43323899" name="Holder 5"/>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showMasterPhAnim="0" type="obj" preserve="1" userDrawn="1">
  <p:cSld name="Blank">
    <p:bg>
      <p:bgPr>
        <a:solidFill>
          <a:schemeClr val="bg1"/>
        </a:solidFill>
        <a:effectLst/>
      </p:bgPr>
    </p:bg>
    <p:spTree>
      <p:nvGrpSpPr>
        <p:cNvPr id="1" name=""/>
        <p:cNvGrpSpPr/>
        <p:nvPr/>
      </p:nvGrpSpPr>
      <p:grpSpPr bwMode="auto">
        <a:xfrm>
          <a:off x="0" y="0"/>
          <a:ext cx="0" cy="0"/>
          <a:chOff x="0" y="0"/>
          <a:chExt cx="0" cy="0"/>
        </a:xfrm>
      </p:grpSpPr>
      <p:pic>
        <p:nvPicPr>
          <p:cNvPr id="169982878" name="bg object 16"/>
          <p:cNvPicPr/>
          <p:nvPr/>
        </p:nvPicPr>
        <p:blipFill rotWithShape="1">
          <a:blip r:embed="rId2"/>
          <a:stretch/>
        </p:blipFill>
        <p:spPr bwMode="auto">
          <a:xfrm>
            <a:off x="0" y="0"/>
            <a:ext cx="18288000" cy="10287000"/>
          </a:xfrm>
          <a:prstGeom prst="rect">
            <a:avLst/>
          </a:prstGeom>
        </p:spPr>
      </p:pic>
      <p:sp>
        <p:nvSpPr>
          <p:cNvPr id="427546125" name="Holder 2"/>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330167427" name="Holder 3"/>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6/6/2026</a:t>
            </a:fld>
            <a:endParaRPr/>
          </a:p>
        </p:txBody>
      </p:sp>
      <p:sp>
        <p:nvSpPr>
          <p:cNvPr id="509676551" name="Holder 4"/>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bwMode="auto">
        <a:xfrm>
          <a:off x="0" y="0"/>
          <a:ext cx="0" cy="0"/>
          <a:chOff x="0" y="0"/>
          <a:chExt cx="0" cy="0"/>
        </a:xfrm>
      </p:grpSpPr>
      <p:pic>
        <p:nvPicPr>
          <p:cNvPr id="1593465348" name="bg object 16"/>
          <p:cNvPicPr/>
          <p:nvPr/>
        </p:nvPicPr>
        <p:blipFill rotWithShape="1">
          <a:blip r:embed="rId7"/>
          <a:stretch/>
        </p:blipFill>
        <p:spPr bwMode="auto">
          <a:xfrm>
            <a:off x="0" y="0"/>
            <a:ext cx="18288000" cy="10287000"/>
          </a:xfrm>
          <a:prstGeom prst="rect">
            <a:avLst/>
          </a:prstGeom>
        </p:spPr>
      </p:pic>
      <p:sp>
        <p:nvSpPr>
          <p:cNvPr id="2129486492" name="Holder 2"/>
          <p:cNvSpPr>
            <a:spLocks noGrp="1"/>
          </p:cNvSpPr>
          <p:nvPr>
            <p:ph type="title"/>
          </p:nvPr>
        </p:nvSpPr>
        <p:spPr bwMode="auto">
          <a:xfrm>
            <a:off x="1212644" y="475122"/>
            <a:ext cx="10993755" cy="421640"/>
          </a:xfrm>
          <a:prstGeom prst="rect">
            <a:avLst/>
          </a:prstGeom>
        </p:spPr>
        <p:txBody>
          <a:bodyPr wrap="square" lIns="0" tIns="0" rIns="0" bIns="0">
            <a:spAutoFit/>
          </a:bodyPr>
          <a:lstStyle>
            <a:lvl1pPr>
              <a:defRPr sz="2600" b="0" i="0">
                <a:solidFill>
                  <a:schemeClr val="bg1"/>
                </a:solidFill>
                <a:latin typeface="Arial"/>
                <a:cs typeface="Arial"/>
              </a:defRPr>
            </a:lvl1pPr>
          </a:lstStyle>
          <a:p>
            <a:pPr>
              <a:defRPr/>
            </a:pPr>
            <a:endParaRPr/>
          </a:p>
        </p:txBody>
      </p:sp>
      <p:sp>
        <p:nvSpPr>
          <p:cNvPr id="336246971" name="Holder 3"/>
          <p:cNvSpPr>
            <a:spLocks noGrp="1"/>
          </p:cNvSpPr>
          <p:nvPr>
            <p:ph type="body" idx="1"/>
          </p:nvPr>
        </p:nvSpPr>
        <p:spPr bwMode="auto">
          <a:xfrm>
            <a:off x="8231123" y="1590154"/>
            <a:ext cx="9259568" cy="4782184"/>
          </a:xfrm>
          <a:prstGeom prst="rect">
            <a:avLst/>
          </a:prstGeom>
        </p:spPr>
        <p:txBody>
          <a:bodyPr wrap="square" lIns="0" tIns="0" rIns="0" bIns="0">
            <a:spAutoFit/>
          </a:bodyPr>
          <a:lstStyle>
            <a:lvl1pPr>
              <a:defRPr sz="1800" b="0" i="0">
                <a:solidFill>
                  <a:schemeClr val="tx1"/>
                </a:solidFill>
                <a:latin typeface="Calibri"/>
                <a:cs typeface="Calibri"/>
              </a:defRPr>
            </a:lvl1pPr>
          </a:lstStyle>
          <a:p>
            <a:pPr>
              <a:defRPr/>
            </a:pPr>
            <a:endParaRPr/>
          </a:p>
        </p:txBody>
      </p:sp>
      <p:sp>
        <p:nvSpPr>
          <p:cNvPr id="664995257" name="Holder 4"/>
          <p:cNvSpPr>
            <a:spLocks noGrp="1"/>
          </p:cNvSpPr>
          <p:nvPr>
            <p:ph type="ftr" sz="quarter" idx="5"/>
          </p:nvPr>
        </p:nvSpPr>
        <p:spPr bwMode="auto">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pPr>
              <a:defRPr/>
            </a:pPr>
            <a:endParaRPr/>
          </a:p>
        </p:txBody>
      </p:sp>
      <p:sp>
        <p:nvSpPr>
          <p:cNvPr id="403906267" name="Holder 5"/>
          <p:cNvSpPr>
            <a:spLocks noGrp="1"/>
          </p:cNvSpPr>
          <p:nvPr>
            <p:ph type="dt" sz="half" idx="6"/>
          </p:nvPr>
        </p:nvSpPr>
        <p:spPr bwMode="auto">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pPr>
              <a:defRPr/>
            </a:pPr>
            <a:fld id="{1D8BD707-D9CF-40AE-B4C6-C98DA3205C09}" type="datetimeFigureOut">
              <a:rPr lang="en-US"/>
              <a:t>6/6/2026</a:t>
            </a:fld>
            <a:endParaRPr/>
          </a:p>
        </p:txBody>
      </p:sp>
      <p:sp>
        <p:nvSpPr>
          <p:cNvPr id="619254908" name="Holder 6"/>
          <p:cNvSpPr>
            <a:spLocks noGrp="1"/>
          </p:cNvSpPr>
          <p:nvPr>
            <p:ph type="sldNum" sz="quarter" idx="7"/>
          </p:nvPr>
        </p:nvSpPr>
        <p:spPr bwMode="auto">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pPr>
              <a:defRPr/>
            </a:pPr>
            <a:fld id="{B6F15528-21DE-4FAA-801E-634DDDAF4B2B}" type="slidenum">
              <a:rPr/>
              <a:t>‹Nº›</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18435529" name="object 2"/>
          <p:cNvSpPr txBox="1"/>
          <p:nvPr/>
        </p:nvSpPr>
        <p:spPr bwMode="auto">
          <a:xfrm>
            <a:off x="4025952" y="1870683"/>
            <a:ext cx="8243874" cy="7525744"/>
          </a:xfrm>
          <a:prstGeom prst="rect">
            <a:avLst/>
          </a:prstGeom>
        </p:spPr>
        <p:txBody>
          <a:bodyPr vert="horz" wrap="square" lIns="0" tIns="12700" rIns="0" bIns="0" rtlCol="0">
            <a:spAutoFit/>
          </a:bodyPr>
          <a:lstStyle/>
          <a:p>
            <a:pPr marL="1582420" marR="253365" algn="ctr">
              <a:lnSpc>
                <a:spcPct val="100000"/>
              </a:lnSpc>
              <a:spcBef>
                <a:spcPts val="100"/>
              </a:spcBef>
              <a:defRPr/>
            </a:pPr>
            <a:r>
              <a:rPr sz="2400" b="1" dirty="0">
                <a:solidFill>
                  <a:srgbClr val="FFFFFF"/>
                </a:solidFill>
                <a:latin typeface="Arial"/>
                <a:cs typeface="Arial"/>
              </a:rPr>
              <a:t>Instituto</a:t>
            </a:r>
            <a:r>
              <a:rPr sz="2400" b="1" spc="-40" dirty="0">
                <a:solidFill>
                  <a:srgbClr val="FFFFFF"/>
                </a:solidFill>
                <a:latin typeface="Arial"/>
                <a:cs typeface="Arial"/>
              </a:rPr>
              <a:t> </a:t>
            </a:r>
            <a:r>
              <a:rPr sz="2400" b="1" dirty="0" err="1">
                <a:solidFill>
                  <a:srgbClr val="FFFFFF"/>
                </a:solidFill>
                <a:latin typeface="Arial"/>
                <a:cs typeface="Arial"/>
              </a:rPr>
              <a:t>Tecnológico</a:t>
            </a:r>
            <a:r>
              <a:rPr sz="2400" b="1" spc="-40" dirty="0">
                <a:solidFill>
                  <a:srgbClr val="FFFFFF"/>
                </a:solidFill>
                <a:latin typeface="Arial"/>
                <a:cs typeface="Arial"/>
              </a:rPr>
              <a:t> </a:t>
            </a:r>
            <a:r>
              <a:rPr sz="2400" b="1" dirty="0">
                <a:solidFill>
                  <a:srgbClr val="FFFFFF"/>
                </a:solidFill>
                <a:latin typeface="Arial"/>
                <a:cs typeface="Arial"/>
              </a:rPr>
              <a:t>de</a:t>
            </a:r>
            <a:r>
              <a:rPr sz="2400" b="1" spc="-40" dirty="0">
                <a:solidFill>
                  <a:srgbClr val="FFFFFF"/>
                </a:solidFill>
                <a:latin typeface="Arial"/>
                <a:cs typeface="Arial"/>
              </a:rPr>
              <a:t> </a:t>
            </a:r>
            <a:r>
              <a:rPr sz="2400" b="1" dirty="0">
                <a:solidFill>
                  <a:srgbClr val="FFFFFF"/>
                </a:solidFill>
                <a:latin typeface="Arial"/>
                <a:cs typeface="Arial"/>
              </a:rPr>
              <a:t>Frontera</a:t>
            </a:r>
            <a:r>
              <a:rPr sz="2400" b="1" spc="-35" dirty="0">
                <a:solidFill>
                  <a:srgbClr val="FFFFFF"/>
                </a:solidFill>
                <a:latin typeface="Arial"/>
                <a:cs typeface="Arial"/>
              </a:rPr>
              <a:t> </a:t>
            </a:r>
            <a:r>
              <a:rPr sz="2400" b="1" spc="-10" dirty="0" err="1">
                <a:solidFill>
                  <a:srgbClr val="FFFFFF"/>
                </a:solidFill>
                <a:latin typeface="Arial"/>
                <a:cs typeface="Arial"/>
              </a:rPr>
              <a:t>Comalapa</a:t>
            </a:r>
            <a:r>
              <a:rPr sz="2400" b="1" spc="-10" dirty="0">
                <a:solidFill>
                  <a:srgbClr val="FFFFFF"/>
                </a:solidFill>
                <a:latin typeface="Arial"/>
                <a:cs typeface="Arial"/>
              </a:rPr>
              <a:t> </a:t>
            </a:r>
            <a:r>
              <a:rPr sz="2400" b="1" dirty="0" err="1">
                <a:solidFill>
                  <a:srgbClr val="FFFFFF"/>
                </a:solidFill>
                <a:latin typeface="Arial"/>
                <a:cs typeface="Arial"/>
              </a:rPr>
              <a:t>Modalidad</a:t>
            </a:r>
            <a:r>
              <a:rPr sz="2400" b="1" spc="-15" dirty="0">
                <a:solidFill>
                  <a:srgbClr val="FFFFFF"/>
                </a:solidFill>
                <a:latin typeface="Arial"/>
                <a:cs typeface="Arial"/>
              </a:rPr>
              <a:t> </a:t>
            </a:r>
            <a:r>
              <a:rPr sz="2400" b="1" spc="-10" dirty="0">
                <a:solidFill>
                  <a:srgbClr val="FFFFFF"/>
                </a:solidFill>
                <a:latin typeface="Arial"/>
                <a:cs typeface="Arial"/>
              </a:rPr>
              <a:t>Mixta</a:t>
            </a:r>
            <a:endParaRPr sz="2400" dirty="0">
              <a:latin typeface="Arial"/>
              <a:cs typeface="Arial"/>
            </a:endParaRPr>
          </a:p>
          <a:p>
            <a:pPr>
              <a:lnSpc>
                <a:spcPct val="100000"/>
              </a:lnSpc>
              <a:spcBef>
                <a:spcPts val="355"/>
              </a:spcBef>
              <a:defRPr/>
            </a:pPr>
            <a:endParaRPr sz="2400" dirty="0">
              <a:latin typeface="Arial"/>
              <a:cs typeface="Arial"/>
            </a:endParaRPr>
          </a:p>
          <a:p>
            <a:pPr marL="1323340" algn="ctr">
              <a:lnSpc>
                <a:spcPct val="100000"/>
              </a:lnSpc>
              <a:defRPr/>
            </a:pPr>
            <a:r>
              <a:rPr sz="2600" b="1" spc="-10" dirty="0">
                <a:solidFill>
                  <a:srgbClr val="FFFFFF"/>
                </a:solidFill>
                <a:latin typeface="Arial"/>
                <a:cs typeface="Arial"/>
              </a:rPr>
              <a:t>Materia:</a:t>
            </a:r>
            <a:endParaRPr sz="2600" dirty="0">
              <a:latin typeface="Arial"/>
              <a:cs typeface="Arial"/>
            </a:endParaRPr>
          </a:p>
          <a:p>
            <a:pPr marL="1322070" algn="ctr">
              <a:lnSpc>
                <a:spcPct val="100000"/>
              </a:lnSpc>
              <a:defRPr/>
            </a:pPr>
            <a:r>
              <a:rPr sz="2600" spc="-10" dirty="0" err="1">
                <a:solidFill>
                  <a:srgbClr val="FFFFFF"/>
                </a:solidFill>
                <a:latin typeface="Arial"/>
                <a:cs typeface="Arial"/>
              </a:rPr>
              <a:t>Administración</a:t>
            </a:r>
            <a:r>
              <a:rPr sz="2600" spc="-60" dirty="0">
                <a:solidFill>
                  <a:srgbClr val="FFFFFF"/>
                </a:solidFill>
                <a:latin typeface="Arial"/>
                <a:cs typeface="Arial"/>
              </a:rPr>
              <a:t> </a:t>
            </a:r>
            <a:r>
              <a:rPr sz="2600" dirty="0">
                <a:solidFill>
                  <a:srgbClr val="FFFFFF"/>
                </a:solidFill>
                <a:latin typeface="Arial"/>
                <a:cs typeface="Arial"/>
              </a:rPr>
              <a:t>de</a:t>
            </a:r>
            <a:r>
              <a:rPr sz="2600" spc="-55" dirty="0">
                <a:solidFill>
                  <a:srgbClr val="FFFFFF"/>
                </a:solidFill>
                <a:latin typeface="Arial"/>
                <a:cs typeface="Arial"/>
              </a:rPr>
              <a:t> </a:t>
            </a:r>
            <a:r>
              <a:rPr sz="2600" dirty="0">
                <a:solidFill>
                  <a:srgbClr val="FFFFFF"/>
                </a:solidFill>
                <a:latin typeface="Arial"/>
                <a:cs typeface="Arial"/>
              </a:rPr>
              <a:t>base</a:t>
            </a:r>
            <a:r>
              <a:rPr sz="2600" spc="-55" dirty="0">
                <a:solidFill>
                  <a:srgbClr val="FFFFFF"/>
                </a:solidFill>
                <a:latin typeface="Arial"/>
                <a:cs typeface="Arial"/>
              </a:rPr>
              <a:t> </a:t>
            </a:r>
            <a:r>
              <a:rPr sz="2600" dirty="0">
                <a:solidFill>
                  <a:srgbClr val="FFFFFF"/>
                </a:solidFill>
                <a:latin typeface="Arial"/>
                <a:cs typeface="Arial"/>
              </a:rPr>
              <a:t>de</a:t>
            </a:r>
            <a:r>
              <a:rPr sz="2600" spc="-60" dirty="0">
                <a:solidFill>
                  <a:srgbClr val="FFFFFF"/>
                </a:solidFill>
                <a:latin typeface="Arial"/>
                <a:cs typeface="Arial"/>
              </a:rPr>
              <a:t> </a:t>
            </a:r>
            <a:r>
              <a:rPr sz="2600" spc="-10" dirty="0" err="1">
                <a:solidFill>
                  <a:srgbClr val="FFFFFF"/>
                </a:solidFill>
                <a:latin typeface="Arial"/>
                <a:cs typeface="Arial"/>
              </a:rPr>
              <a:t>datos</a:t>
            </a:r>
            <a:endParaRPr sz="2600" dirty="0">
              <a:latin typeface="Arial"/>
              <a:cs typeface="Arial"/>
            </a:endParaRPr>
          </a:p>
          <a:p>
            <a:pPr marL="3627754" marR="2297430" indent="1905" algn="ctr">
              <a:lnSpc>
                <a:spcPct val="100000"/>
              </a:lnSpc>
              <a:defRPr/>
            </a:pPr>
            <a:r>
              <a:rPr sz="2600" b="1" spc="-10" dirty="0" err="1">
                <a:solidFill>
                  <a:srgbClr val="FFFFFF"/>
                </a:solidFill>
                <a:latin typeface="Arial"/>
                <a:cs typeface="Arial"/>
              </a:rPr>
              <a:t>Semestre</a:t>
            </a:r>
            <a:r>
              <a:rPr sz="2600" b="1" spc="-10" dirty="0">
                <a:solidFill>
                  <a:srgbClr val="FFFFFF"/>
                </a:solidFill>
                <a:latin typeface="Arial"/>
                <a:cs typeface="Arial"/>
              </a:rPr>
              <a:t>: </a:t>
            </a:r>
            <a:r>
              <a:rPr sz="2600" dirty="0">
                <a:solidFill>
                  <a:srgbClr val="FFFFFF"/>
                </a:solidFill>
                <a:latin typeface="Arial"/>
                <a:cs typeface="Arial"/>
              </a:rPr>
              <a:t>Sexto</a:t>
            </a:r>
            <a:r>
              <a:rPr sz="2600" spc="-80" dirty="0">
                <a:solidFill>
                  <a:srgbClr val="FFFFFF"/>
                </a:solidFill>
                <a:latin typeface="Arial"/>
                <a:cs typeface="Arial"/>
              </a:rPr>
              <a:t> </a:t>
            </a:r>
            <a:r>
              <a:rPr sz="2600" spc="-10" dirty="0" err="1">
                <a:solidFill>
                  <a:srgbClr val="FFFFFF"/>
                </a:solidFill>
                <a:latin typeface="Arial"/>
                <a:cs typeface="Arial"/>
              </a:rPr>
              <a:t>semestre</a:t>
            </a:r>
            <a:r>
              <a:rPr sz="2600" spc="-10" dirty="0">
                <a:solidFill>
                  <a:srgbClr val="FFFFFF"/>
                </a:solidFill>
                <a:latin typeface="Arial"/>
                <a:cs typeface="Arial"/>
              </a:rPr>
              <a:t> </a:t>
            </a:r>
            <a:r>
              <a:rPr sz="2600" b="1" spc="-10" dirty="0" err="1">
                <a:solidFill>
                  <a:srgbClr val="FFFFFF"/>
                </a:solidFill>
                <a:latin typeface="Arial"/>
                <a:cs typeface="Arial"/>
              </a:rPr>
              <a:t>Especialidad</a:t>
            </a:r>
            <a:r>
              <a:rPr sz="2600" b="1" spc="-10" dirty="0">
                <a:solidFill>
                  <a:srgbClr val="FFFFFF"/>
                </a:solidFill>
                <a:latin typeface="Arial"/>
                <a:cs typeface="Arial"/>
              </a:rPr>
              <a:t>:</a:t>
            </a:r>
            <a:endParaRPr sz="2600" dirty="0">
              <a:latin typeface="Arial"/>
              <a:cs typeface="Arial"/>
            </a:endParaRPr>
          </a:p>
          <a:p>
            <a:pPr marL="1317625" algn="ctr">
              <a:lnSpc>
                <a:spcPct val="100000"/>
              </a:lnSpc>
              <a:defRPr/>
            </a:pPr>
            <a:r>
              <a:rPr sz="2600" dirty="0" err="1">
                <a:solidFill>
                  <a:srgbClr val="FFFFFF"/>
                </a:solidFill>
                <a:latin typeface="Arial"/>
                <a:cs typeface="Arial"/>
              </a:rPr>
              <a:t>Ingeniería</a:t>
            </a:r>
            <a:r>
              <a:rPr sz="2600" spc="-95" dirty="0">
                <a:solidFill>
                  <a:srgbClr val="FFFFFF"/>
                </a:solidFill>
                <a:latin typeface="Arial"/>
                <a:cs typeface="Arial"/>
              </a:rPr>
              <a:t> </a:t>
            </a:r>
            <a:r>
              <a:rPr sz="2600" dirty="0" err="1">
                <a:solidFill>
                  <a:srgbClr val="FFFFFF"/>
                </a:solidFill>
                <a:latin typeface="Arial"/>
                <a:cs typeface="Arial"/>
              </a:rPr>
              <a:t>en</a:t>
            </a:r>
            <a:r>
              <a:rPr sz="2600" spc="-90" dirty="0">
                <a:solidFill>
                  <a:srgbClr val="FFFFFF"/>
                </a:solidFill>
                <a:latin typeface="Arial"/>
                <a:cs typeface="Arial"/>
              </a:rPr>
              <a:t> </a:t>
            </a:r>
            <a:r>
              <a:rPr sz="2600" dirty="0" err="1">
                <a:solidFill>
                  <a:srgbClr val="FFFFFF"/>
                </a:solidFill>
                <a:latin typeface="Arial"/>
                <a:cs typeface="Arial"/>
              </a:rPr>
              <a:t>Sistemas</a:t>
            </a:r>
            <a:r>
              <a:rPr sz="2600" spc="-95" dirty="0">
                <a:solidFill>
                  <a:srgbClr val="FFFFFF"/>
                </a:solidFill>
                <a:latin typeface="Arial"/>
                <a:cs typeface="Arial"/>
              </a:rPr>
              <a:t> </a:t>
            </a:r>
            <a:r>
              <a:rPr sz="2600" spc="-10" dirty="0" err="1">
                <a:solidFill>
                  <a:srgbClr val="FFFFFF"/>
                </a:solidFill>
                <a:latin typeface="Arial"/>
                <a:cs typeface="Arial"/>
              </a:rPr>
              <a:t>Computacionales</a:t>
            </a:r>
            <a:r>
              <a:rPr sz="2600" spc="-10" dirty="0">
                <a:solidFill>
                  <a:srgbClr val="FFFFFF"/>
                </a:solidFill>
                <a:latin typeface="Arial"/>
                <a:cs typeface="Arial"/>
              </a:rPr>
              <a:t>.</a:t>
            </a:r>
            <a:endParaRPr sz="2600" dirty="0">
              <a:latin typeface="Arial"/>
              <a:cs typeface="Arial"/>
            </a:endParaRPr>
          </a:p>
          <a:p>
            <a:pPr marL="1322705" algn="ctr">
              <a:lnSpc>
                <a:spcPct val="100000"/>
              </a:lnSpc>
              <a:defRPr/>
            </a:pPr>
            <a:r>
              <a:rPr sz="2600" b="1" dirty="0" err="1">
                <a:solidFill>
                  <a:srgbClr val="FFFFFF"/>
                </a:solidFill>
                <a:latin typeface="Arial"/>
                <a:cs typeface="Arial"/>
              </a:rPr>
              <a:t>Numero</a:t>
            </a:r>
            <a:r>
              <a:rPr sz="2600" b="1" spc="-50" dirty="0">
                <a:solidFill>
                  <a:srgbClr val="FFFFFF"/>
                </a:solidFill>
                <a:latin typeface="Arial"/>
                <a:cs typeface="Arial"/>
              </a:rPr>
              <a:t> </a:t>
            </a:r>
            <a:r>
              <a:rPr sz="2600" b="1" dirty="0">
                <a:solidFill>
                  <a:srgbClr val="FFFFFF"/>
                </a:solidFill>
                <a:latin typeface="Arial"/>
                <a:cs typeface="Arial"/>
              </a:rPr>
              <a:t>de</a:t>
            </a:r>
            <a:r>
              <a:rPr sz="2600" b="1" spc="-50" dirty="0">
                <a:solidFill>
                  <a:srgbClr val="FFFFFF"/>
                </a:solidFill>
                <a:latin typeface="Arial"/>
                <a:cs typeface="Arial"/>
              </a:rPr>
              <a:t> </a:t>
            </a:r>
            <a:r>
              <a:rPr sz="2600" b="1" spc="-10" dirty="0">
                <a:solidFill>
                  <a:srgbClr val="FFFFFF"/>
                </a:solidFill>
                <a:latin typeface="Arial"/>
                <a:cs typeface="Arial"/>
              </a:rPr>
              <a:t>control:</a:t>
            </a:r>
            <a:endParaRPr sz="2600" dirty="0">
              <a:latin typeface="Arial"/>
              <a:cs typeface="Arial"/>
            </a:endParaRPr>
          </a:p>
          <a:p>
            <a:pPr marL="1323974" algn="ctr">
              <a:lnSpc>
                <a:spcPct val="100000"/>
              </a:lnSpc>
              <a:defRPr/>
            </a:pPr>
            <a:r>
              <a:rPr sz="2600" spc="-10" dirty="0">
                <a:solidFill>
                  <a:srgbClr val="FFFFFF"/>
                </a:solidFill>
                <a:latin typeface="Arial"/>
                <a:cs typeface="Arial"/>
              </a:rPr>
              <a:t>231260005</a:t>
            </a:r>
            <a:endParaRPr sz="2600" dirty="0">
              <a:latin typeface="Arial"/>
              <a:cs typeface="Arial"/>
            </a:endParaRPr>
          </a:p>
          <a:p>
            <a:pPr marL="1323340" algn="ctr">
              <a:lnSpc>
                <a:spcPct val="100000"/>
              </a:lnSpc>
              <a:defRPr/>
            </a:pPr>
            <a:r>
              <a:rPr sz="2600" b="1" dirty="0" err="1">
                <a:solidFill>
                  <a:srgbClr val="FFFFFF"/>
                </a:solidFill>
                <a:latin typeface="Arial"/>
                <a:cs typeface="Arial"/>
              </a:rPr>
              <a:t>Nombre</a:t>
            </a:r>
            <a:r>
              <a:rPr sz="2600" b="1" spc="-35" dirty="0">
                <a:solidFill>
                  <a:srgbClr val="FFFFFF"/>
                </a:solidFill>
                <a:latin typeface="Arial"/>
                <a:cs typeface="Arial"/>
              </a:rPr>
              <a:t> </a:t>
            </a:r>
            <a:r>
              <a:rPr sz="2600" b="1" dirty="0">
                <a:solidFill>
                  <a:srgbClr val="FFFFFF"/>
                </a:solidFill>
                <a:latin typeface="Arial"/>
                <a:cs typeface="Arial"/>
              </a:rPr>
              <a:t>del</a:t>
            </a:r>
            <a:r>
              <a:rPr sz="2600" b="1" spc="-35" dirty="0">
                <a:solidFill>
                  <a:srgbClr val="FFFFFF"/>
                </a:solidFill>
                <a:latin typeface="Arial"/>
                <a:cs typeface="Arial"/>
              </a:rPr>
              <a:t> </a:t>
            </a:r>
            <a:r>
              <a:rPr sz="2600" b="1" spc="-10" dirty="0" err="1">
                <a:solidFill>
                  <a:srgbClr val="FFFFFF"/>
                </a:solidFill>
                <a:latin typeface="Arial"/>
                <a:cs typeface="Arial"/>
              </a:rPr>
              <a:t>alumno</a:t>
            </a:r>
            <a:r>
              <a:rPr sz="2600" b="1" spc="-10" dirty="0">
                <a:solidFill>
                  <a:srgbClr val="FFFFFF"/>
                </a:solidFill>
                <a:latin typeface="Arial"/>
                <a:cs typeface="Arial"/>
              </a:rPr>
              <a:t>:</a:t>
            </a:r>
            <a:endParaRPr sz="2600" dirty="0">
              <a:latin typeface="Arial"/>
              <a:cs typeface="Arial"/>
            </a:endParaRPr>
          </a:p>
          <a:p>
            <a:pPr marL="1323340" algn="ctr">
              <a:lnSpc>
                <a:spcPct val="100000"/>
              </a:lnSpc>
              <a:defRPr/>
            </a:pPr>
            <a:r>
              <a:rPr sz="2600" dirty="0">
                <a:solidFill>
                  <a:srgbClr val="FFFFFF"/>
                </a:solidFill>
                <a:latin typeface="Arial"/>
                <a:cs typeface="Arial"/>
              </a:rPr>
              <a:t>Eddi</a:t>
            </a:r>
            <a:r>
              <a:rPr sz="2600" spc="-60" dirty="0">
                <a:solidFill>
                  <a:srgbClr val="FFFFFF"/>
                </a:solidFill>
                <a:latin typeface="Arial"/>
                <a:cs typeface="Arial"/>
              </a:rPr>
              <a:t> </a:t>
            </a:r>
            <a:r>
              <a:rPr sz="2600" dirty="0">
                <a:solidFill>
                  <a:srgbClr val="FFFFFF"/>
                </a:solidFill>
                <a:latin typeface="Arial"/>
                <a:cs typeface="Arial"/>
              </a:rPr>
              <a:t>Uriel</a:t>
            </a:r>
            <a:r>
              <a:rPr sz="2600" spc="-55" dirty="0">
                <a:solidFill>
                  <a:srgbClr val="FFFFFF"/>
                </a:solidFill>
                <a:latin typeface="Arial"/>
                <a:cs typeface="Arial"/>
              </a:rPr>
              <a:t> </a:t>
            </a:r>
            <a:r>
              <a:rPr sz="2600" dirty="0">
                <a:solidFill>
                  <a:srgbClr val="FFFFFF"/>
                </a:solidFill>
                <a:latin typeface="Arial"/>
                <a:cs typeface="Arial"/>
              </a:rPr>
              <a:t>Castillo</a:t>
            </a:r>
            <a:r>
              <a:rPr sz="2600" spc="-55" dirty="0">
                <a:solidFill>
                  <a:srgbClr val="FFFFFF"/>
                </a:solidFill>
                <a:latin typeface="Arial"/>
                <a:cs typeface="Arial"/>
              </a:rPr>
              <a:t> </a:t>
            </a:r>
            <a:r>
              <a:rPr sz="2600" spc="-10" dirty="0">
                <a:solidFill>
                  <a:srgbClr val="FFFFFF"/>
                </a:solidFill>
                <a:latin typeface="Arial"/>
                <a:cs typeface="Arial"/>
              </a:rPr>
              <a:t>Sánchez</a:t>
            </a:r>
            <a:endParaRPr sz="2600" dirty="0">
              <a:latin typeface="Arial"/>
              <a:cs typeface="Arial"/>
            </a:endParaRPr>
          </a:p>
          <a:p>
            <a:pPr marL="1323340" algn="ctr">
              <a:lnSpc>
                <a:spcPct val="100000"/>
              </a:lnSpc>
              <a:defRPr/>
            </a:pPr>
            <a:r>
              <a:rPr sz="2600" b="1" dirty="0" err="1">
                <a:solidFill>
                  <a:srgbClr val="FFFFFF"/>
                </a:solidFill>
                <a:latin typeface="Arial"/>
                <a:cs typeface="Arial"/>
              </a:rPr>
              <a:t>Nombre</a:t>
            </a:r>
            <a:r>
              <a:rPr sz="2600" b="1" spc="-35" dirty="0">
                <a:solidFill>
                  <a:srgbClr val="FFFFFF"/>
                </a:solidFill>
                <a:latin typeface="Arial"/>
                <a:cs typeface="Arial"/>
              </a:rPr>
              <a:t> </a:t>
            </a:r>
            <a:r>
              <a:rPr sz="2600" b="1" dirty="0">
                <a:solidFill>
                  <a:srgbClr val="FFFFFF"/>
                </a:solidFill>
                <a:latin typeface="Arial"/>
                <a:cs typeface="Arial"/>
              </a:rPr>
              <a:t>del</a:t>
            </a:r>
            <a:r>
              <a:rPr sz="2600" b="1" spc="-35" dirty="0">
                <a:solidFill>
                  <a:srgbClr val="FFFFFF"/>
                </a:solidFill>
                <a:latin typeface="Arial"/>
                <a:cs typeface="Arial"/>
              </a:rPr>
              <a:t> </a:t>
            </a:r>
            <a:r>
              <a:rPr sz="2600" b="1" spc="-10" dirty="0" err="1">
                <a:solidFill>
                  <a:srgbClr val="FFFFFF"/>
                </a:solidFill>
                <a:latin typeface="Arial"/>
                <a:cs typeface="Arial"/>
              </a:rPr>
              <a:t>docente</a:t>
            </a:r>
            <a:r>
              <a:rPr sz="2600" b="1" spc="-10" dirty="0">
                <a:solidFill>
                  <a:srgbClr val="FFFFFF"/>
                </a:solidFill>
                <a:latin typeface="Arial"/>
                <a:cs typeface="Arial"/>
              </a:rPr>
              <a:t>:</a:t>
            </a:r>
            <a:endParaRPr sz="2600" dirty="0">
              <a:latin typeface="Arial"/>
              <a:cs typeface="Arial"/>
            </a:endParaRPr>
          </a:p>
          <a:p>
            <a:pPr marL="1323974" algn="ctr">
              <a:lnSpc>
                <a:spcPct val="100000"/>
              </a:lnSpc>
              <a:defRPr/>
            </a:pPr>
            <a:r>
              <a:rPr sz="2600" dirty="0">
                <a:solidFill>
                  <a:srgbClr val="FFFFFF"/>
                </a:solidFill>
                <a:latin typeface="Arial"/>
                <a:cs typeface="Arial"/>
              </a:rPr>
              <a:t>Francisco</a:t>
            </a:r>
            <a:r>
              <a:rPr sz="2600" spc="-100" dirty="0">
                <a:solidFill>
                  <a:srgbClr val="FFFFFF"/>
                </a:solidFill>
                <a:latin typeface="Arial"/>
                <a:cs typeface="Arial"/>
              </a:rPr>
              <a:t> </a:t>
            </a:r>
            <a:r>
              <a:rPr sz="2600" dirty="0">
                <a:solidFill>
                  <a:srgbClr val="FFFFFF"/>
                </a:solidFill>
                <a:latin typeface="Arial"/>
                <a:cs typeface="Arial"/>
              </a:rPr>
              <a:t>Javier</a:t>
            </a:r>
            <a:r>
              <a:rPr sz="2600" spc="-95" dirty="0">
                <a:solidFill>
                  <a:srgbClr val="FFFFFF"/>
                </a:solidFill>
                <a:latin typeface="Arial"/>
                <a:cs typeface="Arial"/>
              </a:rPr>
              <a:t> </a:t>
            </a:r>
            <a:r>
              <a:rPr sz="2600" dirty="0">
                <a:solidFill>
                  <a:srgbClr val="FFFFFF"/>
                </a:solidFill>
                <a:latin typeface="Arial"/>
                <a:cs typeface="Arial"/>
              </a:rPr>
              <a:t>Mingo</a:t>
            </a:r>
            <a:r>
              <a:rPr sz="2600" spc="-100" dirty="0">
                <a:solidFill>
                  <a:srgbClr val="FFFFFF"/>
                </a:solidFill>
                <a:latin typeface="Arial"/>
                <a:cs typeface="Arial"/>
              </a:rPr>
              <a:t> </a:t>
            </a:r>
            <a:r>
              <a:rPr sz="2600" spc="-10" dirty="0">
                <a:solidFill>
                  <a:srgbClr val="FFFFFF"/>
                </a:solidFill>
                <a:latin typeface="Arial"/>
                <a:cs typeface="Arial"/>
              </a:rPr>
              <a:t>Velazquez</a:t>
            </a:r>
            <a:endParaRPr sz="2600" dirty="0">
              <a:latin typeface="Arial"/>
              <a:cs typeface="Arial"/>
            </a:endParaRPr>
          </a:p>
          <a:p>
            <a:pPr marL="1322705" algn="ctr">
              <a:lnSpc>
                <a:spcPct val="100000"/>
              </a:lnSpc>
              <a:defRPr/>
            </a:pPr>
            <a:r>
              <a:rPr sz="2600" b="1" dirty="0" err="1">
                <a:solidFill>
                  <a:srgbClr val="FFFFFF"/>
                </a:solidFill>
                <a:latin typeface="Arial"/>
                <a:cs typeface="Arial"/>
              </a:rPr>
              <a:t>Nombre</a:t>
            </a:r>
            <a:r>
              <a:rPr sz="2600" b="1" spc="-35" dirty="0">
                <a:solidFill>
                  <a:srgbClr val="FFFFFF"/>
                </a:solidFill>
                <a:latin typeface="Arial"/>
                <a:cs typeface="Arial"/>
              </a:rPr>
              <a:t> </a:t>
            </a:r>
            <a:r>
              <a:rPr sz="2600" b="1" dirty="0">
                <a:solidFill>
                  <a:srgbClr val="FFFFFF"/>
                </a:solidFill>
                <a:latin typeface="Arial"/>
                <a:cs typeface="Arial"/>
              </a:rPr>
              <a:t>del</a:t>
            </a:r>
            <a:r>
              <a:rPr sz="2600" b="1" spc="-35" dirty="0">
                <a:solidFill>
                  <a:srgbClr val="FFFFFF"/>
                </a:solidFill>
                <a:latin typeface="Arial"/>
                <a:cs typeface="Arial"/>
              </a:rPr>
              <a:t> </a:t>
            </a:r>
            <a:r>
              <a:rPr sz="2600" b="1" spc="-10" dirty="0" err="1">
                <a:solidFill>
                  <a:srgbClr val="FFFFFF"/>
                </a:solidFill>
                <a:latin typeface="Arial"/>
                <a:cs typeface="Arial"/>
              </a:rPr>
              <a:t>trabajo</a:t>
            </a:r>
            <a:r>
              <a:rPr sz="2600" b="1" spc="-10" dirty="0">
                <a:solidFill>
                  <a:srgbClr val="FFFFFF"/>
                </a:solidFill>
                <a:latin typeface="Arial"/>
                <a:cs typeface="Arial"/>
              </a:rPr>
              <a:t>:</a:t>
            </a:r>
            <a:endParaRPr sz="2600" dirty="0">
              <a:latin typeface="Arial"/>
              <a:cs typeface="Arial"/>
            </a:endParaRPr>
          </a:p>
          <a:p>
            <a:pPr marL="1321435" algn="ctr">
              <a:lnSpc>
                <a:spcPct val="100000"/>
              </a:lnSpc>
              <a:defRPr/>
            </a:pPr>
            <a:r>
              <a:rPr sz="2600" dirty="0">
                <a:solidFill>
                  <a:srgbClr val="FFFFFF"/>
                </a:solidFill>
                <a:latin typeface="Arial"/>
                <a:cs typeface="Arial"/>
              </a:rPr>
              <a:t>Act</a:t>
            </a:r>
            <a:r>
              <a:rPr sz="2600" spc="-60" dirty="0">
                <a:solidFill>
                  <a:srgbClr val="FFFFFF"/>
                </a:solidFill>
                <a:latin typeface="Arial"/>
                <a:cs typeface="Arial"/>
              </a:rPr>
              <a:t> </a:t>
            </a:r>
            <a:r>
              <a:rPr lang="es-ES" sz="2600" spc="-10" dirty="0">
                <a:solidFill>
                  <a:srgbClr val="FFFFFF"/>
                </a:solidFill>
                <a:latin typeface="Arial"/>
                <a:cs typeface="Arial"/>
              </a:rPr>
              <a:t>4.3 Banco de ejercicios</a:t>
            </a:r>
            <a:endParaRPr sz="2600" dirty="0">
              <a:latin typeface="Arial"/>
              <a:cs typeface="Arial"/>
            </a:endParaRPr>
          </a:p>
          <a:p>
            <a:pPr marL="1324610" algn="ctr">
              <a:lnSpc>
                <a:spcPts val="3120"/>
              </a:lnSpc>
              <a:defRPr/>
            </a:pPr>
            <a:r>
              <a:rPr sz="2600" b="1" dirty="0" err="1">
                <a:solidFill>
                  <a:srgbClr val="FFFFFF"/>
                </a:solidFill>
                <a:latin typeface="Arial"/>
                <a:cs typeface="Arial"/>
              </a:rPr>
              <a:t>Fecha</a:t>
            </a:r>
            <a:r>
              <a:rPr sz="2600" b="1" spc="-45" dirty="0">
                <a:solidFill>
                  <a:srgbClr val="FFFFFF"/>
                </a:solidFill>
                <a:latin typeface="Arial"/>
                <a:cs typeface="Arial"/>
              </a:rPr>
              <a:t> </a:t>
            </a:r>
            <a:r>
              <a:rPr sz="2600" b="1" dirty="0">
                <a:solidFill>
                  <a:srgbClr val="FFFFFF"/>
                </a:solidFill>
                <a:latin typeface="Arial"/>
                <a:cs typeface="Arial"/>
              </a:rPr>
              <a:t>de</a:t>
            </a:r>
            <a:r>
              <a:rPr sz="2600" b="1" spc="-40" dirty="0">
                <a:solidFill>
                  <a:srgbClr val="FFFFFF"/>
                </a:solidFill>
                <a:latin typeface="Arial"/>
                <a:cs typeface="Arial"/>
              </a:rPr>
              <a:t> </a:t>
            </a:r>
            <a:r>
              <a:rPr sz="2600" b="1" spc="-10" dirty="0" err="1">
                <a:solidFill>
                  <a:srgbClr val="FFFFFF"/>
                </a:solidFill>
                <a:latin typeface="Arial"/>
                <a:cs typeface="Arial"/>
              </a:rPr>
              <a:t>entrega</a:t>
            </a:r>
            <a:r>
              <a:rPr sz="2600" spc="-10" dirty="0">
                <a:solidFill>
                  <a:srgbClr val="FFFFFF"/>
                </a:solidFill>
                <a:latin typeface="Arial"/>
                <a:cs typeface="Arial"/>
              </a:rPr>
              <a:t>:</a:t>
            </a:r>
            <a:endParaRPr sz="2600" dirty="0">
              <a:latin typeface="Arial"/>
              <a:cs typeface="Arial"/>
            </a:endParaRPr>
          </a:p>
          <a:p>
            <a:pPr algn="ctr">
              <a:lnSpc>
                <a:spcPts val="3360"/>
              </a:lnSpc>
              <a:defRPr/>
            </a:pPr>
            <a:r>
              <a:rPr sz="2800" dirty="0">
                <a:solidFill>
                  <a:srgbClr val="FFFFFF"/>
                </a:solidFill>
                <a:latin typeface="Arial"/>
                <a:cs typeface="Arial"/>
              </a:rPr>
              <a:t>Frontera</a:t>
            </a:r>
            <a:r>
              <a:rPr sz="2800" spc="-80" dirty="0">
                <a:solidFill>
                  <a:srgbClr val="FFFFFF"/>
                </a:solidFill>
                <a:latin typeface="Arial"/>
                <a:cs typeface="Arial"/>
              </a:rPr>
              <a:t> </a:t>
            </a:r>
            <a:r>
              <a:rPr sz="2800" dirty="0" err="1">
                <a:solidFill>
                  <a:srgbClr val="FFFFFF"/>
                </a:solidFill>
                <a:latin typeface="Arial"/>
                <a:cs typeface="Arial"/>
              </a:rPr>
              <a:t>comalapa</a:t>
            </a:r>
            <a:r>
              <a:rPr sz="2800" dirty="0">
                <a:solidFill>
                  <a:srgbClr val="FFFFFF"/>
                </a:solidFill>
                <a:latin typeface="Arial"/>
                <a:cs typeface="Arial"/>
              </a:rPr>
              <a:t>,</a:t>
            </a:r>
            <a:r>
              <a:rPr sz="2800" spc="-80" dirty="0">
                <a:solidFill>
                  <a:srgbClr val="FFFFFF"/>
                </a:solidFill>
                <a:latin typeface="Arial"/>
                <a:cs typeface="Arial"/>
              </a:rPr>
              <a:t> </a:t>
            </a:r>
            <a:r>
              <a:rPr sz="2800" dirty="0">
                <a:solidFill>
                  <a:srgbClr val="FFFFFF"/>
                </a:solidFill>
                <a:latin typeface="Arial"/>
                <a:cs typeface="Arial"/>
              </a:rPr>
              <a:t>Chiapas</a:t>
            </a:r>
            <a:r>
              <a:rPr sz="2800" spc="-75" dirty="0">
                <a:solidFill>
                  <a:srgbClr val="FFFFFF"/>
                </a:solidFill>
                <a:latin typeface="Arial"/>
                <a:cs typeface="Arial"/>
              </a:rPr>
              <a:t> </a:t>
            </a:r>
            <a:r>
              <a:rPr sz="2800" dirty="0">
                <a:solidFill>
                  <a:srgbClr val="FFFFFF"/>
                </a:solidFill>
                <a:latin typeface="Arial"/>
                <a:cs typeface="Arial"/>
              </a:rPr>
              <a:t>a</a:t>
            </a:r>
            <a:r>
              <a:rPr sz="2800" spc="-80" dirty="0">
                <a:solidFill>
                  <a:srgbClr val="FFFFFF"/>
                </a:solidFill>
                <a:latin typeface="Arial"/>
                <a:cs typeface="Arial"/>
              </a:rPr>
              <a:t> </a:t>
            </a:r>
            <a:r>
              <a:rPr lang="es-ES" sz="2800" spc="-74" dirty="0">
                <a:solidFill>
                  <a:srgbClr val="FFFFFF"/>
                </a:solidFill>
                <a:latin typeface="Arial"/>
                <a:cs typeface="Arial"/>
              </a:rPr>
              <a:t>02</a:t>
            </a:r>
            <a:r>
              <a:rPr sz="2800" spc="-75" dirty="0">
                <a:solidFill>
                  <a:srgbClr val="FFFFFF"/>
                </a:solidFill>
                <a:latin typeface="Arial"/>
                <a:cs typeface="Arial"/>
              </a:rPr>
              <a:t> </a:t>
            </a:r>
            <a:r>
              <a:rPr sz="2800" dirty="0">
                <a:solidFill>
                  <a:srgbClr val="FFFFFF"/>
                </a:solidFill>
                <a:latin typeface="Arial"/>
                <a:cs typeface="Arial"/>
              </a:rPr>
              <a:t>de</a:t>
            </a:r>
            <a:r>
              <a:rPr sz="2800" spc="-80" dirty="0">
                <a:solidFill>
                  <a:srgbClr val="FFFFFF"/>
                </a:solidFill>
                <a:latin typeface="Arial"/>
                <a:cs typeface="Arial"/>
              </a:rPr>
              <a:t> </a:t>
            </a:r>
            <a:r>
              <a:rPr lang="es-ES" sz="2800" spc="-80" dirty="0">
                <a:solidFill>
                  <a:srgbClr val="FFFFFF"/>
                </a:solidFill>
                <a:latin typeface="Arial"/>
                <a:cs typeface="Arial"/>
              </a:rPr>
              <a:t>junio</a:t>
            </a:r>
            <a:r>
              <a:rPr sz="2800" spc="-75" dirty="0">
                <a:solidFill>
                  <a:srgbClr val="FFFFFF"/>
                </a:solidFill>
                <a:latin typeface="Arial"/>
                <a:cs typeface="Arial"/>
              </a:rPr>
              <a:t> </a:t>
            </a:r>
            <a:r>
              <a:rPr sz="2800" dirty="0">
                <a:solidFill>
                  <a:srgbClr val="FFFFFF"/>
                </a:solidFill>
                <a:latin typeface="Arial"/>
                <a:cs typeface="Arial"/>
              </a:rPr>
              <a:t>del</a:t>
            </a:r>
            <a:r>
              <a:rPr sz="2800" spc="-80" dirty="0">
                <a:solidFill>
                  <a:srgbClr val="FFFFFF"/>
                </a:solidFill>
                <a:latin typeface="Arial"/>
                <a:cs typeface="Arial"/>
              </a:rPr>
              <a:t> </a:t>
            </a:r>
            <a:r>
              <a:rPr sz="2800" spc="-20" dirty="0">
                <a:solidFill>
                  <a:srgbClr val="FFFFFF"/>
                </a:solidFill>
                <a:latin typeface="Arial"/>
                <a:cs typeface="Arial"/>
              </a:rPr>
              <a:t>2026</a:t>
            </a:r>
            <a:endParaRPr sz="2800" dirty="0">
              <a:latin typeface="Arial"/>
              <a:cs typeface="Arial"/>
            </a:endParaRPr>
          </a:p>
        </p:txBody>
      </p:sp>
      <p:pic>
        <p:nvPicPr>
          <p:cNvPr id="1917351689" name="object 3"/>
          <p:cNvPicPr/>
          <p:nvPr/>
        </p:nvPicPr>
        <p:blipFill rotWithShape="1">
          <a:blip r:embed="rId3"/>
          <a:stretch/>
        </p:blipFill>
        <p:spPr bwMode="auto">
          <a:xfrm>
            <a:off x="5830455" y="461817"/>
            <a:ext cx="5561326" cy="63308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pic>
        <p:nvPicPr>
          <p:cNvPr id="830837920" name="object 2"/>
          <p:cNvPicPr/>
          <p:nvPr/>
        </p:nvPicPr>
        <p:blipFill rotWithShape="1">
          <a:blip r:embed="rId3"/>
          <a:stretch/>
        </p:blipFill>
        <p:spPr bwMode="auto">
          <a:xfrm>
            <a:off x="0" y="0"/>
            <a:ext cx="18288000" cy="10287000"/>
          </a:xfrm>
          <a:prstGeom prst="rect">
            <a:avLst/>
          </a:prstGeom>
        </p:spPr>
      </p:pic>
      <p:pic>
        <p:nvPicPr>
          <p:cNvPr id="1876184189" name="object 3"/>
          <p:cNvPicPr/>
          <p:nvPr/>
        </p:nvPicPr>
        <p:blipFill rotWithShape="1">
          <a:blip r:embed="rId4"/>
          <a:stretch/>
        </p:blipFill>
        <p:spPr bwMode="auto">
          <a:xfrm>
            <a:off x="10217454" y="2075217"/>
            <a:ext cx="6579146" cy="6579146"/>
          </a:xfrm>
          <a:prstGeom prst="rect">
            <a:avLst/>
          </a:prstGeom>
        </p:spPr>
      </p:pic>
      <p:pic>
        <p:nvPicPr>
          <p:cNvPr id="135897183" name="object 4"/>
          <p:cNvPicPr/>
          <p:nvPr/>
        </p:nvPicPr>
        <p:blipFill rotWithShape="1">
          <a:blip r:embed="rId5"/>
          <a:stretch/>
        </p:blipFill>
        <p:spPr bwMode="auto">
          <a:xfrm>
            <a:off x="0" y="8710282"/>
            <a:ext cx="3608796" cy="920165"/>
          </a:xfrm>
          <a:prstGeom prst="rect">
            <a:avLst/>
          </a:prstGeom>
        </p:spPr>
      </p:pic>
      <p:pic>
        <p:nvPicPr>
          <p:cNvPr id="1329934680" name="object 5"/>
          <p:cNvPicPr/>
          <p:nvPr/>
        </p:nvPicPr>
        <p:blipFill rotWithShape="1">
          <a:blip r:embed="rId6"/>
          <a:stretch/>
        </p:blipFill>
        <p:spPr bwMode="auto">
          <a:xfrm>
            <a:off x="13401929" y="0"/>
            <a:ext cx="3857421" cy="617938"/>
          </a:xfrm>
          <a:prstGeom prst="rect">
            <a:avLst/>
          </a:prstGeom>
        </p:spPr>
      </p:pic>
      <p:sp>
        <p:nvSpPr>
          <p:cNvPr id="800057142" name="object 6"/>
          <p:cNvSpPr txBox="1">
            <a:spLocks noGrp="1"/>
          </p:cNvSpPr>
          <p:nvPr>
            <p:ph type="title"/>
          </p:nvPr>
        </p:nvSpPr>
        <p:spPr bwMode="auto">
          <a:xfrm>
            <a:off x="1981200" y="963800"/>
            <a:ext cx="8663474" cy="1293219"/>
          </a:xfrm>
          <a:prstGeom prst="rect">
            <a:avLst/>
          </a:prstGeom>
        </p:spPr>
        <p:txBody>
          <a:bodyPr vert="horz" wrap="square" lIns="0" tIns="12700" rIns="0" bIns="0" rtlCol="0">
            <a:spAutoFit/>
          </a:bodyPr>
          <a:lstStyle/>
          <a:p>
            <a:pPr marL="12700">
              <a:lnSpc>
                <a:spcPct val="100000"/>
              </a:lnSpc>
              <a:spcBef>
                <a:spcPts val="100"/>
              </a:spcBef>
              <a:defRPr/>
            </a:pPr>
            <a:r>
              <a:rPr sz="8400" spc="195" dirty="0"/>
              <a:t>INTRODUCCI</a:t>
            </a:r>
            <a:r>
              <a:rPr lang="es-ES" sz="8400" spc="194" dirty="0"/>
              <a:t>O</a:t>
            </a:r>
            <a:r>
              <a:rPr sz="8400" spc="194" dirty="0"/>
              <a:t>N</a:t>
            </a:r>
            <a:endParaRPr sz="8400" dirty="0"/>
          </a:p>
        </p:txBody>
      </p:sp>
      <p:sp>
        <p:nvSpPr>
          <p:cNvPr id="1143880378" name="object 7"/>
          <p:cNvSpPr txBox="1"/>
          <p:nvPr/>
        </p:nvSpPr>
        <p:spPr bwMode="auto">
          <a:xfrm>
            <a:off x="1666607" y="4926849"/>
            <a:ext cx="6841069" cy="164824"/>
          </a:xfrm>
          <a:prstGeom prst="rect">
            <a:avLst/>
          </a:prstGeom>
        </p:spPr>
        <p:txBody>
          <a:bodyPr vert="horz" wrap="square" lIns="0" tIns="12065" rIns="0" bIns="0" rtlCol="0">
            <a:spAutoFit/>
          </a:bodyPr>
          <a:lstStyle/>
          <a:p>
            <a:pPr>
              <a:defRPr/>
            </a:pPr>
            <a:r>
              <a:rPr lang="es-ES"/>
              <a:t>kbihbih</a:t>
            </a:r>
            <a:endParaRPr/>
          </a:p>
        </p:txBody>
      </p:sp>
      <p:sp>
        <p:nvSpPr>
          <p:cNvPr id="1859957140" name="CuadroTexto 1859957139"/>
          <p:cNvSpPr txBox="1"/>
          <p:nvPr/>
        </p:nvSpPr>
        <p:spPr bwMode="auto">
          <a:xfrm>
            <a:off x="7146542" y="5021579"/>
            <a:ext cx="3994913" cy="24383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l">
              <a:defRPr/>
            </a:pPr>
            <a:r>
              <a:t>Actividad 2.3 Banco de ejercicios__EddiCastillo_6ISCM-comprimido (1) (1)</a:t>
            </a:r>
          </a:p>
        </p:txBody>
      </p:sp>
      <p:sp>
        <p:nvSpPr>
          <p:cNvPr id="3" name="CuadroTexto 2">
            <a:extLst>
              <a:ext uri="{FF2B5EF4-FFF2-40B4-BE49-F238E27FC236}">
                <a16:creationId xmlns:a16="http://schemas.microsoft.com/office/drawing/2014/main" id="{2EEF3DEF-2600-914F-DF8F-BC3EDD0C12A2}"/>
              </a:ext>
            </a:extLst>
          </p:cNvPr>
          <p:cNvSpPr txBox="1"/>
          <p:nvPr/>
        </p:nvSpPr>
        <p:spPr>
          <a:xfrm>
            <a:off x="1024149" y="3160082"/>
            <a:ext cx="9261986" cy="4154984"/>
          </a:xfrm>
          <a:prstGeom prst="rect">
            <a:avLst/>
          </a:prstGeom>
          <a:noFill/>
        </p:spPr>
        <p:txBody>
          <a:bodyPr wrap="square">
            <a:spAutoFit/>
          </a:bodyPr>
          <a:lstStyle/>
          <a:p>
            <a:pPr algn="l"/>
            <a:r>
              <a:rPr lang="es-ES" sz="2400" b="0" i="0" dirty="0">
                <a:solidFill>
                  <a:schemeClr val="bg1"/>
                </a:solidFill>
                <a:effectLst/>
                <a:latin typeface="pplxSerif"/>
              </a:rPr>
              <a:t>En este conjunto de ejercicios se evaluó el comportamiento de un servicio REST para la gestión de estudiantes mediante peticiones desde la herramienta Bruno (similar a </a:t>
            </a:r>
            <a:r>
              <a:rPr lang="es-ES" sz="2400" b="0" i="0" dirty="0" err="1">
                <a:solidFill>
                  <a:schemeClr val="bg1"/>
                </a:solidFill>
                <a:effectLst/>
                <a:latin typeface="pplxSerif"/>
              </a:rPr>
              <a:t>Postman</a:t>
            </a:r>
            <a:r>
              <a:rPr lang="es-ES" sz="2400" b="0" i="0" dirty="0">
                <a:solidFill>
                  <a:schemeClr val="bg1"/>
                </a:solidFill>
                <a:effectLst/>
                <a:latin typeface="pplxSerif"/>
              </a:rPr>
              <a:t>). Se realizaron operaciones básicas: listar todos los estudiantes, registrar un nuevo estudiante, buscar por ID y comprobar la respuesta ante una búsqueda inexistente. Cada prueba incluyó la verificación de la respuesta HTTP y la revisión de los logs impresos en la consola de desarrollo (IntelliJ), con el fin de confirmar tanto la funcionalidad del API como la correcta generación de registros que faciliten el diagnóstico y trazabilidad de las acciones.</a:t>
            </a:r>
          </a:p>
          <a:p>
            <a:br>
              <a:rPr lang="es-ES" sz="2400" dirty="0"/>
            </a:br>
            <a:endParaRPr lang="es-MX" sz="2400" dirty="0">
              <a:solidFill>
                <a:schemeClr val="bg1"/>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pic>
        <p:nvPicPr>
          <p:cNvPr id="1618637018" name="object 2"/>
          <p:cNvPicPr/>
          <p:nvPr/>
        </p:nvPicPr>
        <p:blipFill rotWithShape="1">
          <a:blip r:embed="rId3"/>
          <a:stretch/>
        </p:blipFill>
        <p:spPr bwMode="auto">
          <a:xfrm>
            <a:off x="0" y="0"/>
            <a:ext cx="18288000" cy="10287000"/>
          </a:xfrm>
          <a:prstGeom prst="rect">
            <a:avLst/>
          </a:prstGeom>
        </p:spPr>
      </p:pic>
      <p:pic>
        <p:nvPicPr>
          <p:cNvPr id="1343289801" name="object 3"/>
          <p:cNvPicPr/>
          <p:nvPr/>
        </p:nvPicPr>
        <p:blipFill rotWithShape="1">
          <a:blip r:embed="rId4"/>
          <a:stretch/>
        </p:blipFill>
        <p:spPr bwMode="auto">
          <a:xfrm>
            <a:off x="10217454" y="2075217"/>
            <a:ext cx="6579146" cy="6579146"/>
          </a:xfrm>
          <a:prstGeom prst="rect">
            <a:avLst/>
          </a:prstGeom>
        </p:spPr>
      </p:pic>
      <p:pic>
        <p:nvPicPr>
          <p:cNvPr id="820845946" name="object 4"/>
          <p:cNvPicPr/>
          <p:nvPr/>
        </p:nvPicPr>
        <p:blipFill rotWithShape="1">
          <a:blip r:embed="rId5"/>
          <a:stretch/>
        </p:blipFill>
        <p:spPr bwMode="auto">
          <a:xfrm>
            <a:off x="0" y="8710282"/>
            <a:ext cx="3608796" cy="920165"/>
          </a:xfrm>
          <a:prstGeom prst="rect">
            <a:avLst/>
          </a:prstGeom>
        </p:spPr>
      </p:pic>
      <p:pic>
        <p:nvPicPr>
          <p:cNvPr id="101900535" name="object 5"/>
          <p:cNvPicPr/>
          <p:nvPr/>
        </p:nvPicPr>
        <p:blipFill rotWithShape="1">
          <a:blip r:embed="rId6"/>
          <a:stretch/>
        </p:blipFill>
        <p:spPr bwMode="auto">
          <a:xfrm>
            <a:off x="13401929" y="0"/>
            <a:ext cx="3857421" cy="617938"/>
          </a:xfrm>
          <a:prstGeom prst="rect">
            <a:avLst/>
          </a:prstGeom>
        </p:spPr>
      </p:pic>
      <p:sp>
        <p:nvSpPr>
          <p:cNvPr id="613112491" name="object 6"/>
          <p:cNvSpPr txBox="1">
            <a:spLocks noGrp="1"/>
          </p:cNvSpPr>
          <p:nvPr>
            <p:ph type="title"/>
          </p:nvPr>
        </p:nvSpPr>
        <p:spPr bwMode="auto">
          <a:xfrm>
            <a:off x="1066800" y="804127"/>
            <a:ext cx="8456295" cy="1305560"/>
          </a:xfrm>
          <a:prstGeom prst="rect">
            <a:avLst/>
          </a:prstGeom>
        </p:spPr>
        <p:txBody>
          <a:bodyPr vert="horz" wrap="square" lIns="0" tIns="12700" rIns="0" bIns="0" rtlCol="0">
            <a:spAutoFit/>
          </a:bodyPr>
          <a:lstStyle/>
          <a:p>
            <a:pPr marL="12700">
              <a:lnSpc>
                <a:spcPct val="100000"/>
              </a:lnSpc>
              <a:spcBef>
                <a:spcPts val="100"/>
              </a:spcBef>
              <a:defRPr/>
            </a:pPr>
            <a:r>
              <a:rPr sz="8400" spc="200" dirty="0"/>
              <a:t>JUSTIFICACION</a:t>
            </a:r>
            <a:endParaRPr sz="8400" dirty="0"/>
          </a:p>
        </p:txBody>
      </p:sp>
      <p:sp>
        <p:nvSpPr>
          <p:cNvPr id="1661579641" name="object 7"/>
          <p:cNvSpPr txBox="1"/>
          <p:nvPr/>
        </p:nvSpPr>
        <p:spPr bwMode="auto">
          <a:xfrm>
            <a:off x="1666607" y="4939905"/>
            <a:ext cx="6689304" cy="287379"/>
          </a:xfrm>
          <a:prstGeom prst="rect">
            <a:avLst/>
          </a:prstGeom>
        </p:spPr>
        <p:txBody>
          <a:bodyPr vert="horz" wrap="square" lIns="0" tIns="12700" rIns="0" bIns="0" rtlCol="0">
            <a:spAutoFit/>
          </a:bodyPr>
          <a:lstStyle/>
          <a:p>
            <a:pPr>
              <a:defRPr/>
            </a:pPr>
            <a:r>
              <a:rPr lang="es-ES" sz="1800"/>
              <a:t>khvgv</a:t>
            </a:r>
            <a:endParaRPr sz="1800"/>
          </a:p>
        </p:txBody>
      </p:sp>
      <p:sp>
        <p:nvSpPr>
          <p:cNvPr id="3" name="CuadroTexto 2">
            <a:extLst>
              <a:ext uri="{FF2B5EF4-FFF2-40B4-BE49-F238E27FC236}">
                <a16:creationId xmlns:a16="http://schemas.microsoft.com/office/drawing/2014/main" id="{4DFF785A-B319-4399-9602-B368BCAEB6D8}"/>
              </a:ext>
            </a:extLst>
          </p:cNvPr>
          <p:cNvSpPr txBox="1"/>
          <p:nvPr/>
        </p:nvSpPr>
        <p:spPr>
          <a:xfrm>
            <a:off x="1219200" y="2585528"/>
            <a:ext cx="9261986" cy="6986528"/>
          </a:xfrm>
          <a:prstGeom prst="rect">
            <a:avLst/>
          </a:prstGeom>
          <a:noFill/>
        </p:spPr>
        <p:txBody>
          <a:bodyPr wrap="square">
            <a:spAutoFit/>
          </a:bodyPr>
          <a:lstStyle/>
          <a:p>
            <a:pPr algn="l"/>
            <a:r>
              <a:rPr lang="es-ES" sz="2800" b="0" i="0" dirty="0">
                <a:solidFill>
                  <a:schemeClr val="bg1"/>
                </a:solidFill>
                <a:effectLst/>
                <a:latin typeface="pplxSerif"/>
              </a:rPr>
              <a:t>Probar las operaciones CRUD expuestas por la API es fundamental para garantizar la integridad y disponibilidad de los datos en una aplicación educativa. Las pruebas propuestas permiten validar varios aspectos clave: la capacidad del servicio para recuperar listas completas de registros; la correcta inserción de nuevos estudiantes con asignación automática de identificadores; la precisión de las consultas por ID; y el tratamiento adecuado de errores cuando se solicita un recurso inexistente. Además, la verificación de logs en consola asegura que el sistema no sólo responde correctamente, sino que también documenta eventos relevantes (intentos de registro, búsquedas realizadas y advertencias), lo que mejora la mantenibilidad, facilita la detección de fallos y apoya auditorías futuras.</a:t>
            </a:r>
          </a:p>
          <a:p>
            <a:br>
              <a:rPr lang="es-ES" sz="2800" dirty="0"/>
            </a:br>
            <a:endParaRPr lang="es-MX" sz="2800" dirty="0">
              <a:solidFill>
                <a:schemeClr val="bg1"/>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09769793" name="object 2"/>
          <p:cNvSpPr txBox="1">
            <a:spLocks noGrp="1"/>
          </p:cNvSpPr>
          <p:nvPr>
            <p:ph type="title"/>
          </p:nvPr>
        </p:nvSpPr>
        <p:spPr bwMode="auto">
          <a:xfrm>
            <a:off x="1212643" y="475121"/>
            <a:ext cx="11008874" cy="1243930"/>
          </a:xfrm>
          <a:prstGeom prst="rect">
            <a:avLst/>
          </a:prstGeom>
        </p:spPr>
        <p:txBody>
          <a:bodyPr vert="horz" wrap="square" lIns="0" tIns="12700" rIns="0" bIns="0" rtlCol="0">
            <a:spAutoFit/>
          </a:bodyPr>
          <a:lstStyle/>
          <a:p>
            <a:pPr>
              <a:defRPr/>
            </a:pPr>
            <a:r>
              <a:rPr lang="es-ES" sz="8000" dirty="0">
                <a:solidFill>
                  <a:schemeClr val="bg1"/>
                </a:solidFill>
              </a:rPr>
              <a:t>  </a:t>
            </a:r>
            <a:endParaRPr sz="8000" dirty="0">
              <a:solidFill>
                <a:schemeClr val="bg1"/>
              </a:solidFill>
            </a:endParaRPr>
          </a:p>
        </p:txBody>
      </p:sp>
      <p:sp>
        <p:nvSpPr>
          <p:cNvPr id="1935260451" name="object 3"/>
          <p:cNvSpPr txBox="1"/>
          <p:nvPr/>
        </p:nvSpPr>
        <p:spPr bwMode="auto">
          <a:xfrm>
            <a:off x="9015438" y="4979009"/>
            <a:ext cx="257175" cy="299720"/>
          </a:xfrm>
          <a:prstGeom prst="rect">
            <a:avLst/>
          </a:prstGeom>
        </p:spPr>
        <p:txBody>
          <a:bodyPr vert="horz" wrap="square" lIns="0" tIns="12700" rIns="0" bIns="0" rtlCol="0">
            <a:spAutoFit/>
          </a:bodyPr>
          <a:lstStyle/>
          <a:p>
            <a:pPr marL="12700">
              <a:lnSpc>
                <a:spcPct val="100000"/>
              </a:lnSpc>
              <a:spcBef>
                <a:spcPts val="100"/>
              </a:spcBef>
              <a:defRPr/>
            </a:pPr>
            <a:r>
              <a:rPr sz="1800" spc="-25">
                <a:latin typeface="Calibri"/>
                <a:cs typeface="Calibri"/>
              </a:rPr>
              <a:t>03</a:t>
            </a:r>
            <a:endParaRPr sz="1800">
              <a:latin typeface="Calibri"/>
              <a:cs typeface="Calibri"/>
            </a:endParaRPr>
          </a:p>
        </p:txBody>
      </p:sp>
      <p:sp>
        <p:nvSpPr>
          <p:cNvPr id="1515271569" name="object 4"/>
          <p:cNvSpPr txBox="1"/>
          <p:nvPr/>
        </p:nvSpPr>
        <p:spPr bwMode="auto">
          <a:xfrm>
            <a:off x="1600200" y="499755"/>
            <a:ext cx="6474604" cy="382156"/>
          </a:xfrm>
          <a:prstGeom prst="rect">
            <a:avLst/>
          </a:prstGeom>
        </p:spPr>
        <p:txBody>
          <a:bodyPr vert="horz" wrap="square" lIns="0" tIns="12700" rIns="0" bIns="0" rtlCol="0">
            <a:spAutoFit/>
          </a:bodyPr>
          <a:lstStyle/>
          <a:p>
            <a:r>
              <a:rPr lang="es-ES" sz="2400" dirty="0">
                <a:solidFill>
                  <a:schemeClr val="bg1"/>
                </a:solidFill>
              </a:rPr>
              <a:t>Ejercicio 1: Consultar todos los estudiantes</a:t>
            </a:r>
            <a:endParaRPr lang="es-MX" dirty="0">
              <a:solidFill>
                <a:schemeClr val="bg1"/>
              </a:solidFill>
              <a:latin typeface="Arial" panose="020B0604020202020204" pitchFamily="34" charset="0"/>
              <a:ea typeface="Arial" panose="020B0604020202020204" pitchFamily="34" charset="0"/>
            </a:endParaRPr>
          </a:p>
        </p:txBody>
      </p:sp>
      <p:sp>
        <p:nvSpPr>
          <p:cNvPr id="205095173" name="object 5"/>
          <p:cNvSpPr txBox="1"/>
          <p:nvPr/>
        </p:nvSpPr>
        <p:spPr bwMode="auto">
          <a:xfrm>
            <a:off x="4197155" y="9787924"/>
            <a:ext cx="8828469" cy="287379"/>
          </a:xfrm>
          <a:prstGeom prst="rect">
            <a:avLst/>
          </a:prstGeom>
        </p:spPr>
        <p:txBody>
          <a:bodyPr vert="horz" wrap="square" lIns="0" tIns="12700" rIns="0" bIns="0" rtlCol="0">
            <a:spAutoFit/>
          </a:bodyPr>
          <a:lstStyle/>
          <a:p>
            <a:pPr>
              <a:defRPr/>
            </a:pPr>
            <a:endParaRPr sz="1800">
              <a:solidFill>
                <a:schemeClr val="bg1"/>
              </a:solidFill>
            </a:endParaRPr>
          </a:p>
        </p:txBody>
      </p:sp>
      <p:sp>
        <p:nvSpPr>
          <p:cNvPr id="1927622888" name=" 1927622887"/>
          <p:cNvSpPr/>
          <p:nvPr/>
        </p:nvSpPr>
        <p:spPr bwMode="auto">
          <a:xfrm>
            <a:off x="7907951" y="987828"/>
            <a:ext cx="1895544" cy="5489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br>
              <a:rPr/>
            </a:br>
            <a:endParaRPr/>
          </a:p>
          <a:p>
            <a:pPr>
              <a:defRPr/>
            </a:pPr>
            <a:endParaRPr/>
          </a:p>
        </p:txBody>
      </p:sp>
      <p:sp>
        <p:nvSpPr>
          <p:cNvPr id="4" name="CuadroTexto 3">
            <a:extLst>
              <a:ext uri="{FF2B5EF4-FFF2-40B4-BE49-F238E27FC236}">
                <a16:creationId xmlns:a16="http://schemas.microsoft.com/office/drawing/2014/main" id="{123D20A0-B128-3A45-57CF-578D7E469E5B}"/>
              </a:ext>
            </a:extLst>
          </p:cNvPr>
          <p:cNvSpPr txBox="1"/>
          <p:nvPr/>
        </p:nvSpPr>
        <p:spPr>
          <a:xfrm>
            <a:off x="1595284" y="881911"/>
            <a:ext cx="7238206" cy="707886"/>
          </a:xfrm>
          <a:prstGeom prst="rect">
            <a:avLst/>
          </a:prstGeom>
          <a:noFill/>
        </p:spPr>
        <p:txBody>
          <a:bodyPr wrap="square">
            <a:spAutoFit/>
          </a:bodyPr>
          <a:lstStyle/>
          <a:p>
            <a:r>
              <a:rPr lang="es-ES" sz="2000" dirty="0">
                <a:solidFill>
                  <a:schemeClr val="bg1"/>
                </a:solidFill>
              </a:rPr>
              <a:t>Verificar que el sistema pueda listar todos los estudiantes registrados y que se genere un log en consola.</a:t>
            </a:r>
          </a:p>
        </p:txBody>
      </p:sp>
      <p:pic>
        <p:nvPicPr>
          <p:cNvPr id="3" name="Imagen 2">
            <a:extLst>
              <a:ext uri="{FF2B5EF4-FFF2-40B4-BE49-F238E27FC236}">
                <a16:creationId xmlns:a16="http://schemas.microsoft.com/office/drawing/2014/main" id="{D52D3BDC-E4C6-EC8D-67D2-B0335E052C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459" y="3477166"/>
            <a:ext cx="8818231" cy="4486275"/>
          </a:xfrm>
          <a:prstGeom prst="rect">
            <a:avLst/>
          </a:prstGeom>
        </p:spPr>
      </p:pic>
      <p:pic>
        <p:nvPicPr>
          <p:cNvPr id="6" name="Imagen 5">
            <a:extLst>
              <a:ext uri="{FF2B5EF4-FFF2-40B4-BE49-F238E27FC236}">
                <a16:creationId xmlns:a16="http://schemas.microsoft.com/office/drawing/2014/main" id="{DD7F9E0D-D180-2D93-C85F-7D02619774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00" y="3325867"/>
            <a:ext cx="9358724" cy="4761251"/>
          </a:xfrm>
          <a:prstGeom prst="rect">
            <a:avLst/>
          </a:prstGeom>
        </p:spPr>
      </p:pic>
      <p:sp>
        <p:nvSpPr>
          <p:cNvPr id="9" name="CuadroTexto 8">
            <a:extLst>
              <a:ext uri="{FF2B5EF4-FFF2-40B4-BE49-F238E27FC236}">
                <a16:creationId xmlns:a16="http://schemas.microsoft.com/office/drawing/2014/main" id="{D4844847-A504-90AC-397B-B3F1F8BBED58}"/>
              </a:ext>
            </a:extLst>
          </p:cNvPr>
          <p:cNvSpPr txBox="1"/>
          <p:nvPr/>
        </p:nvSpPr>
        <p:spPr>
          <a:xfrm>
            <a:off x="4229110" y="8493605"/>
            <a:ext cx="9254612" cy="1200329"/>
          </a:xfrm>
          <a:prstGeom prst="rect">
            <a:avLst/>
          </a:prstGeom>
          <a:noFill/>
        </p:spPr>
        <p:txBody>
          <a:bodyPr wrap="square">
            <a:spAutoFit/>
          </a:bodyPr>
          <a:lstStyle/>
          <a:p>
            <a:r>
              <a:rPr lang="es-ES" dirty="0">
                <a:solidFill>
                  <a:schemeClr val="bg1"/>
                </a:solidFill>
              </a:rPr>
              <a:t>En este ejercicio se realizó una petición de tipo GET desde Bruno para consultar todos los estudiantes registrados. Al enviar la petición, el sistema respondió con la lista de datos almacenados en la base de datos. También se generó un log en la consola de IntelliJ, indicando que se consultó la lista de estudiantes.</a:t>
            </a:r>
            <a:endParaRPr lang="es-MX" dirty="0">
              <a:solidFill>
                <a:schemeClr val="bg1"/>
              </a:solidFill>
            </a:endParaRPr>
          </a:p>
        </p:txBody>
      </p:sp>
      <p:sp>
        <p:nvSpPr>
          <p:cNvPr id="11" name="CuadroTexto 10">
            <a:extLst>
              <a:ext uri="{FF2B5EF4-FFF2-40B4-BE49-F238E27FC236}">
                <a16:creationId xmlns:a16="http://schemas.microsoft.com/office/drawing/2014/main" id="{B83756F4-2899-8E02-C8A8-F6890AF7E4D0}"/>
              </a:ext>
            </a:extLst>
          </p:cNvPr>
          <p:cNvSpPr txBox="1"/>
          <p:nvPr/>
        </p:nvSpPr>
        <p:spPr>
          <a:xfrm>
            <a:off x="2362200" y="2904591"/>
            <a:ext cx="9254612" cy="369332"/>
          </a:xfrm>
          <a:prstGeom prst="rect">
            <a:avLst/>
          </a:prstGeom>
          <a:noFill/>
        </p:spPr>
        <p:txBody>
          <a:bodyPr wrap="square">
            <a:spAutoFit/>
          </a:bodyPr>
          <a:lstStyle/>
          <a:p>
            <a:r>
              <a:rPr lang="es-ES" sz="1800" dirty="0">
                <a:solidFill>
                  <a:schemeClr val="bg1"/>
                </a:solidFill>
              </a:rPr>
              <a:t>Respuesta en Bruno</a:t>
            </a:r>
          </a:p>
        </p:txBody>
      </p:sp>
      <p:sp>
        <p:nvSpPr>
          <p:cNvPr id="13" name="CuadroTexto 12">
            <a:extLst>
              <a:ext uri="{FF2B5EF4-FFF2-40B4-BE49-F238E27FC236}">
                <a16:creationId xmlns:a16="http://schemas.microsoft.com/office/drawing/2014/main" id="{0371B4FE-1300-86FC-1C60-85B093FAFE6A}"/>
              </a:ext>
            </a:extLst>
          </p:cNvPr>
          <p:cNvSpPr txBox="1"/>
          <p:nvPr/>
        </p:nvSpPr>
        <p:spPr>
          <a:xfrm>
            <a:off x="10972800" y="2766920"/>
            <a:ext cx="9254612" cy="369332"/>
          </a:xfrm>
          <a:prstGeom prst="rect">
            <a:avLst/>
          </a:prstGeom>
          <a:noFill/>
        </p:spPr>
        <p:txBody>
          <a:bodyPr wrap="square">
            <a:spAutoFit/>
          </a:bodyPr>
          <a:lstStyle/>
          <a:p>
            <a:r>
              <a:rPr lang="es-ES" sz="1800" dirty="0">
                <a:solidFill>
                  <a:schemeClr val="bg1"/>
                </a:solidFill>
              </a:rPr>
              <a:t>Respuesta en la consola de </a:t>
            </a:r>
            <a:r>
              <a:rPr lang="es-ES" sz="1800" dirty="0" err="1">
                <a:solidFill>
                  <a:schemeClr val="bg1"/>
                </a:solidFill>
              </a:rPr>
              <a:t>intellij</a:t>
            </a:r>
            <a:endParaRPr lang="es-ES" sz="1800" dirty="0">
              <a:solidFill>
                <a:schemeClr val="bg1"/>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09769793" name="object 2"/>
          <p:cNvSpPr txBox="1">
            <a:spLocks noGrp="1"/>
          </p:cNvSpPr>
          <p:nvPr>
            <p:ph type="title"/>
          </p:nvPr>
        </p:nvSpPr>
        <p:spPr bwMode="auto">
          <a:xfrm>
            <a:off x="1212643" y="475121"/>
            <a:ext cx="11008874" cy="1243930"/>
          </a:xfrm>
          <a:prstGeom prst="rect">
            <a:avLst/>
          </a:prstGeom>
        </p:spPr>
        <p:txBody>
          <a:bodyPr vert="horz" wrap="square" lIns="0" tIns="12700" rIns="0" bIns="0" rtlCol="0">
            <a:spAutoFit/>
          </a:bodyPr>
          <a:lstStyle/>
          <a:p>
            <a:pPr>
              <a:defRPr/>
            </a:pPr>
            <a:r>
              <a:rPr lang="es-ES" sz="8000" dirty="0">
                <a:solidFill>
                  <a:schemeClr val="bg1"/>
                </a:solidFill>
              </a:rPr>
              <a:t>  </a:t>
            </a:r>
            <a:endParaRPr sz="8000" dirty="0">
              <a:solidFill>
                <a:schemeClr val="bg1"/>
              </a:solidFill>
            </a:endParaRPr>
          </a:p>
        </p:txBody>
      </p:sp>
      <p:sp>
        <p:nvSpPr>
          <p:cNvPr id="1935260451" name="object 3"/>
          <p:cNvSpPr txBox="1"/>
          <p:nvPr/>
        </p:nvSpPr>
        <p:spPr bwMode="auto">
          <a:xfrm>
            <a:off x="9015438" y="4979009"/>
            <a:ext cx="257175" cy="299720"/>
          </a:xfrm>
          <a:prstGeom prst="rect">
            <a:avLst/>
          </a:prstGeom>
        </p:spPr>
        <p:txBody>
          <a:bodyPr vert="horz" wrap="square" lIns="0" tIns="12700" rIns="0" bIns="0" rtlCol="0">
            <a:spAutoFit/>
          </a:bodyPr>
          <a:lstStyle/>
          <a:p>
            <a:pPr marL="12700">
              <a:lnSpc>
                <a:spcPct val="100000"/>
              </a:lnSpc>
              <a:spcBef>
                <a:spcPts val="100"/>
              </a:spcBef>
              <a:defRPr/>
            </a:pPr>
            <a:r>
              <a:rPr sz="1800" spc="-25">
                <a:latin typeface="Calibri"/>
                <a:cs typeface="Calibri"/>
              </a:rPr>
              <a:t>03</a:t>
            </a:r>
            <a:endParaRPr sz="1800">
              <a:latin typeface="Calibri"/>
              <a:cs typeface="Calibri"/>
            </a:endParaRPr>
          </a:p>
        </p:txBody>
      </p:sp>
      <p:sp>
        <p:nvSpPr>
          <p:cNvPr id="1515271569" name="object 4"/>
          <p:cNvSpPr txBox="1"/>
          <p:nvPr/>
        </p:nvSpPr>
        <p:spPr bwMode="auto">
          <a:xfrm>
            <a:off x="1600200" y="499755"/>
            <a:ext cx="6474604" cy="382156"/>
          </a:xfrm>
          <a:prstGeom prst="rect">
            <a:avLst/>
          </a:prstGeom>
        </p:spPr>
        <p:txBody>
          <a:bodyPr vert="horz" wrap="square" lIns="0" tIns="12700" rIns="0" bIns="0" rtlCol="0">
            <a:spAutoFit/>
          </a:bodyPr>
          <a:lstStyle/>
          <a:p>
            <a:r>
              <a:rPr lang="es-ES" sz="2400" dirty="0">
                <a:solidFill>
                  <a:schemeClr val="bg1"/>
                </a:solidFill>
              </a:rPr>
              <a:t>Ejercicio 2: Registrar un nuevo estudiante</a:t>
            </a:r>
            <a:endParaRPr lang="es-MX" dirty="0">
              <a:solidFill>
                <a:schemeClr val="bg1"/>
              </a:solidFill>
              <a:latin typeface="Arial" panose="020B0604020202020204" pitchFamily="34" charset="0"/>
              <a:ea typeface="Arial" panose="020B0604020202020204" pitchFamily="34" charset="0"/>
            </a:endParaRPr>
          </a:p>
        </p:txBody>
      </p:sp>
      <p:sp>
        <p:nvSpPr>
          <p:cNvPr id="205095173" name="object 5"/>
          <p:cNvSpPr txBox="1"/>
          <p:nvPr/>
        </p:nvSpPr>
        <p:spPr bwMode="auto">
          <a:xfrm>
            <a:off x="4197155" y="9787924"/>
            <a:ext cx="8828469" cy="287379"/>
          </a:xfrm>
          <a:prstGeom prst="rect">
            <a:avLst/>
          </a:prstGeom>
        </p:spPr>
        <p:txBody>
          <a:bodyPr vert="horz" wrap="square" lIns="0" tIns="12700" rIns="0" bIns="0" rtlCol="0">
            <a:spAutoFit/>
          </a:bodyPr>
          <a:lstStyle/>
          <a:p>
            <a:pPr>
              <a:defRPr/>
            </a:pPr>
            <a:endParaRPr sz="1800">
              <a:solidFill>
                <a:schemeClr val="bg1"/>
              </a:solidFill>
            </a:endParaRPr>
          </a:p>
        </p:txBody>
      </p:sp>
      <p:sp>
        <p:nvSpPr>
          <p:cNvPr id="1927622888" name=" 1927622887"/>
          <p:cNvSpPr/>
          <p:nvPr/>
        </p:nvSpPr>
        <p:spPr bwMode="auto">
          <a:xfrm>
            <a:off x="7907951" y="987828"/>
            <a:ext cx="1895544" cy="5489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br>
              <a:rPr/>
            </a:br>
            <a:endParaRPr/>
          </a:p>
          <a:p>
            <a:pPr>
              <a:defRPr/>
            </a:pPr>
            <a:endParaRPr/>
          </a:p>
        </p:txBody>
      </p:sp>
      <p:sp>
        <p:nvSpPr>
          <p:cNvPr id="4" name="CuadroTexto 3">
            <a:extLst>
              <a:ext uri="{FF2B5EF4-FFF2-40B4-BE49-F238E27FC236}">
                <a16:creationId xmlns:a16="http://schemas.microsoft.com/office/drawing/2014/main" id="{123D20A0-B128-3A45-57CF-578D7E469E5B}"/>
              </a:ext>
            </a:extLst>
          </p:cNvPr>
          <p:cNvSpPr txBox="1"/>
          <p:nvPr/>
        </p:nvSpPr>
        <p:spPr>
          <a:xfrm>
            <a:off x="1595284" y="881911"/>
            <a:ext cx="7238206" cy="707886"/>
          </a:xfrm>
          <a:prstGeom prst="rect">
            <a:avLst/>
          </a:prstGeom>
          <a:noFill/>
        </p:spPr>
        <p:txBody>
          <a:bodyPr wrap="square">
            <a:spAutoFit/>
          </a:bodyPr>
          <a:lstStyle/>
          <a:p>
            <a:r>
              <a:rPr lang="es-ES" sz="2000" dirty="0">
                <a:solidFill>
                  <a:schemeClr val="bg1"/>
                </a:solidFill>
              </a:rPr>
              <a:t>Registrar un estudiante nuevo desde Bruno y comprobar que se genere un log de registro exitoso.</a:t>
            </a:r>
          </a:p>
        </p:txBody>
      </p:sp>
      <p:sp>
        <p:nvSpPr>
          <p:cNvPr id="9" name="CuadroTexto 8">
            <a:extLst>
              <a:ext uri="{FF2B5EF4-FFF2-40B4-BE49-F238E27FC236}">
                <a16:creationId xmlns:a16="http://schemas.microsoft.com/office/drawing/2014/main" id="{D4844847-A504-90AC-397B-B3F1F8BBED58}"/>
              </a:ext>
            </a:extLst>
          </p:cNvPr>
          <p:cNvSpPr txBox="1"/>
          <p:nvPr/>
        </p:nvSpPr>
        <p:spPr>
          <a:xfrm>
            <a:off x="4229110" y="8493605"/>
            <a:ext cx="9254612" cy="1754326"/>
          </a:xfrm>
          <a:prstGeom prst="rect">
            <a:avLst/>
          </a:prstGeom>
          <a:noFill/>
        </p:spPr>
        <p:txBody>
          <a:bodyPr wrap="square">
            <a:spAutoFit/>
          </a:bodyPr>
          <a:lstStyle/>
          <a:p>
            <a:r>
              <a:rPr lang="es-ES" dirty="0">
                <a:solidFill>
                  <a:schemeClr val="bg1"/>
                </a:solidFill>
              </a:rPr>
              <a:t>En este ejercicio se realizó el registro de un nuevo estudiante usando una petición POST desde Bruno. Se enviaron los datos en formato JSON, incluyendo nombre, edad, teléfono, correo, dirección, matrícula, carrera y semestre. Al enviar la petición, el sistema guardó la información en la base de datos y regresó el registro con un ID asignado. En la consola se mostraron logs indicando que se intentó registrar al estudiante y que el registro se realizó correctamente.</a:t>
            </a:r>
            <a:endParaRPr lang="es-MX" dirty="0">
              <a:solidFill>
                <a:schemeClr val="bg1"/>
              </a:solidFill>
            </a:endParaRPr>
          </a:p>
        </p:txBody>
      </p:sp>
      <p:sp>
        <p:nvSpPr>
          <p:cNvPr id="11" name="CuadroTexto 10">
            <a:extLst>
              <a:ext uri="{FF2B5EF4-FFF2-40B4-BE49-F238E27FC236}">
                <a16:creationId xmlns:a16="http://schemas.microsoft.com/office/drawing/2014/main" id="{B83756F4-2899-8E02-C8A8-F6890AF7E4D0}"/>
              </a:ext>
            </a:extLst>
          </p:cNvPr>
          <p:cNvSpPr txBox="1"/>
          <p:nvPr/>
        </p:nvSpPr>
        <p:spPr>
          <a:xfrm>
            <a:off x="2362200" y="2904591"/>
            <a:ext cx="9254612" cy="369332"/>
          </a:xfrm>
          <a:prstGeom prst="rect">
            <a:avLst/>
          </a:prstGeom>
          <a:noFill/>
        </p:spPr>
        <p:txBody>
          <a:bodyPr wrap="square">
            <a:spAutoFit/>
          </a:bodyPr>
          <a:lstStyle/>
          <a:p>
            <a:r>
              <a:rPr lang="es-ES" sz="1800" dirty="0">
                <a:solidFill>
                  <a:schemeClr val="bg1"/>
                </a:solidFill>
              </a:rPr>
              <a:t>Respuesta en Bruno</a:t>
            </a:r>
          </a:p>
        </p:txBody>
      </p:sp>
      <p:sp>
        <p:nvSpPr>
          <p:cNvPr id="13" name="CuadroTexto 12">
            <a:extLst>
              <a:ext uri="{FF2B5EF4-FFF2-40B4-BE49-F238E27FC236}">
                <a16:creationId xmlns:a16="http://schemas.microsoft.com/office/drawing/2014/main" id="{0371B4FE-1300-86FC-1C60-85B093FAFE6A}"/>
              </a:ext>
            </a:extLst>
          </p:cNvPr>
          <p:cNvSpPr txBox="1"/>
          <p:nvPr/>
        </p:nvSpPr>
        <p:spPr>
          <a:xfrm>
            <a:off x="10972800" y="2766920"/>
            <a:ext cx="9254612" cy="369332"/>
          </a:xfrm>
          <a:prstGeom prst="rect">
            <a:avLst/>
          </a:prstGeom>
          <a:noFill/>
        </p:spPr>
        <p:txBody>
          <a:bodyPr wrap="square">
            <a:spAutoFit/>
          </a:bodyPr>
          <a:lstStyle/>
          <a:p>
            <a:r>
              <a:rPr lang="es-ES" sz="1800" dirty="0">
                <a:solidFill>
                  <a:schemeClr val="bg1"/>
                </a:solidFill>
              </a:rPr>
              <a:t>Respuesta en la consola de </a:t>
            </a:r>
            <a:r>
              <a:rPr lang="es-ES" sz="1800" dirty="0" err="1">
                <a:solidFill>
                  <a:schemeClr val="bg1"/>
                </a:solidFill>
              </a:rPr>
              <a:t>intellij</a:t>
            </a:r>
            <a:endParaRPr lang="es-ES" sz="1800" dirty="0">
              <a:solidFill>
                <a:schemeClr val="bg1"/>
              </a:solidFill>
            </a:endParaRPr>
          </a:p>
        </p:txBody>
      </p:sp>
      <p:pic>
        <p:nvPicPr>
          <p:cNvPr id="5" name="Imagen 4">
            <a:extLst>
              <a:ext uri="{FF2B5EF4-FFF2-40B4-BE49-F238E27FC236}">
                <a16:creationId xmlns:a16="http://schemas.microsoft.com/office/drawing/2014/main" id="{87E3C91B-5C3E-801A-B32A-7D49789A4D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2130" y="3367913"/>
            <a:ext cx="9267568" cy="4714875"/>
          </a:xfrm>
          <a:prstGeom prst="rect">
            <a:avLst/>
          </a:prstGeom>
        </p:spPr>
      </p:pic>
      <p:pic>
        <p:nvPicPr>
          <p:cNvPr id="8" name="Imagen 7">
            <a:extLst>
              <a:ext uri="{FF2B5EF4-FFF2-40B4-BE49-F238E27FC236}">
                <a16:creationId xmlns:a16="http://schemas.microsoft.com/office/drawing/2014/main" id="{47407B89-379A-F7FE-8DA3-E8FA964AF9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57303" y="3363075"/>
            <a:ext cx="9267568" cy="4714875"/>
          </a:xfrm>
          <a:prstGeom prst="rect">
            <a:avLst/>
          </a:prstGeom>
        </p:spPr>
      </p:pic>
    </p:spTree>
    <p:extLst>
      <p:ext uri="{BB962C8B-B14F-4D97-AF65-F5344CB8AC3E}">
        <p14:creationId xmlns:p14="http://schemas.microsoft.com/office/powerpoint/2010/main" val="195257863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09769793" name="object 2"/>
          <p:cNvSpPr txBox="1">
            <a:spLocks noGrp="1"/>
          </p:cNvSpPr>
          <p:nvPr>
            <p:ph type="title"/>
          </p:nvPr>
        </p:nvSpPr>
        <p:spPr bwMode="auto">
          <a:xfrm>
            <a:off x="1212643" y="475121"/>
            <a:ext cx="11008874" cy="1243930"/>
          </a:xfrm>
          <a:prstGeom prst="rect">
            <a:avLst/>
          </a:prstGeom>
        </p:spPr>
        <p:txBody>
          <a:bodyPr vert="horz" wrap="square" lIns="0" tIns="12700" rIns="0" bIns="0" rtlCol="0">
            <a:spAutoFit/>
          </a:bodyPr>
          <a:lstStyle/>
          <a:p>
            <a:pPr>
              <a:defRPr/>
            </a:pPr>
            <a:r>
              <a:rPr lang="es-ES" sz="8000" dirty="0">
                <a:solidFill>
                  <a:schemeClr val="bg1"/>
                </a:solidFill>
              </a:rPr>
              <a:t>  </a:t>
            </a:r>
            <a:endParaRPr sz="8000" dirty="0">
              <a:solidFill>
                <a:schemeClr val="bg1"/>
              </a:solidFill>
            </a:endParaRPr>
          </a:p>
        </p:txBody>
      </p:sp>
      <p:sp>
        <p:nvSpPr>
          <p:cNvPr id="1935260451" name="object 3"/>
          <p:cNvSpPr txBox="1"/>
          <p:nvPr/>
        </p:nvSpPr>
        <p:spPr bwMode="auto">
          <a:xfrm>
            <a:off x="9015438" y="4979009"/>
            <a:ext cx="257175" cy="299720"/>
          </a:xfrm>
          <a:prstGeom prst="rect">
            <a:avLst/>
          </a:prstGeom>
        </p:spPr>
        <p:txBody>
          <a:bodyPr vert="horz" wrap="square" lIns="0" tIns="12700" rIns="0" bIns="0" rtlCol="0">
            <a:spAutoFit/>
          </a:bodyPr>
          <a:lstStyle/>
          <a:p>
            <a:pPr marL="12700">
              <a:lnSpc>
                <a:spcPct val="100000"/>
              </a:lnSpc>
              <a:spcBef>
                <a:spcPts val="100"/>
              </a:spcBef>
              <a:defRPr/>
            </a:pPr>
            <a:r>
              <a:rPr sz="1800" spc="-25">
                <a:latin typeface="Calibri"/>
                <a:cs typeface="Calibri"/>
              </a:rPr>
              <a:t>03</a:t>
            </a:r>
            <a:endParaRPr sz="1800">
              <a:latin typeface="Calibri"/>
              <a:cs typeface="Calibri"/>
            </a:endParaRPr>
          </a:p>
        </p:txBody>
      </p:sp>
      <p:sp>
        <p:nvSpPr>
          <p:cNvPr id="1515271569" name="object 4"/>
          <p:cNvSpPr txBox="1"/>
          <p:nvPr/>
        </p:nvSpPr>
        <p:spPr bwMode="auto">
          <a:xfrm>
            <a:off x="1600200" y="499755"/>
            <a:ext cx="6474604" cy="382156"/>
          </a:xfrm>
          <a:prstGeom prst="rect">
            <a:avLst/>
          </a:prstGeom>
        </p:spPr>
        <p:txBody>
          <a:bodyPr vert="horz" wrap="square" lIns="0" tIns="12700" rIns="0" bIns="0" rtlCol="0">
            <a:spAutoFit/>
          </a:bodyPr>
          <a:lstStyle/>
          <a:p>
            <a:r>
              <a:rPr lang="es-ES" sz="2400" b="1" dirty="0">
                <a:solidFill>
                  <a:schemeClr val="bg1"/>
                </a:solidFill>
              </a:rPr>
              <a:t>Ejercicio 3: Buscar estudiante por ID</a:t>
            </a:r>
          </a:p>
        </p:txBody>
      </p:sp>
      <p:sp>
        <p:nvSpPr>
          <p:cNvPr id="205095173" name="object 5"/>
          <p:cNvSpPr txBox="1"/>
          <p:nvPr/>
        </p:nvSpPr>
        <p:spPr bwMode="auto">
          <a:xfrm>
            <a:off x="4197155" y="9787924"/>
            <a:ext cx="8828469" cy="287379"/>
          </a:xfrm>
          <a:prstGeom prst="rect">
            <a:avLst/>
          </a:prstGeom>
        </p:spPr>
        <p:txBody>
          <a:bodyPr vert="horz" wrap="square" lIns="0" tIns="12700" rIns="0" bIns="0" rtlCol="0">
            <a:spAutoFit/>
          </a:bodyPr>
          <a:lstStyle/>
          <a:p>
            <a:pPr>
              <a:defRPr/>
            </a:pPr>
            <a:endParaRPr sz="1800">
              <a:solidFill>
                <a:schemeClr val="bg1"/>
              </a:solidFill>
            </a:endParaRPr>
          </a:p>
        </p:txBody>
      </p:sp>
      <p:sp>
        <p:nvSpPr>
          <p:cNvPr id="1927622888" name=" 1927622887"/>
          <p:cNvSpPr/>
          <p:nvPr/>
        </p:nvSpPr>
        <p:spPr bwMode="auto">
          <a:xfrm>
            <a:off x="7907951" y="987828"/>
            <a:ext cx="1895544" cy="5489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br>
              <a:rPr/>
            </a:br>
            <a:endParaRPr/>
          </a:p>
          <a:p>
            <a:pPr>
              <a:defRPr/>
            </a:pPr>
            <a:endParaRPr/>
          </a:p>
        </p:txBody>
      </p:sp>
      <p:sp>
        <p:nvSpPr>
          <p:cNvPr id="4" name="CuadroTexto 3">
            <a:extLst>
              <a:ext uri="{FF2B5EF4-FFF2-40B4-BE49-F238E27FC236}">
                <a16:creationId xmlns:a16="http://schemas.microsoft.com/office/drawing/2014/main" id="{123D20A0-B128-3A45-57CF-578D7E469E5B}"/>
              </a:ext>
            </a:extLst>
          </p:cNvPr>
          <p:cNvSpPr txBox="1"/>
          <p:nvPr/>
        </p:nvSpPr>
        <p:spPr>
          <a:xfrm>
            <a:off x="1595284" y="881911"/>
            <a:ext cx="7238206" cy="400110"/>
          </a:xfrm>
          <a:prstGeom prst="rect">
            <a:avLst/>
          </a:prstGeom>
          <a:noFill/>
        </p:spPr>
        <p:txBody>
          <a:bodyPr wrap="square">
            <a:spAutoFit/>
          </a:bodyPr>
          <a:lstStyle/>
          <a:p>
            <a:r>
              <a:rPr lang="es-ES" sz="2000" dirty="0">
                <a:solidFill>
                  <a:schemeClr val="bg1"/>
                </a:solidFill>
              </a:rPr>
              <a:t>Consultar un estudiante específico utilizando su ID.</a:t>
            </a:r>
          </a:p>
        </p:txBody>
      </p:sp>
      <p:sp>
        <p:nvSpPr>
          <p:cNvPr id="9" name="CuadroTexto 8">
            <a:extLst>
              <a:ext uri="{FF2B5EF4-FFF2-40B4-BE49-F238E27FC236}">
                <a16:creationId xmlns:a16="http://schemas.microsoft.com/office/drawing/2014/main" id="{D4844847-A504-90AC-397B-B3F1F8BBED58}"/>
              </a:ext>
            </a:extLst>
          </p:cNvPr>
          <p:cNvSpPr txBox="1"/>
          <p:nvPr/>
        </p:nvSpPr>
        <p:spPr>
          <a:xfrm>
            <a:off x="4229110" y="8493605"/>
            <a:ext cx="9254612" cy="1200329"/>
          </a:xfrm>
          <a:prstGeom prst="rect">
            <a:avLst/>
          </a:prstGeom>
          <a:noFill/>
        </p:spPr>
        <p:txBody>
          <a:bodyPr wrap="square">
            <a:spAutoFit/>
          </a:bodyPr>
          <a:lstStyle/>
          <a:p>
            <a:r>
              <a:rPr lang="es-ES" dirty="0">
                <a:solidFill>
                  <a:schemeClr val="bg1"/>
                </a:solidFill>
              </a:rPr>
              <a:t>En este ejercicio se realizó una búsqueda de estudiante por medio de su ID. Para ello se utilizó una petición GET en Bruno, colocando el número del estudiante al final de la URL. El sistema respondió con la información correspondiente al registro solicitado y en la consola se generó un log indicando que se estaba buscando un estudiante con ese ID.</a:t>
            </a:r>
          </a:p>
        </p:txBody>
      </p:sp>
      <p:sp>
        <p:nvSpPr>
          <p:cNvPr id="11" name="CuadroTexto 10">
            <a:extLst>
              <a:ext uri="{FF2B5EF4-FFF2-40B4-BE49-F238E27FC236}">
                <a16:creationId xmlns:a16="http://schemas.microsoft.com/office/drawing/2014/main" id="{B83756F4-2899-8E02-C8A8-F6890AF7E4D0}"/>
              </a:ext>
            </a:extLst>
          </p:cNvPr>
          <p:cNvSpPr txBox="1"/>
          <p:nvPr/>
        </p:nvSpPr>
        <p:spPr>
          <a:xfrm>
            <a:off x="2362200" y="2904591"/>
            <a:ext cx="9254612" cy="369332"/>
          </a:xfrm>
          <a:prstGeom prst="rect">
            <a:avLst/>
          </a:prstGeom>
          <a:noFill/>
        </p:spPr>
        <p:txBody>
          <a:bodyPr wrap="square">
            <a:spAutoFit/>
          </a:bodyPr>
          <a:lstStyle/>
          <a:p>
            <a:r>
              <a:rPr lang="es-ES" sz="1800" dirty="0">
                <a:solidFill>
                  <a:schemeClr val="bg1"/>
                </a:solidFill>
              </a:rPr>
              <a:t>Respuesta en Bruno</a:t>
            </a:r>
          </a:p>
        </p:txBody>
      </p:sp>
      <p:sp>
        <p:nvSpPr>
          <p:cNvPr id="13" name="CuadroTexto 12">
            <a:extLst>
              <a:ext uri="{FF2B5EF4-FFF2-40B4-BE49-F238E27FC236}">
                <a16:creationId xmlns:a16="http://schemas.microsoft.com/office/drawing/2014/main" id="{0371B4FE-1300-86FC-1C60-85B093FAFE6A}"/>
              </a:ext>
            </a:extLst>
          </p:cNvPr>
          <p:cNvSpPr txBox="1"/>
          <p:nvPr/>
        </p:nvSpPr>
        <p:spPr>
          <a:xfrm>
            <a:off x="10972800" y="2766920"/>
            <a:ext cx="9254612" cy="369332"/>
          </a:xfrm>
          <a:prstGeom prst="rect">
            <a:avLst/>
          </a:prstGeom>
          <a:noFill/>
        </p:spPr>
        <p:txBody>
          <a:bodyPr wrap="square">
            <a:spAutoFit/>
          </a:bodyPr>
          <a:lstStyle/>
          <a:p>
            <a:r>
              <a:rPr lang="es-ES" sz="1800" dirty="0">
                <a:solidFill>
                  <a:schemeClr val="bg1"/>
                </a:solidFill>
              </a:rPr>
              <a:t>Respuesta en la consola de </a:t>
            </a:r>
            <a:r>
              <a:rPr lang="es-ES" sz="1800" dirty="0" err="1">
                <a:solidFill>
                  <a:schemeClr val="bg1"/>
                </a:solidFill>
              </a:rPr>
              <a:t>intellij</a:t>
            </a:r>
            <a:endParaRPr lang="es-ES" sz="1800" dirty="0">
              <a:solidFill>
                <a:schemeClr val="bg1"/>
              </a:solidFill>
            </a:endParaRPr>
          </a:p>
        </p:txBody>
      </p:sp>
      <p:pic>
        <p:nvPicPr>
          <p:cNvPr id="3" name="Imagen 2">
            <a:extLst>
              <a:ext uri="{FF2B5EF4-FFF2-40B4-BE49-F238E27FC236}">
                <a16:creationId xmlns:a16="http://schemas.microsoft.com/office/drawing/2014/main" id="{B35DC07B-EA07-2969-56E3-D2DFAFEA61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9" y="3418073"/>
            <a:ext cx="9677421" cy="4923388"/>
          </a:xfrm>
          <a:prstGeom prst="rect">
            <a:avLst/>
          </a:prstGeom>
        </p:spPr>
      </p:pic>
      <p:pic>
        <p:nvPicPr>
          <p:cNvPr id="7" name="Imagen 6">
            <a:extLst>
              <a:ext uri="{FF2B5EF4-FFF2-40B4-BE49-F238E27FC236}">
                <a16:creationId xmlns:a16="http://schemas.microsoft.com/office/drawing/2014/main" id="{01E924D1-1C00-E773-9CF6-5B8C1E1038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08524" y="3494145"/>
            <a:ext cx="9677421" cy="4923388"/>
          </a:xfrm>
          <a:prstGeom prst="rect">
            <a:avLst/>
          </a:prstGeom>
        </p:spPr>
      </p:pic>
    </p:spTree>
    <p:extLst>
      <p:ext uri="{BB962C8B-B14F-4D97-AF65-F5344CB8AC3E}">
        <p14:creationId xmlns:p14="http://schemas.microsoft.com/office/powerpoint/2010/main" val="328015305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09769793" name="object 2"/>
          <p:cNvSpPr txBox="1">
            <a:spLocks noGrp="1"/>
          </p:cNvSpPr>
          <p:nvPr>
            <p:ph type="title"/>
          </p:nvPr>
        </p:nvSpPr>
        <p:spPr bwMode="auto">
          <a:xfrm>
            <a:off x="1212642" y="475121"/>
            <a:ext cx="13493958" cy="1243930"/>
          </a:xfrm>
          <a:prstGeom prst="rect">
            <a:avLst/>
          </a:prstGeom>
        </p:spPr>
        <p:txBody>
          <a:bodyPr vert="horz" wrap="square" lIns="0" tIns="12700" rIns="0" bIns="0" rtlCol="0">
            <a:spAutoFit/>
          </a:bodyPr>
          <a:lstStyle/>
          <a:p>
            <a:pPr>
              <a:defRPr/>
            </a:pPr>
            <a:r>
              <a:rPr lang="es-ES" sz="8000" dirty="0">
                <a:solidFill>
                  <a:schemeClr val="bg1"/>
                </a:solidFill>
              </a:rPr>
              <a:t>  </a:t>
            </a:r>
            <a:endParaRPr sz="8000" dirty="0">
              <a:solidFill>
                <a:schemeClr val="bg1"/>
              </a:solidFill>
            </a:endParaRPr>
          </a:p>
        </p:txBody>
      </p:sp>
      <p:sp>
        <p:nvSpPr>
          <p:cNvPr id="1935260451" name="object 3"/>
          <p:cNvSpPr txBox="1"/>
          <p:nvPr/>
        </p:nvSpPr>
        <p:spPr bwMode="auto">
          <a:xfrm>
            <a:off x="9015438" y="4979009"/>
            <a:ext cx="257175" cy="299720"/>
          </a:xfrm>
          <a:prstGeom prst="rect">
            <a:avLst/>
          </a:prstGeom>
        </p:spPr>
        <p:txBody>
          <a:bodyPr vert="horz" wrap="square" lIns="0" tIns="12700" rIns="0" bIns="0" rtlCol="0">
            <a:spAutoFit/>
          </a:bodyPr>
          <a:lstStyle/>
          <a:p>
            <a:pPr marL="12700">
              <a:lnSpc>
                <a:spcPct val="100000"/>
              </a:lnSpc>
              <a:spcBef>
                <a:spcPts val="100"/>
              </a:spcBef>
              <a:defRPr/>
            </a:pPr>
            <a:r>
              <a:rPr sz="1800" spc="-25">
                <a:latin typeface="Calibri"/>
                <a:cs typeface="Calibri"/>
              </a:rPr>
              <a:t>03</a:t>
            </a:r>
            <a:endParaRPr sz="1800">
              <a:latin typeface="Calibri"/>
              <a:cs typeface="Calibri"/>
            </a:endParaRPr>
          </a:p>
        </p:txBody>
      </p:sp>
      <p:sp>
        <p:nvSpPr>
          <p:cNvPr id="1515271569" name="object 4"/>
          <p:cNvSpPr txBox="1"/>
          <p:nvPr/>
        </p:nvSpPr>
        <p:spPr bwMode="auto">
          <a:xfrm>
            <a:off x="1600200" y="499755"/>
            <a:ext cx="6474604" cy="751488"/>
          </a:xfrm>
          <a:prstGeom prst="rect">
            <a:avLst/>
          </a:prstGeom>
        </p:spPr>
        <p:txBody>
          <a:bodyPr vert="horz" wrap="square" lIns="0" tIns="12700" rIns="0" bIns="0" rtlCol="0">
            <a:spAutoFit/>
          </a:bodyPr>
          <a:lstStyle/>
          <a:p>
            <a:r>
              <a:rPr lang="es-ES" sz="2400" b="1" dirty="0">
                <a:solidFill>
                  <a:schemeClr val="bg1"/>
                </a:solidFill>
              </a:rPr>
              <a:t>Ejercicio 4: Buscar un estudiante que no existe</a:t>
            </a:r>
          </a:p>
        </p:txBody>
      </p:sp>
      <p:sp>
        <p:nvSpPr>
          <p:cNvPr id="205095173" name="object 5"/>
          <p:cNvSpPr txBox="1"/>
          <p:nvPr/>
        </p:nvSpPr>
        <p:spPr bwMode="auto">
          <a:xfrm>
            <a:off x="4197155" y="9787924"/>
            <a:ext cx="8828469" cy="287379"/>
          </a:xfrm>
          <a:prstGeom prst="rect">
            <a:avLst/>
          </a:prstGeom>
        </p:spPr>
        <p:txBody>
          <a:bodyPr vert="horz" wrap="square" lIns="0" tIns="12700" rIns="0" bIns="0" rtlCol="0">
            <a:spAutoFit/>
          </a:bodyPr>
          <a:lstStyle/>
          <a:p>
            <a:pPr>
              <a:defRPr/>
            </a:pPr>
            <a:endParaRPr sz="1800">
              <a:solidFill>
                <a:schemeClr val="bg1"/>
              </a:solidFill>
            </a:endParaRPr>
          </a:p>
        </p:txBody>
      </p:sp>
      <p:sp>
        <p:nvSpPr>
          <p:cNvPr id="1927622888" name=" 1927622887"/>
          <p:cNvSpPr/>
          <p:nvPr/>
        </p:nvSpPr>
        <p:spPr bwMode="auto">
          <a:xfrm>
            <a:off x="7907951" y="987828"/>
            <a:ext cx="1895544" cy="548999"/>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br>
              <a:rPr/>
            </a:br>
            <a:endParaRPr/>
          </a:p>
          <a:p>
            <a:pPr>
              <a:defRPr/>
            </a:pPr>
            <a:endParaRPr/>
          </a:p>
        </p:txBody>
      </p:sp>
      <p:sp>
        <p:nvSpPr>
          <p:cNvPr id="4" name="CuadroTexto 3">
            <a:extLst>
              <a:ext uri="{FF2B5EF4-FFF2-40B4-BE49-F238E27FC236}">
                <a16:creationId xmlns:a16="http://schemas.microsoft.com/office/drawing/2014/main" id="{123D20A0-B128-3A45-57CF-578D7E469E5B}"/>
              </a:ext>
            </a:extLst>
          </p:cNvPr>
          <p:cNvSpPr txBox="1"/>
          <p:nvPr/>
        </p:nvSpPr>
        <p:spPr>
          <a:xfrm>
            <a:off x="1373183" y="1444513"/>
            <a:ext cx="7238206" cy="1015663"/>
          </a:xfrm>
          <a:prstGeom prst="rect">
            <a:avLst/>
          </a:prstGeom>
          <a:noFill/>
        </p:spPr>
        <p:txBody>
          <a:bodyPr wrap="square">
            <a:spAutoFit/>
          </a:bodyPr>
          <a:lstStyle/>
          <a:p>
            <a:r>
              <a:rPr lang="es-ES" sz="2000" dirty="0">
                <a:solidFill>
                  <a:schemeClr val="bg1"/>
                </a:solidFill>
              </a:rPr>
              <a:t>Comprobar que el sistema muestre un error cuando se busca un estudiante inexistente y que se genere un log de advertencia.</a:t>
            </a:r>
          </a:p>
        </p:txBody>
      </p:sp>
      <p:sp>
        <p:nvSpPr>
          <p:cNvPr id="9" name="CuadroTexto 8">
            <a:extLst>
              <a:ext uri="{FF2B5EF4-FFF2-40B4-BE49-F238E27FC236}">
                <a16:creationId xmlns:a16="http://schemas.microsoft.com/office/drawing/2014/main" id="{D4844847-A504-90AC-397B-B3F1F8BBED58}"/>
              </a:ext>
            </a:extLst>
          </p:cNvPr>
          <p:cNvSpPr txBox="1"/>
          <p:nvPr/>
        </p:nvSpPr>
        <p:spPr>
          <a:xfrm>
            <a:off x="4229110" y="8493605"/>
            <a:ext cx="9254612" cy="1200329"/>
          </a:xfrm>
          <a:prstGeom prst="rect">
            <a:avLst/>
          </a:prstGeom>
          <a:noFill/>
        </p:spPr>
        <p:txBody>
          <a:bodyPr wrap="square">
            <a:spAutoFit/>
          </a:bodyPr>
          <a:lstStyle/>
          <a:p>
            <a:r>
              <a:rPr lang="es-ES" dirty="0">
                <a:solidFill>
                  <a:schemeClr val="bg1"/>
                </a:solidFill>
              </a:rPr>
              <a:t>En este ejercicio se probó la búsqueda de un estudiante que no existe en la base de datos. Se envió una petición GET con un ID inexistente. Como el sistema no encontró ningún registro, devolvió un mensaje de error. Además, se generó un log de advertencia, lo cual ayuda a identificar que se intentó consultar un dato que no está registrado.</a:t>
            </a:r>
          </a:p>
        </p:txBody>
      </p:sp>
      <p:sp>
        <p:nvSpPr>
          <p:cNvPr id="11" name="CuadroTexto 10">
            <a:extLst>
              <a:ext uri="{FF2B5EF4-FFF2-40B4-BE49-F238E27FC236}">
                <a16:creationId xmlns:a16="http://schemas.microsoft.com/office/drawing/2014/main" id="{B83756F4-2899-8E02-C8A8-F6890AF7E4D0}"/>
              </a:ext>
            </a:extLst>
          </p:cNvPr>
          <p:cNvSpPr txBox="1"/>
          <p:nvPr/>
        </p:nvSpPr>
        <p:spPr>
          <a:xfrm>
            <a:off x="2362200" y="2904591"/>
            <a:ext cx="9254612" cy="369332"/>
          </a:xfrm>
          <a:prstGeom prst="rect">
            <a:avLst/>
          </a:prstGeom>
          <a:noFill/>
        </p:spPr>
        <p:txBody>
          <a:bodyPr wrap="square">
            <a:spAutoFit/>
          </a:bodyPr>
          <a:lstStyle/>
          <a:p>
            <a:r>
              <a:rPr lang="es-ES" sz="1800" dirty="0">
                <a:solidFill>
                  <a:schemeClr val="bg1"/>
                </a:solidFill>
              </a:rPr>
              <a:t>Respuesta en Bruno</a:t>
            </a:r>
          </a:p>
        </p:txBody>
      </p:sp>
      <p:sp>
        <p:nvSpPr>
          <p:cNvPr id="13" name="CuadroTexto 12">
            <a:extLst>
              <a:ext uri="{FF2B5EF4-FFF2-40B4-BE49-F238E27FC236}">
                <a16:creationId xmlns:a16="http://schemas.microsoft.com/office/drawing/2014/main" id="{0371B4FE-1300-86FC-1C60-85B093FAFE6A}"/>
              </a:ext>
            </a:extLst>
          </p:cNvPr>
          <p:cNvSpPr txBox="1"/>
          <p:nvPr/>
        </p:nvSpPr>
        <p:spPr>
          <a:xfrm>
            <a:off x="10972800" y="2766920"/>
            <a:ext cx="9254612" cy="369332"/>
          </a:xfrm>
          <a:prstGeom prst="rect">
            <a:avLst/>
          </a:prstGeom>
          <a:noFill/>
        </p:spPr>
        <p:txBody>
          <a:bodyPr wrap="square">
            <a:spAutoFit/>
          </a:bodyPr>
          <a:lstStyle/>
          <a:p>
            <a:r>
              <a:rPr lang="es-ES" sz="1800" dirty="0">
                <a:solidFill>
                  <a:schemeClr val="bg1"/>
                </a:solidFill>
              </a:rPr>
              <a:t>Respuesta en la consola de </a:t>
            </a:r>
            <a:r>
              <a:rPr lang="es-ES" sz="1800" dirty="0" err="1">
                <a:solidFill>
                  <a:schemeClr val="bg1"/>
                </a:solidFill>
              </a:rPr>
              <a:t>intellij</a:t>
            </a:r>
            <a:endParaRPr lang="es-ES" sz="1800" dirty="0">
              <a:solidFill>
                <a:schemeClr val="bg1"/>
              </a:solidFill>
            </a:endParaRPr>
          </a:p>
        </p:txBody>
      </p:sp>
      <p:pic>
        <p:nvPicPr>
          <p:cNvPr id="5" name="Imagen 4">
            <a:extLst>
              <a:ext uri="{FF2B5EF4-FFF2-40B4-BE49-F238E27FC236}">
                <a16:creationId xmlns:a16="http://schemas.microsoft.com/office/drawing/2014/main" id="{31FD5C8C-BC8E-1FDC-9F55-519A2A9535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555" y="3429568"/>
            <a:ext cx="8951461" cy="4554056"/>
          </a:xfrm>
          <a:prstGeom prst="rect">
            <a:avLst/>
          </a:prstGeom>
        </p:spPr>
      </p:pic>
      <p:pic>
        <p:nvPicPr>
          <p:cNvPr id="8" name="Imagen 7">
            <a:extLst>
              <a:ext uri="{FF2B5EF4-FFF2-40B4-BE49-F238E27FC236}">
                <a16:creationId xmlns:a16="http://schemas.microsoft.com/office/drawing/2014/main" id="{A8DA4E59-5E16-4A85-CC73-8CAC484F83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96121" y="3267075"/>
            <a:ext cx="9347811" cy="4755699"/>
          </a:xfrm>
          <a:prstGeom prst="rect">
            <a:avLst/>
          </a:prstGeom>
        </p:spPr>
      </p:pic>
    </p:spTree>
    <p:extLst>
      <p:ext uri="{BB962C8B-B14F-4D97-AF65-F5344CB8AC3E}">
        <p14:creationId xmlns:p14="http://schemas.microsoft.com/office/powerpoint/2010/main" val="2017247034"/>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10098521" name="Freeform 8"/>
          <p:cNvSpPr/>
          <p:nvPr/>
        </p:nvSpPr>
        <p:spPr bwMode="auto">
          <a:xfrm>
            <a:off x="421081" y="521971"/>
            <a:ext cx="5802923" cy="4114800"/>
          </a:xfrm>
          <a:custGeom>
            <a:avLst/>
            <a:gdLst/>
            <a:ahLst/>
            <a:cxnLst/>
            <a:rect l="l" t="t" r="r" b="b"/>
            <a:pathLst>
              <a:path w="5802923" h="4114800" extrusionOk="0">
                <a:moveTo>
                  <a:pt x="0" y="0"/>
                </a:moveTo>
                <a:lnTo>
                  <a:pt x="5802923" y="0"/>
                </a:lnTo>
                <a:lnTo>
                  <a:pt x="5802923" y="4114800"/>
                </a:lnTo>
                <a:lnTo>
                  <a:pt x="0" y="4114800"/>
                </a:lnTo>
                <a:lnTo>
                  <a:pt x="0" y="0"/>
                </a:lnTo>
                <a:close/>
              </a:path>
            </a:pathLst>
          </a:custGeom>
          <a:blipFill rotWithShape="1">
            <a:blip r:embed="rId3"/>
            <a:stretch>
              <a:fillRect/>
            </a:stretch>
          </a:blipFill>
        </p:spPr>
      </p:sp>
      <p:sp>
        <p:nvSpPr>
          <p:cNvPr id="837217533" name="Freeform 9"/>
          <p:cNvSpPr/>
          <p:nvPr/>
        </p:nvSpPr>
        <p:spPr bwMode="auto">
          <a:xfrm flipH="1" flipV="1">
            <a:off x="12063996" y="5773361"/>
            <a:ext cx="5802923" cy="4114800"/>
          </a:xfrm>
          <a:custGeom>
            <a:avLst/>
            <a:gdLst/>
            <a:ahLst/>
            <a:cxnLst/>
            <a:rect l="l" t="t" r="r" b="b"/>
            <a:pathLst>
              <a:path w="5802923" h="4114800" extrusionOk="0">
                <a:moveTo>
                  <a:pt x="5802923" y="4114800"/>
                </a:moveTo>
                <a:lnTo>
                  <a:pt x="0" y="4114800"/>
                </a:lnTo>
                <a:lnTo>
                  <a:pt x="0" y="0"/>
                </a:lnTo>
                <a:lnTo>
                  <a:pt x="5802923" y="0"/>
                </a:lnTo>
                <a:lnTo>
                  <a:pt x="5802923" y="4114800"/>
                </a:lnTo>
                <a:close/>
              </a:path>
            </a:pathLst>
          </a:custGeom>
          <a:blipFill rotWithShape="1">
            <a:blip r:embed="rId3"/>
            <a:stretch>
              <a:fillRect/>
            </a:stretch>
          </a:blipFill>
        </p:spPr>
      </p:sp>
      <p:sp>
        <p:nvSpPr>
          <p:cNvPr id="552871635" name="AutoShape 10"/>
          <p:cNvSpPr/>
          <p:nvPr/>
        </p:nvSpPr>
        <p:spPr bwMode="auto">
          <a:xfrm flipV="1">
            <a:off x="6528547" y="607695"/>
            <a:ext cx="10942241" cy="0"/>
          </a:xfrm>
          <a:prstGeom prst="line">
            <a:avLst/>
          </a:prstGeom>
          <a:ln w="19050" cap="flat">
            <a:solidFill>
              <a:srgbClr val="FFFFFF"/>
            </a:solidFill>
            <a:prstDash val="solid"/>
            <a:headEnd type="oval" w="lg" len="lg"/>
            <a:tailEnd type="none" w="sm" len="sm"/>
          </a:ln>
        </p:spPr>
      </p:sp>
      <p:sp>
        <p:nvSpPr>
          <p:cNvPr id="1365982969" name="AutoShape 11"/>
          <p:cNvSpPr/>
          <p:nvPr/>
        </p:nvSpPr>
        <p:spPr bwMode="auto">
          <a:xfrm flipH="1">
            <a:off x="752883" y="9745287"/>
            <a:ext cx="10942241" cy="0"/>
          </a:xfrm>
          <a:prstGeom prst="line">
            <a:avLst/>
          </a:prstGeom>
          <a:ln w="19050" cap="flat">
            <a:solidFill>
              <a:srgbClr val="FFFFFF"/>
            </a:solidFill>
            <a:prstDash val="solid"/>
            <a:headEnd type="oval" w="lg" len="lg"/>
            <a:tailEnd type="none" w="sm" len="sm"/>
          </a:ln>
        </p:spPr>
      </p:sp>
      <p:sp>
        <p:nvSpPr>
          <p:cNvPr id="1237816248" name="TextBox 12"/>
          <p:cNvSpPr txBox="1"/>
          <p:nvPr/>
        </p:nvSpPr>
        <p:spPr bwMode="auto">
          <a:xfrm>
            <a:off x="5825861" y="3479905"/>
            <a:ext cx="6636277" cy="2154436"/>
          </a:xfrm>
          <a:prstGeom prst="rect">
            <a:avLst/>
          </a:prstGeom>
        </p:spPr>
        <p:txBody>
          <a:bodyPr wrap="square" lIns="0" tIns="0" rIns="0" bIns="0" rtlCol="0" anchor="t">
            <a:spAutoFit/>
          </a:bodyPr>
          <a:lstStyle/>
          <a:p>
            <a:pPr algn="l"/>
            <a:r>
              <a:rPr lang="es-ES" sz="2800" b="0" i="0" dirty="0">
                <a:solidFill>
                  <a:schemeClr val="bg1"/>
                </a:solidFill>
                <a:effectLst/>
                <a:latin typeface="pplxSerif"/>
              </a:rPr>
              <a:t>Anexo link de </a:t>
            </a:r>
            <a:r>
              <a:rPr lang="es-ES" sz="2800" b="0" i="0" dirty="0" err="1">
                <a:solidFill>
                  <a:schemeClr val="bg1"/>
                </a:solidFill>
                <a:effectLst/>
                <a:latin typeface="pplxSerif"/>
              </a:rPr>
              <a:t>git</a:t>
            </a:r>
            <a:r>
              <a:rPr lang="es-ES" sz="2800" b="0" i="0" dirty="0">
                <a:solidFill>
                  <a:schemeClr val="bg1"/>
                </a:solidFill>
                <a:effectLst/>
                <a:latin typeface="pplxSerif"/>
              </a:rPr>
              <a:t> con las actividades correspondientes https://github.com/eddiCastS/PRUEBAS-EN-BRUNO.git</a:t>
            </a:r>
          </a:p>
          <a:p>
            <a:pPr algn="l"/>
            <a:endParaRPr lang="es-ES" sz="2800" b="0" i="0" dirty="0">
              <a:solidFill>
                <a:schemeClr val="bg1"/>
              </a:solidFill>
              <a:effectLst/>
              <a:latin typeface="pplxSerif"/>
            </a:endParaRPr>
          </a:p>
        </p:txBody>
      </p:sp>
      <p:sp>
        <p:nvSpPr>
          <p:cNvPr id="702311257" name="TextBox 13"/>
          <p:cNvSpPr txBox="1"/>
          <p:nvPr/>
        </p:nvSpPr>
        <p:spPr bwMode="auto">
          <a:xfrm>
            <a:off x="4185995" y="1759034"/>
            <a:ext cx="9916010" cy="1065079"/>
          </a:xfrm>
          <a:prstGeom prst="rect">
            <a:avLst/>
          </a:prstGeom>
        </p:spPr>
        <p:txBody>
          <a:bodyPr lIns="0" tIns="0" rIns="0" bIns="0" rtlCol="0" anchor="t">
            <a:spAutoFit/>
          </a:bodyPr>
          <a:lstStyle/>
          <a:p>
            <a:pPr marL="0" lvl="0" indent="0" algn="ctr">
              <a:lnSpc>
                <a:spcPts val="8758"/>
              </a:lnSpc>
              <a:spcBef>
                <a:spcPts val="0"/>
              </a:spcBef>
              <a:defRPr/>
            </a:pPr>
            <a:r>
              <a:rPr lang="en-US" sz="6250" u="none" strike="noStrike" spc="181" dirty="0">
                <a:solidFill>
                  <a:srgbClr val="FFFFFF"/>
                </a:solidFill>
                <a:latin typeface="Etna Sans Serif"/>
                <a:ea typeface="Etna Sans Serif"/>
                <a:cs typeface="Etna Sans Serif"/>
              </a:rPr>
              <a:t>Link de git hub</a:t>
            </a:r>
            <a:endParaRPr dirty="0"/>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pic>
        <p:nvPicPr>
          <p:cNvPr id="1086631050" name="object 2"/>
          <p:cNvPicPr/>
          <p:nvPr/>
        </p:nvPicPr>
        <p:blipFill rotWithShape="1">
          <a:blip r:embed="rId3"/>
          <a:stretch/>
        </p:blipFill>
        <p:spPr bwMode="auto">
          <a:xfrm>
            <a:off x="0" y="0"/>
            <a:ext cx="18288000" cy="10287000"/>
          </a:xfrm>
          <a:prstGeom prst="rect">
            <a:avLst/>
          </a:prstGeom>
        </p:spPr>
      </p:pic>
      <p:pic>
        <p:nvPicPr>
          <p:cNvPr id="1519869159" name="object 3"/>
          <p:cNvPicPr/>
          <p:nvPr/>
        </p:nvPicPr>
        <p:blipFill rotWithShape="1">
          <a:blip r:embed="rId4"/>
          <a:stretch/>
        </p:blipFill>
        <p:spPr bwMode="auto">
          <a:xfrm>
            <a:off x="421081" y="521971"/>
            <a:ext cx="5802922" cy="4114800"/>
          </a:xfrm>
          <a:prstGeom prst="rect">
            <a:avLst/>
          </a:prstGeom>
        </p:spPr>
      </p:pic>
      <p:pic>
        <p:nvPicPr>
          <p:cNvPr id="766756948" name="object 4"/>
          <p:cNvPicPr/>
          <p:nvPr/>
        </p:nvPicPr>
        <p:blipFill rotWithShape="1">
          <a:blip r:embed="rId5"/>
          <a:stretch/>
        </p:blipFill>
        <p:spPr bwMode="auto">
          <a:xfrm>
            <a:off x="12063945" y="5773356"/>
            <a:ext cx="5802922" cy="4114800"/>
          </a:xfrm>
          <a:prstGeom prst="rect">
            <a:avLst/>
          </a:prstGeom>
        </p:spPr>
      </p:pic>
      <p:grpSp>
        <p:nvGrpSpPr>
          <p:cNvPr id="195035859" name="object 5"/>
          <p:cNvGrpSpPr/>
          <p:nvPr/>
        </p:nvGrpSpPr>
        <p:grpSpPr bwMode="auto">
          <a:xfrm>
            <a:off x="6459493" y="531199"/>
            <a:ext cx="11011535" cy="153035"/>
            <a:chOff x="6459493" y="531199"/>
            <a:chExt cx="11011535" cy="153035"/>
          </a:xfrm>
        </p:grpSpPr>
        <p:sp>
          <p:nvSpPr>
            <p:cNvPr id="6" name="object 6"/>
            <p:cNvSpPr/>
            <p:nvPr/>
          </p:nvSpPr>
          <p:spPr bwMode="auto">
            <a:xfrm>
              <a:off x="6528549" y="607694"/>
              <a:ext cx="10942320" cy="0"/>
            </a:xfrm>
            <a:custGeom>
              <a:avLst/>
              <a:gdLst/>
              <a:ahLst/>
              <a:cxnLst/>
              <a:rect l="l" t="t" r="r" b="b"/>
              <a:pathLst>
                <a:path w="10942319" extrusionOk="0">
                  <a:moveTo>
                    <a:pt x="0" y="0"/>
                  </a:moveTo>
                  <a:lnTo>
                    <a:pt x="10942243" y="0"/>
                  </a:lnTo>
                </a:path>
              </a:pathLst>
            </a:custGeom>
            <a:grpFill/>
            <a:ln w="19049">
              <a:solidFill>
                <a:srgbClr val="FFFFFF"/>
              </a:solidFill>
            </a:ln>
          </p:spPr>
          <p:txBody>
            <a:bodyPr wrap="square" lIns="0" tIns="0" rIns="0" bIns="0" rtlCol="0"/>
            <a:lstStyle/>
            <a:p>
              <a:pPr>
                <a:defRPr/>
              </a:pPr>
              <a:endParaRPr/>
            </a:p>
          </p:txBody>
        </p:sp>
        <p:pic>
          <p:nvPicPr>
            <p:cNvPr id="7" name="object 7"/>
            <p:cNvPicPr/>
            <p:nvPr/>
          </p:nvPicPr>
          <p:blipFill rotWithShape="1">
            <a:blip r:embed="rId6"/>
            <a:stretch/>
          </p:blipFill>
          <p:spPr bwMode="auto">
            <a:xfrm>
              <a:off x="6459493" y="531199"/>
              <a:ext cx="138111" cy="152990"/>
            </a:xfrm>
            <a:prstGeom prst="rect">
              <a:avLst/>
            </a:prstGeom>
          </p:spPr>
        </p:pic>
      </p:grpSp>
      <p:grpSp>
        <p:nvGrpSpPr>
          <p:cNvPr id="560480666" name="object 8"/>
          <p:cNvGrpSpPr/>
          <p:nvPr/>
        </p:nvGrpSpPr>
        <p:grpSpPr bwMode="auto">
          <a:xfrm>
            <a:off x="752881" y="9668786"/>
            <a:ext cx="11011535" cy="153035"/>
            <a:chOff x="752881" y="9668786"/>
            <a:chExt cx="11011535" cy="153035"/>
          </a:xfrm>
        </p:grpSpPr>
        <p:sp>
          <p:nvSpPr>
            <p:cNvPr id="9" name="object 9"/>
            <p:cNvSpPr/>
            <p:nvPr/>
          </p:nvSpPr>
          <p:spPr bwMode="auto">
            <a:xfrm>
              <a:off x="752881" y="9745281"/>
              <a:ext cx="10942320" cy="0"/>
            </a:xfrm>
            <a:custGeom>
              <a:avLst/>
              <a:gdLst/>
              <a:ahLst/>
              <a:cxnLst/>
              <a:rect l="l" t="t" r="r" b="b"/>
              <a:pathLst>
                <a:path w="10942320" extrusionOk="0">
                  <a:moveTo>
                    <a:pt x="10942243" y="0"/>
                  </a:moveTo>
                  <a:lnTo>
                    <a:pt x="0" y="0"/>
                  </a:lnTo>
                </a:path>
              </a:pathLst>
            </a:custGeom>
            <a:grpFill/>
            <a:ln w="19049">
              <a:solidFill>
                <a:srgbClr val="FFFFFF"/>
              </a:solidFill>
            </a:ln>
          </p:spPr>
          <p:txBody>
            <a:bodyPr wrap="square" lIns="0" tIns="0" rIns="0" bIns="0" rtlCol="0"/>
            <a:lstStyle/>
            <a:p>
              <a:pPr>
                <a:defRPr/>
              </a:pPr>
              <a:endParaRPr/>
            </a:p>
          </p:txBody>
        </p:sp>
        <p:pic>
          <p:nvPicPr>
            <p:cNvPr id="10" name="object 10"/>
            <p:cNvPicPr/>
            <p:nvPr/>
          </p:nvPicPr>
          <p:blipFill rotWithShape="1">
            <a:blip r:embed="rId7"/>
            <a:stretch/>
          </p:blipFill>
          <p:spPr bwMode="auto">
            <a:xfrm>
              <a:off x="11626069" y="9668786"/>
              <a:ext cx="138111" cy="152990"/>
            </a:xfrm>
            <a:prstGeom prst="rect">
              <a:avLst/>
            </a:prstGeom>
          </p:spPr>
        </p:pic>
      </p:grpSp>
      <p:sp>
        <p:nvSpPr>
          <p:cNvPr id="1527036298" name="object 11"/>
          <p:cNvSpPr txBox="1"/>
          <p:nvPr/>
        </p:nvSpPr>
        <p:spPr bwMode="auto">
          <a:xfrm>
            <a:off x="4038600" y="3459682"/>
            <a:ext cx="9753600" cy="4814138"/>
          </a:xfrm>
          <a:prstGeom prst="rect">
            <a:avLst/>
          </a:prstGeom>
        </p:spPr>
        <p:txBody>
          <a:bodyPr vert="horz" wrap="square" lIns="0" tIns="12700" rIns="0" bIns="0" rtlCol="0">
            <a:spAutoFit/>
          </a:bodyPr>
          <a:lstStyle/>
          <a:p>
            <a:pPr algn="l"/>
            <a:r>
              <a:rPr lang="es-ES" sz="2400" b="0" i="0" dirty="0">
                <a:solidFill>
                  <a:schemeClr val="bg1"/>
                </a:solidFill>
                <a:effectLst/>
                <a:latin typeface="pplxSerif"/>
              </a:rPr>
              <a:t>Las pruebas realizadas demostraron que la API cumple con los comportamientos esperados en los escenarios probados: retorna la lista de estudiantes, permite el registro de nuevos alumnos devolviendo su ID generado, recupera registros específicos por ID y maneja adecuadamente peticiones a </a:t>
            </a:r>
            <a:r>
              <a:rPr lang="es-ES" sz="2400" b="0" i="0" dirty="0" err="1">
                <a:solidFill>
                  <a:schemeClr val="bg1"/>
                </a:solidFill>
                <a:effectLst/>
                <a:latin typeface="pplxSerif"/>
              </a:rPr>
              <a:t>IDs</a:t>
            </a:r>
            <a:r>
              <a:rPr lang="es-ES" sz="2400" b="0" i="0" dirty="0">
                <a:solidFill>
                  <a:schemeClr val="bg1"/>
                </a:solidFill>
                <a:effectLst/>
                <a:latin typeface="pplxSerif"/>
              </a:rPr>
              <a:t> inexistentes mostrando mensajes de error útiles. Los logs generados en IntelliJ proporcionaron confirmación adicional de cada operación (consultas, intentos de registro y advertencias), lo cual valida la trazabilidad del sistema. En conjunto, estos ejercicios confirman que tanto las rutas como la capa de registro de eventos están funcionando correctamente y aportan una base sólida para continuar con pruebas más avanzadas o integraciones posteriores.</a:t>
            </a:r>
          </a:p>
          <a:p>
            <a:br>
              <a:rPr lang="es-ES" sz="2400" dirty="0"/>
            </a:br>
            <a:endParaRPr lang="es-ES" sz="2400" dirty="0">
              <a:solidFill>
                <a:schemeClr val="bg1"/>
              </a:solidFill>
            </a:endParaRPr>
          </a:p>
        </p:txBody>
      </p:sp>
      <p:sp>
        <p:nvSpPr>
          <p:cNvPr id="1321808712" name="object 12"/>
          <p:cNvSpPr txBox="1">
            <a:spLocks noGrp="1"/>
          </p:cNvSpPr>
          <p:nvPr>
            <p:ph type="title"/>
          </p:nvPr>
        </p:nvSpPr>
        <p:spPr bwMode="auto">
          <a:xfrm>
            <a:off x="7053109" y="1889315"/>
            <a:ext cx="4159250" cy="977900"/>
          </a:xfrm>
          <a:prstGeom prst="rect">
            <a:avLst/>
          </a:prstGeom>
        </p:spPr>
        <p:txBody>
          <a:bodyPr vert="horz" wrap="square" lIns="0" tIns="12700" rIns="0" bIns="0" rtlCol="0">
            <a:spAutoFit/>
          </a:bodyPr>
          <a:lstStyle/>
          <a:p>
            <a:pPr marL="12700">
              <a:lnSpc>
                <a:spcPct val="100000"/>
              </a:lnSpc>
              <a:spcBef>
                <a:spcPts val="100"/>
              </a:spcBef>
              <a:defRPr/>
            </a:pPr>
            <a:r>
              <a:rPr sz="6250" spc="150"/>
              <a:t>Conclusion</a:t>
            </a:r>
            <a:endParaRPr sz="6250"/>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TotalTime>
  <Words>897</Words>
  <Application>Microsoft Office PowerPoint</Application>
  <PresentationFormat>Personalizado</PresentationFormat>
  <Paragraphs>71</Paragraphs>
  <Slides>9</Slides>
  <Notes>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vt:i4>
      </vt:variant>
    </vt:vector>
  </HeadingPairs>
  <TitlesOfParts>
    <vt:vector size="14" baseType="lpstr">
      <vt:lpstr>Arial</vt:lpstr>
      <vt:lpstr>Calibri</vt:lpstr>
      <vt:lpstr>Etna Sans Serif</vt:lpstr>
      <vt:lpstr>pplxSerif</vt:lpstr>
      <vt:lpstr>Office Theme</vt:lpstr>
      <vt:lpstr>Presentación de PowerPoint</vt:lpstr>
      <vt:lpstr>INTRODUCCION</vt:lpstr>
      <vt:lpstr>JUSTIFICACION</vt:lpstr>
      <vt:lpstr>  </vt:lpstr>
      <vt:lpstr>  </vt:lpstr>
      <vt:lpstr>  </vt:lpstr>
      <vt:lpstr>  </vt:lpstr>
      <vt:lpstr>Presentación de PowerPoint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Eddi Castillo</dc:creator>
  <cp:lastModifiedBy>eddi castillo</cp:lastModifiedBy>
  <cp:revision>6</cp:revision>
  <dcterms:created xsi:type="dcterms:W3CDTF">2026-05-06T04:52:09Z</dcterms:created>
  <dcterms:modified xsi:type="dcterms:W3CDTF">2026-06-07T00:17:09Z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2026-05-06T00:00:00Z</vt:filetime>
  </property>
  <property fmtid="{D5CDD505-2E9C-101B-9397-08002B2CF9AE}" pid="3" name="LastSaved">
    <vt:filetime>2026-05-06T00:00:00Z</vt:filetime>
  </property>
  <property fmtid="{D5CDD505-2E9C-101B-9397-08002B2CF9AE}" pid="4" name="Producer">
    <vt:lpwstr>3-Heights(TM) PDF Security Shell 4.8.25.2 (http://www.pdf-tools.com)</vt:lpwstr>
  </property>
</Properties>
</file>