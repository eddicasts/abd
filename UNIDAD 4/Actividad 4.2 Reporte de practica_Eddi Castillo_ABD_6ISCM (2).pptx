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70" r:id="rId16"/>
    <p:sldId id="263" r:id="rId17"/>
  </p:sldIdLst>
  <p:sldSz cx="18288000" cy="10287000"/>
  <p:notesSz cx="18288000" cy="10287000"/>
  <p:defaultTextStyle>
    <a:defPPr>
      <a:defRPr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660"/>
  </p:normalViewPr>
  <p:slideViewPr>
    <p:cSldViewPr>
      <p:cViewPr varScale="1">
        <p:scale>
          <a:sx n="52" d="100"/>
          <a:sy n="52" d="100"/>
        </p:scale>
        <p:origin x="965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F18944-D6FA-56D4-FD40-79D83DBD4AA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1C3244-B1D7-8B3E-B480-BDDD44BB755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AAC240-CDCB-4B3E-A3FD-AAFE001FB73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702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83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0826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067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0279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1137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2354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29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5895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98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9EC8BC-B3D1-A74E-C214-6A6C616F21EC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CC06C-4856-61F3-0BF2-E27DEFF228F3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49164" name="Holder 2"/>
          <p:cNvSpPr>
            <a:spLocks noGrp="1"/>
          </p:cNvSpPr>
          <p:nvPr>
            <p:ph type="ctrTitle"/>
          </p:nvPr>
        </p:nvSpPr>
        <p:spPr bwMode="auto"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9003789" name="Holder 3"/>
          <p:cNvSpPr>
            <a:spLocks noGrp="1"/>
          </p:cNvSpPr>
          <p:nvPr>
            <p:ph type="subTitle" idx="4"/>
          </p:nvPr>
        </p:nvSpPr>
        <p:spPr bwMode="auto"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7542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7051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6/6/2026</a:t>
            </a:fld>
            <a:endParaRPr/>
          </a:p>
        </p:txBody>
      </p:sp>
      <p:sp>
        <p:nvSpPr>
          <p:cNvPr id="7851240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2449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5639691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94577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37703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6/6/2026</a:t>
            </a:fld>
            <a:endParaRPr/>
          </a:p>
        </p:txBody>
      </p:sp>
      <p:sp>
        <p:nvSpPr>
          <p:cNvPr id="129191383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66268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550572" name="Holder 3"/>
          <p:cNvSpPr>
            <a:spLocks noGrp="1"/>
          </p:cNvSpPr>
          <p:nvPr>
            <p:ph sz="half" idx="2"/>
          </p:nvPr>
        </p:nvSpPr>
        <p:spPr bwMode="auto"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3120115" name="Holder 4"/>
          <p:cNvSpPr>
            <a:spLocks noGrp="1"/>
          </p:cNvSpPr>
          <p:nvPr>
            <p:ph sz="half" idx="3"/>
          </p:nvPr>
        </p:nvSpPr>
        <p:spPr bwMode="auto"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433102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59520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6/6/2026</a:t>
            </a:fld>
            <a:endParaRPr/>
          </a:p>
        </p:txBody>
      </p:sp>
      <p:sp>
        <p:nvSpPr>
          <p:cNvPr id="5775496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4734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85353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148358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6/6/2026</a:t>
            </a:fld>
            <a:endParaRPr/>
          </a:p>
        </p:txBody>
      </p:sp>
      <p:sp>
        <p:nvSpPr>
          <p:cNvPr id="4332389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9828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2754612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016742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6/6/2026</a:t>
            </a:fld>
            <a:endParaRPr/>
          </a:p>
        </p:txBody>
      </p:sp>
      <p:sp>
        <p:nvSpPr>
          <p:cNvPr id="50967655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3465348" name="bg object 16"/>
          <p:cNvPicPr/>
          <p:nvPr/>
        </p:nvPicPr>
        <p:blipFill rotWithShape="1">
          <a:blip r:embed="rId7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129486492" name="Holder 2"/>
          <p:cNvSpPr>
            <a:spLocks noGrp="1"/>
          </p:cNvSpPr>
          <p:nvPr>
            <p:ph type="title"/>
          </p:nvPr>
        </p:nvSpPr>
        <p:spPr bwMode="auto">
          <a:xfrm>
            <a:off x="1212644" y="475122"/>
            <a:ext cx="1099375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6246971" name="Holder 3"/>
          <p:cNvSpPr>
            <a:spLocks noGrp="1"/>
          </p:cNvSpPr>
          <p:nvPr>
            <p:ph type="body" idx="1"/>
          </p:nvPr>
        </p:nvSpPr>
        <p:spPr bwMode="auto">
          <a:xfrm>
            <a:off x="8231123" y="1590154"/>
            <a:ext cx="9259568" cy="4782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49952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9062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6/6/2026</a:t>
            </a:fld>
            <a:endParaRPr/>
          </a:p>
        </p:txBody>
      </p:sp>
      <p:sp>
        <p:nvSpPr>
          <p:cNvPr id="61925490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435529" name="object 2"/>
          <p:cNvSpPr txBox="1"/>
          <p:nvPr/>
        </p:nvSpPr>
        <p:spPr bwMode="auto">
          <a:xfrm>
            <a:off x="4025952" y="1870683"/>
            <a:ext cx="8243874" cy="7525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2420" marR="25336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  <a:cs typeface="Arial"/>
              </a:rPr>
              <a:t>Tecnológico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 err="1">
                <a:solidFill>
                  <a:srgbClr val="FFFFFF"/>
                </a:solidFill>
                <a:latin typeface="Arial"/>
                <a:cs typeface="Arial"/>
              </a:rPr>
              <a:t>Comalapa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  <a:cs typeface="Arial"/>
              </a:rPr>
              <a:t>Modalidad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Mixta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defRPr/>
            </a:pPr>
            <a:endParaRPr sz="24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Materia:</a:t>
            </a:r>
            <a:endParaRPr sz="2600" dirty="0">
              <a:latin typeface="Arial"/>
              <a:cs typeface="Arial"/>
            </a:endParaRPr>
          </a:p>
          <a:p>
            <a:pPr marL="1322070" algn="ctr">
              <a:lnSpc>
                <a:spcPct val="100000"/>
              </a:lnSpc>
              <a:defRPr/>
            </a:pP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Administración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2600" dirty="0">
              <a:latin typeface="Arial"/>
              <a:cs typeface="Arial"/>
            </a:endParaRPr>
          </a:p>
          <a:p>
            <a:pPr marL="3627754" marR="2297430" indent="1905" algn="ctr">
              <a:lnSpc>
                <a:spcPct val="100000"/>
              </a:lnSpc>
              <a:defRPr/>
            </a:pP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Semestre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Sexto</a:t>
            </a:r>
            <a:r>
              <a:rPr sz="26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semestre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Especialidad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17625" algn="ctr">
              <a:lnSpc>
                <a:spcPct val="100000"/>
              </a:lnSpc>
              <a:defRPr/>
            </a:pP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Computacionales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600" dirty="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Numero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control:</a:t>
            </a:r>
            <a:endParaRPr sz="2600" dirty="0">
              <a:latin typeface="Arial"/>
              <a:cs typeface="Arial"/>
            </a:endParaRPr>
          </a:p>
          <a:p>
            <a:pPr marL="1323974" algn="ctr">
              <a:lnSpc>
                <a:spcPct val="100000"/>
              </a:lnSpc>
              <a:defRPr/>
            </a:pP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231260005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alumno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Eddi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Uriel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Castillo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Sánchez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docente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3974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Francisco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Javier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Mingo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Velazquez</a:t>
            </a:r>
            <a:endParaRPr sz="2600" dirty="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trabajo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1435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600" spc="-10" dirty="0">
                <a:solidFill>
                  <a:srgbClr val="FFFFFF"/>
                </a:solidFill>
                <a:latin typeface="Arial"/>
                <a:cs typeface="Arial"/>
              </a:rPr>
              <a:t>4.2 Reporte de practica</a:t>
            </a:r>
            <a:endParaRPr sz="2600" dirty="0">
              <a:latin typeface="Arial"/>
              <a:cs typeface="Arial"/>
            </a:endParaRPr>
          </a:p>
          <a:p>
            <a:pPr marL="1324610" algn="ctr">
              <a:lnSpc>
                <a:spcPts val="312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Fecha</a:t>
            </a:r>
            <a:r>
              <a:rPr sz="2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entrega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algn="ctr">
              <a:lnSpc>
                <a:spcPts val="3360"/>
              </a:lnSpc>
              <a:defRPr/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Arial"/>
                <a:cs typeface="Arial"/>
              </a:rPr>
              <a:t>comalapa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Chiapas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800" spc="-74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800" spc="-8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1917351689" name="object 3"/>
          <p:cNvPicPr/>
          <p:nvPr/>
        </p:nvPicPr>
        <p:blipFill rotWithShape="1">
          <a:blip r:embed="rId3"/>
          <a:stretch/>
        </p:blipFill>
        <p:spPr bwMode="auto">
          <a:xfrm>
            <a:off x="5830455" y="461817"/>
            <a:ext cx="5561326" cy="6330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837920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76184189" name="object 3"/>
          <p:cNvPicPr/>
          <p:nvPr/>
        </p:nvPicPr>
        <p:blipFill rotWithShape="1">
          <a:blip r:embed="rId4"/>
          <a:stretch/>
        </p:blipFill>
        <p:spPr bwMode="auto">
          <a:xfrm>
            <a:off x="10217454" y="2075217"/>
            <a:ext cx="6579146" cy="6579146"/>
          </a:xfrm>
          <a:prstGeom prst="rect">
            <a:avLst/>
          </a:prstGeom>
        </p:spPr>
      </p:pic>
      <p:pic>
        <p:nvPicPr>
          <p:cNvPr id="135897183" name="object 4"/>
          <p:cNvPicPr/>
          <p:nvPr/>
        </p:nvPicPr>
        <p:blipFill rotWithShape="1">
          <a:blip r:embed="rId5"/>
          <a:stretch/>
        </p:blipFill>
        <p:spPr bwMode="auto"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1329934680" name="object 5"/>
          <p:cNvPicPr/>
          <p:nvPr/>
        </p:nvPicPr>
        <p:blipFill rotWithShape="1">
          <a:blip r:embed="rId6"/>
          <a:stretch/>
        </p:blipFill>
        <p:spPr bwMode="auto"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800057142" name="object 6"/>
          <p:cNvSpPr txBox="1">
            <a:spLocks noGrp="1"/>
          </p:cNvSpPr>
          <p:nvPr>
            <p:ph type="title"/>
          </p:nvPr>
        </p:nvSpPr>
        <p:spPr bwMode="auto">
          <a:xfrm>
            <a:off x="1981200" y="963800"/>
            <a:ext cx="8663474" cy="1293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400" spc="195" dirty="0"/>
              <a:t>INTRODUCCI</a:t>
            </a:r>
            <a:r>
              <a:rPr lang="es-ES" sz="8400" spc="194" dirty="0"/>
              <a:t>O</a:t>
            </a:r>
            <a:r>
              <a:rPr sz="8400" spc="194" dirty="0"/>
              <a:t>N</a:t>
            </a:r>
            <a:endParaRPr sz="8400" dirty="0"/>
          </a:p>
        </p:txBody>
      </p:sp>
      <p:sp>
        <p:nvSpPr>
          <p:cNvPr id="1143880378" name="object 7"/>
          <p:cNvSpPr txBox="1"/>
          <p:nvPr/>
        </p:nvSpPr>
        <p:spPr bwMode="auto">
          <a:xfrm>
            <a:off x="1666607" y="4926849"/>
            <a:ext cx="6841069" cy="1648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/>
            </a:pPr>
            <a:r>
              <a:rPr lang="es-ES"/>
              <a:t>kbihbih</a:t>
            </a:r>
            <a:endParaRPr/>
          </a:p>
        </p:txBody>
      </p:sp>
      <p:sp>
        <p:nvSpPr>
          <p:cNvPr id="1859957140" name="CuadroTexto 1859957139"/>
          <p:cNvSpPr txBox="1"/>
          <p:nvPr/>
        </p:nvSpPr>
        <p:spPr bwMode="auto">
          <a:xfrm>
            <a:off x="7146542" y="5021579"/>
            <a:ext cx="3994913" cy="243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t>Actividad 2.3 Banco de ejercicios__EddiCastillo_6ISCM-comprimido (1) (1)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EF3DEF-2600-914F-DF8F-BC3EDD0C12A2}"/>
              </a:ext>
            </a:extLst>
          </p:cNvPr>
          <p:cNvSpPr txBox="1"/>
          <p:nvPr/>
        </p:nvSpPr>
        <p:spPr>
          <a:xfrm>
            <a:off x="1024149" y="3160082"/>
            <a:ext cx="92619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Los logs son registros que permiten observar lo que sucede dentro de una aplicación mientras se está ejecutando. En un proyecto desarrollado con Java y Spring </a:t>
            </a:r>
            <a:r>
              <a:rPr lang="es-ES" sz="2400" dirty="0" err="1">
                <a:solidFill>
                  <a:schemeClr val="bg1"/>
                </a:solidFill>
              </a:rPr>
              <a:t>Boot</a:t>
            </a:r>
            <a:r>
              <a:rPr lang="es-ES" sz="2400" dirty="0">
                <a:solidFill>
                  <a:schemeClr val="bg1"/>
                </a:solidFill>
              </a:rPr>
              <a:t>, los logs ayudan a identificar si una operación se realizó correctamente, si ocurrió un error o si se está consultando información desde la base de datos. En esta práctica se trabajó con un servicio de estudiantes conectado a una base de datos MySQL, donde se agregaron mensajes de logs en las operaciones principales del sistema. Estos registros permiten saber cuándo se listan, buscan, registran, actualizan o eliminan estudiantes.</a:t>
            </a:r>
            <a:endParaRPr lang="es-MX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8637018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43289801" name="object 3"/>
          <p:cNvPicPr/>
          <p:nvPr/>
        </p:nvPicPr>
        <p:blipFill rotWithShape="1">
          <a:blip r:embed="rId4"/>
          <a:stretch/>
        </p:blipFill>
        <p:spPr bwMode="auto">
          <a:xfrm>
            <a:off x="10217454" y="2075217"/>
            <a:ext cx="6579146" cy="6579146"/>
          </a:xfrm>
          <a:prstGeom prst="rect">
            <a:avLst/>
          </a:prstGeom>
        </p:spPr>
      </p:pic>
      <p:pic>
        <p:nvPicPr>
          <p:cNvPr id="820845946" name="object 4"/>
          <p:cNvPicPr/>
          <p:nvPr/>
        </p:nvPicPr>
        <p:blipFill rotWithShape="1">
          <a:blip r:embed="rId5"/>
          <a:stretch/>
        </p:blipFill>
        <p:spPr bwMode="auto"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101900535" name="object 5"/>
          <p:cNvPicPr/>
          <p:nvPr/>
        </p:nvPicPr>
        <p:blipFill rotWithShape="1">
          <a:blip r:embed="rId6"/>
          <a:stretch/>
        </p:blipFill>
        <p:spPr bwMode="auto"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613112491" name="object 6"/>
          <p:cNvSpPr txBox="1">
            <a:spLocks noGrp="1"/>
          </p:cNvSpPr>
          <p:nvPr>
            <p:ph type="title"/>
          </p:nvPr>
        </p:nvSpPr>
        <p:spPr bwMode="auto">
          <a:xfrm>
            <a:off x="1066800" y="804127"/>
            <a:ext cx="84562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400" spc="200" dirty="0"/>
              <a:t>JUSTIFICACION</a:t>
            </a:r>
            <a:endParaRPr sz="8400" dirty="0"/>
          </a:p>
        </p:txBody>
      </p:sp>
      <p:sp>
        <p:nvSpPr>
          <p:cNvPr id="1661579641" name="object 7"/>
          <p:cNvSpPr txBox="1"/>
          <p:nvPr/>
        </p:nvSpPr>
        <p:spPr bwMode="auto">
          <a:xfrm>
            <a:off x="1666607" y="4939905"/>
            <a:ext cx="6689304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1800"/>
              <a:t>khvgv</a:t>
            </a:r>
            <a:endParaRPr sz="18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FF785A-B319-4399-9602-B368BCAEB6D8}"/>
              </a:ext>
            </a:extLst>
          </p:cNvPr>
          <p:cNvSpPr txBox="1"/>
          <p:nvPr/>
        </p:nvSpPr>
        <p:spPr>
          <a:xfrm>
            <a:off x="1219200" y="2585528"/>
            <a:ext cx="926198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</a:rPr>
              <a:t>La implementación de logs es importante porque permite tener un mejor control sobre lo que sucede dentro del sistema. En una aplicación conectada a una base de datos MySQL, pueden ocurrir errores al guardar datos, buscar registros, actualizar información o eliminar estudiantes. Sin logs, sería más difícil saber en qué parte ocurrió el problema. Por eso, agregar registros en el servicio ayuda a identificar las acciones realizadas y los posibles errores que aparecen durante la ejecución. También permite comprobar que los </a:t>
            </a:r>
            <a:r>
              <a:rPr lang="es-ES" sz="2800" dirty="0" err="1">
                <a:solidFill>
                  <a:schemeClr val="bg1"/>
                </a:solidFill>
              </a:rPr>
              <a:t>endpoints</a:t>
            </a:r>
            <a:r>
              <a:rPr lang="es-ES" sz="2800" dirty="0">
                <a:solidFill>
                  <a:schemeClr val="bg1"/>
                </a:solidFill>
              </a:rPr>
              <a:t> funcionan correctamente y que la conexión con la base de datos se está utilizando de forma adecuada. Esta práctica ayuda a mejorar el mantenimiento del proyecto,</a:t>
            </a:r>
            <a:endParaRPr lang="es-MX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2136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1: Abrir el proyecto en IntelliJ IDEA</a:t>
            </a:r>
          </a:p>
          <a:p>
            <a:r>
              <a:rPr lang="es-ES" sz="2400" dirty="0">
                <a:solidFill>
                  <a:schemeClr val="bg1"/>
                </a:solidFill>
              </a:rPr>
              <a:t>Primero se abrió el proyecto en IntelliJ IDEA.</a:t>
            </a:r>
          </a:p>
          <a:p>
            <a:r>
              <a:rPr lang="es-ES" sz="2400" dirty="0">
                <a:solidFill>
                  <a:schemeClr val="bg1"/>
                </a:solidFill>
              </a:rPr>
              <a:t>El proyecto corresponde a un servicio llamado estudiantes-</a:t>
            </a:r>
            <a:r>
              <a:rPr lang="es-ES" sz="2400" dirty="0" err="1">
                <a:solidFill>
                  <a:schemeClr val="bg1"/>
                </a:solidFill>
              </a:rPr>
              <a:t>service</a:t>
            </a:r>
            <a:r>
              <a:rPr lang="es-ES" sz="2400" dirty="0">
                <a:solidFill>
                  <a:schemeClr val="bg1"/>
                </a:solidFill>
              </a:rPr>
              <a:t>, el cual contiene las carpetas principales de Spring </a:t>
            </a:r>
            <a:r>
              <a:rPr lang="es-ES" sz="2400" dirty="0" err="1">
                <a:solidFill>
                  <a:schemeClr val="bg1"/>
                </a:solidFill>
              </a:rPr>
              <a:t>Boot</a:t>
            </a:r>
            <a:r>
              <a:rPr lang="es-ES" sz="2400" dirty="0">
                <a:solidFill>
                  <a:schemeClr val="bg1"/>
                </a:solidFill>
              </a:rPr>
              <a:t>: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3D20A0-B128-3A45-57CF-578D7E469E5B}"/>
              </a:ext>
            </a:extLst>
          </p:cNvPr>
          <p:cNvSpPr txBox="1"/>
          <p:nvPr/>
        </p:nvSpPr>
        <p:spPr>
          <a:xfrm>
            <a:off x="9677400" y="1336328"/>
            <a:ext cx="72382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s-ES" sz="2000" dirty="0">
                <a:solidFill>
                  <a:schemeClr val="bg1"/>
                </a:solidFill>
              </a:rPr>
              <a:t>Cada carpeta tiene una función. El controlador recibe las peticiones HTTP, el servicio contiene la lógica del sistema, el repositorio se comunica con la base de datos y la entidad representa la tabla de estudiantes.</a:t>
            </a: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33D75E2-ED35-BB8A-9FBE-32ABA74E3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04" y="3022215"/>
            <a:ext cx="11887200" cy="6047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2136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Paso 2: Identificar las clases donde se agregarán los logs</a:t>
            </a:r>
          </a:p>
          <a:p>
            <a:r>
              <a:rPr lang="es-ES" sz="2400" dirty="0">
                <a:solidFill>
                  <a:schemeClr val="bg1"/>
                </a:solidFill>
              </a:rPr>
              <a:t>Después se revisaron las clases principales donde se deben agregar los logs.</a:t>
            </a:r>
            <a:br>
              <a:rPr lang="es-ES" sz="2400" dirty="0">
                <a:solidFill>
                  <a:schemeClr val="bg1"/>
                </a:solidFill>
              </a:rPr>
            </a:br>
            <a:r>
              <a:rPr lang="es-ES" sz="2400" dirty="0">
                <a:solidFill>
                  <a:schemeClr val="bg1"/>
                </a:solidFill>
              </a:rPr>
              <a:t>En este caso, las más importantes son: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3D20A0-B128-3A45-57CF-578D7E469E5B}"/>
              </a:ext>
            </a:extLst>
          </p:cNvPr>
          <p:cNvSpPr txBox="1"/>
          <p:nvPr/>
        </p:nvSpPr>
        <p:spPr>
          <a:xfrm>
            <a:off x="9796121" y="737968"/>
            <a:ext cx="72382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La clase </a:t>
            </a:r>
            <a:r>
              <a:rPr lang="es-ES" sz="2000" dirty="0" err="1">
                <a:solidFill>
                  <a:schemeClr val="bg1"/>
                </a:solidFill>
              </a:rPr>
              <a:t>EstudianteController</a:t>
            </a:r>
            <a:r>
              <a:rPr lang="es-ES" sz="2000" dirty="0">
                <a:solidFill>
                  <a:schemeClr val="bg1"/>
                </a:solidFill>
              </a:rPr>
              <a:t> sirve para registrar logs cuando llega una petición al sistema.</a:t>
            </a:r>
          </a:p>
          <a:p>
            <a:r>
              <a:rPr lang="es-ES" sz="2000" dirty="0">
                <a:solidFill>
                  <a:schemeClr val="bg1"/>
                </a:solidFill>
              </a:rPr>
              <a:t>La clase </a:t>
            </a:r>
            <a:r>
              <a:rPr lang="es-ES" sz="2000" dirty="0" err="1">
                <a:solidFill>
                  <a:schemeClr val="bg1"/>
                </a:solidFill>
              </a:rPr>
              <a:t>EstudianteService</a:t>
            </a:r>
            <a:r>
              <a:rPr lang="es-ES" sz="2000" dirty="0">
                <a:solidFill>
                  <a:schemeClr val="bg1"/>
                </a:solidFill>
              </a:rPr>
              <a:t> sirve para registrar logs cuando se ejecuta una operación como guardar, buscar, actualizar o eliminar.</a:t>
            </a:r>
          </a:p>
          <a:p>
            <a:r>
              <a:rPr lang="es-ES" sz="2000" dirty="0">
                <a:solidFill>
                  <a:schemeClr val="bg1"/>
                </a:solidFill>
              </a:rPr>
              <a:t>La clase </a:t>
            </a:r>
            <a:r>
              <a:rPr lang="es-ES" sz="2000" dirty="0" err="1">
                <a:solidFill>
                  <a:schemeClr val="bg1"/>
                </a:solidFill>
              </a:rPr>
              <a:t>GlobalExceptionHandler</a:t>
            </a:r>
            <a:r>
              <a:rPr lang="es-ES" sz="2000" dirty="0">
                <a:solidFill>
                  <a:schemeClr val="bg1"/>
                </a:solidFill>
              </a:rPr>
              <a:t> sirve para registrar errores o validaciones incorrectas.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9DB33E-5A95-E4F6-5532-6386CA5DE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380387"/>
            <a:ext cx="11811000" cy="600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91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3: Importar </a:t>
            </a:r>
            <a:r>
              <a:rPr lang="es-ES" sz="2400" dirty="0" err="1">
                <a:solidFill>
                  <a:schemeClr val="bg1"/>
                </a:solidFill>
              </a:rPr>
              <a:t>Logger</a:t>
            </a:r>
            <a:r>
              <a:rPr lang="es-ES" sz="2400" dirty="0">
                <a:solidFill>
                  <a:schemeClr val="bg1"/>
                </a:solidFill>
              </a:rPr>
              <a:t> y </a:t>
            </a:r>
            <a:r>
              <a:rPr lang="es-ES" sz="2400" dirty="0" err="1">
                <a:solidFill>
                  <a:schemeClr val="bg1"/>
                </a:solidFill>
              </a:rPr>
              <a:t>LoggerFactory</a:t>
            </a:r>
            <a:r>
              <a:rPr lang="es-ES" sz="2400" dirty="0">
                <a:solidFill>
                  <a:schemeClr val="bg1"/>
                </a:solidFill>
              </a:rPr>
              <a:t>: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3D20A0-B128-3A45-57CF-578D7E469E5B}"/>
              </a:ext>
            </a:extLst>
          </p:cNvPr>
          <p:cNvSpPr txBox="1"/>
          <p:nvPr/>
        </p:nvSpPr>
        <p:spPr>
          <a:xfrm>
            <a:off x="3097977" y="1935518"/>
            <a:ext cx="7238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 err="1">
                <a:solidFill>
                  <a:schemeClr val="bg1"/>
                </a:solidFill>
              </a:rPr>
              <a:t>import</a:t>
            </a:r>
            <a:r>
              <a:rPr lang="es-MX" sz="2000" dirty="0">
                <a:solidFill>
                  <a:schemeClr val="bg1"/>
                </a:solidFill>
              </a:rPr>
              <a:t> org.slf4j.Logger;</a:t>
            </a:r>
            <a:br>
              <a:rPr lang="es-MX" sz="2000" dirty="0">
                <a:solidFill>
                  <a:schemeClr val="bg1"/>
                </a:solidFill>
              </a:rPr>
            </a:br>
            <a:r>
              <a:rPr lang="es-MX" sz="2000" dirty="0" err="1">
                <a:solidFill>
                  <a:schemeClr val="bg1"/>
                </a:solidFill>
              </a:rPr>
              <a:t>import</a:t>
            </a:r>
            <a:r>
              <a:rPr lang="es-MX" sz="2000" dirty="0">
                <a:solidFill>
                  <a:schemeClr val="bg1"/>
                </a:solidFill>
              </a:rPr>
              <a:t> org.slf4j.LoggerFactory;</a:t>
            </a:r>
            <a:endParaRPr lang="es-ES" sz="2000" dirty="0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9DB33E-5A95-E4F6-5532-6386CA5DE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380387"/>
            <a:ext cx="11811000" cy="600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493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4: Crear el </a:t>
            </a:r>
            <a:r>
              <a:rPr lang="es-ES" sz="2400" dirty="0" err="1">
                <a:solidFill>
                  <a:schemeClr val="bg1"/>
                </a:solidFill>
              </a:rPr>
              <a:t>logger</a:t>
            </a:r>
            <a:r>
              <a:rPr lang="es-ES" sz="2400" dirty="0">
                <a:solidFill>
                  <a:schemeClr val="bg1"/>
                </a:solidFill>
              </a:rPr>
              <a:t> dentro de la clase</a:t>
            </a:r>
          </a:p>
          <a:p>
            <a:r>
              <a:rPr lang="es-ES" sz="2400" dirty="0">
                <a:solidFill>
                  <a:schemeClr val="bg1"/>
                </a:solidFill>
              </a:rPr>
              <a:t>Dentro de la clase </a:t>
            </a:r>
            <a:r>
              <a:rPr lang="es-ES" sz="2400" dirty="0" err="1">
                <a:solidFill>
                  <a:schemeClr val="bg1"/>
                </a:solidFill>
              </a:rPr>
              <a:t>EstudianteService</a:t>
            </a:r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AA88785-5D66-FDFC-5E76-1C825D64D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923874"/>
            <a:ext cx="12562703" cy="63912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A6950F1-2F8F-0E4C-5581-A37E836F31A0}"/>
              </a:ext>
            </a:extLst>
          </p:cNvPr>
          <p:cNvSpPr txBox="1"/>
          <p:nvPr/>
        </p:nvSpPr>
        <p:spPr>
          <a:xfrm>
            <a:off x="2362200" y="2049534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Esto permite que la clase pueda generar mensajes de log cuando se ejecuten sus métodos.</a:t>
            </a:r>
          </a:p>
        </p:txBody>
      </p:sp>
    </p:spTree>
    <p:extLst>
      <p:ext uri="{BB962C8B-B14F-4D97-AF65-F5344CB8AC3E}">
        <p14:creationId xmlns:p14="http://schemas.microsoft.com/office/powerpoint/2010/main" val="23024102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111252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Paso 5: Agregar logs en el método </a:t>
            </a:r>
            <a:r>
              <a:rPr lang="es-ES" sz="2400" b="1" dirty="0" err="1">
                <a:solidFill>
                  <a:schemeClr val="bg1"/>
                </a:solidFill>
              </a:rPr>
              <a:t>listarTodos</a:t>
            </a:r>
            <a:endParaRPr lang="es-ES" sz="2400" b="1" dirty="0">
              <a:solidFill>
                <a:schemeClr val="bg1"/>
              </a:solidFill>
            </a:endParaRPr>
          </a:p>
          <a:p>
            <a:r>
              <a:rPr lang="es-ES" sz="2400" dirty="0">
                <a:solidFill>
                  <a:schemeClr val="bg1"/>
                </a:solidFill>
              </a:rPr>
              <a:t>En el método que lista todos los estudiantes, se agrega un log para saber cuándo se realiza la consulta.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913FB9-E9F9-BF02-F72A-ADF3983F6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23" y="2021213"/>
            <a:ext cx="15240000" cy="77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910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111252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6: Agregar logs en la búsqueda por ID</a:t>
            </a:r>
          </a:p>
          <a:p>
            <a:r>
              <a:rPr lang="es-ES" sz="2400" dirty="0">
                <a:solidFill>
                  <a:schemeClr val="bg1"/>
                </a:solidFill>
              </a:rPr>
              <a:t>En el método </a:t>
            </a:r>
            <a:r>
              <a:rPr lang="es-ES" sz="2400" dirty="0" err="1">
                <a:solidFill>
                  <a:schemeClr val="bg1"/>
                </a:solidFill>
              </a:rPr>
              <a:t>buscarPorId</a:t>
            </a:r>
            <a:r>
              <a:rPr lang="es-ES" sz="2400" dirty="0">
                <a:solidFill>
                  <a:schemeClr val="bg1"/>
                </a:solidFill>
              </a:rPr>
              <a:t>, se puede registrar el ID que se está buscando.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51CAE6-4CF0-6FC1-554F-B0598BED4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23" y="1837548"/>
            <a:ext cx="15240000" cy="77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968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7: Agregar logs al registrar un estudiante</a:t>
            </a:r>
          </a:p>
          <a:p>
            <a:r>
              <a:rPr lang="es-ES" sz="2400" dirty="0">
                <a:solidFill>
                  <a:schemeClr val="bg1"/>
                </a:solidFill>
              </a:rPr>
              <a:t>En el método registrar, se agregan logs para saber cuándo se intenta guardar un estudiante y si existe algún problema con el correo o la matrícula.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59A9332-2DDD-8D6A-D977-BE10A02AE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340388"/>
            <a:ext cx="15240000" cy="77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0041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8: Agregar logs al actualizar un estudiante</a:t>
            </a:r>
          </a:p>
          <a:p>
            <a:r>
              <a:rPr lang="es-ES" sz="2400" dirty="0">
                <a:solidFill>
                  <a:schemeClr val="bg1"/>
                </a:solidFill>
              </a:rPr>
              <a:t>En el método actualizar, se registra el ID del estudiante que se desea modificar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D1E42A-E488-F950-BE10-FAB1A9A12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38" y="1855093"/>
            <a:ext cx="15240000" cy="77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8688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1715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10: Configurar los logs en </a:t>
            </a:r>
            <a:r>
              <a:rPr lang="es-ES" sz="2400" dirty="0" err="1">
                <a:solidFill>
                  <a:schemeClr val="bg1"/>
                </a:solidFill>
              </a:rPr>
              <a:t>application.yml</a:t>
            </a:r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s-ES" sz="2400" dirty="0">
                <a:solidFill>
                  <a:schemeClr val="bg1"/>
                </a:solidFill>
              </a:rPr>
              <a:t>Esto hace que los logs aparezcan en consola y también se guarden en:</a:t>
            </a:r>
          </a:p>
          <a:p>
            <a:r>
              <a:rPr lang="es-ES" sz="2000" dirty="0">
                <a:solidFill>
                  <a:schemeClr val="bg1"/>
                </a:solidFill>
              </a:rPr>
              <a:t>logs/app.log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3A46FB-B759-FD43-ABC0-CCA79F3F6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38" y="2182933"/>
            <a:ext cx="15240000" cy="77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897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11: Ejecutar el proyecto</a:t>
            </a:r>
          </a:p>
          <a:p>
            <a:r>
              <a:rPr lang="es-ES" sz="2400" dirty="0">
                <a:solidFill>
                  <a:schemeClr val="bg1"/>
                </a:solidFill>
              </a:rPr>
              <a:t>Después se ejecuta el proyecto desde IntelliJ con el botón de ejecutar o desde terminal:</a:t>
            </a: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A94A5A-7425-582B-52A4-14978EAB3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23" y="2140055"/>
            <a:ext cx="15240000" cy="77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1894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324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12: Probar los </a:t>
            </a:r>
            <a:r>
              <a:rPr lang="es-ES" sz="2400" dirty="0" err="1">
                <a:solidFill>
                  <a:schemeClr val="bg1"/>
                </a:solidFill>
              </a:rPr>
              <a:t>endpoints</a:t>
            </a:r>
            <a:endParaRPr lang="es-ES" sz="2400" dirty="0">
              <a:solidFill>
                <a:schemeClr val="bg1"/>
              </a:solidFill>
            </a:endParaRPr>
          </a:p>
          <a:p>
            <a:r>
              <a:rPr lang="es-ES" sz="2400" dirty="0">
                <a:solidFill>
                  <a:schemeClr val="bg1"/>
                </a:solidFill>
              </a:rPr>
              <a:t>Se prueban los </a:t>
            </a:r>
            <a:r>
              <a:rPr lang="es-ES" sz="2400" dirty="0" err="1">
                <a:solidFill>
                  <a:schemeClr val="bg1"/>
                </a:solidFill>
              </a:rPr>
              <a:t>endpoints</a:t>
            </a:r>
            <a:r>
              <a:rPr lang="es-ES" sz="2400" dirty="0">
                <a:solidFill>
                  <a:schemeClr val="bg1"/>
                </a:solidFill>
              </a:rPr>
              <a:t> del sistema</a:t>
            </a:r>
            <a:r>
              <a:rPr lang="es-ES" sz="2400" dirty="0"/>
              <a:t>.</a:t>
            </a:r>
          </a:p>
          <a:p>
            <a:endParaRPr lang="es-ES" sz="2400" dirty="0"/>
          </a:p>
          <a:p>
            <a:r>
              <a:rPr lang="es-ES" sz="2400" dirty="0">
                <a:solidFill>
                  <a:schemeClr val="bg1"/>
                </a:solidFill>
              </a:rPr>
              <a:t>Tomaremos de ejemplo </a:t>
            </a:r>
            <a:r>
              <a:rPr lang="en-US" sz="2400" dirty="0">
                <a:solidFill>
                  <a:schemeClr val="bg1"/>
                </a:solidFill>
              </a:rPr>
              <a:t>GET http://localhost:8080/api/estudiantes</a:t>
            </a:r>
          </a:p>
          <a:p>
            <a:r>
              <a:rPr lang="es-ES" sz="2400" dirty="0">
                <a:solidFill>
                  <a:schemeClr val="bg1"/>
                </a:solidFill>
              </a:rPr>
              <a:t> </a:t>
            </a:r>
            <a:r>
              <a:rPr lang="es-ES" sz="2400" dirty="0" err="1">
                <a:solidFill>
                  <a:schemeClr val="bg1"/>
                </a:solidFill>
              </a:rPr>
              <a:t>yharemos</a:t>
            </a:r>
            <a:r>
              <a:rPr lang="es-ES" sz="2400" dirty="0">
                <a:solidFill>
                  <a:schemeClr val="bg1"/>
                </a:solidFill>
              </a:rPr>
              <a:t> la prueba en BRUNO</a:t>
            </a:r>
          </a:p>
          <a:p>
            <a:r>
              <a:rPr lang="es-ES" sz="2400" dirty="0">
                <a:solidFill>
                  <a:schemeClr val="bg1"/>
                </a:solidFill>
              </a:rPr>
              <a:t>Cada vez que se realice una operación, se debe generar un mensaje de log en la consola y en el archivo app.log.</a:t>
            </a:r>
          </a:p>
          <a:p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28EF8B-E709-6B0E-489C-A357F8EF6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086" y="3623558"/>
            <a:ext cx="9601200" cy="48846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670B438-FEDF-8B17-946D-0FE35F3D5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281" y="3773175"/>
            <a:ext cx="9013024" cy="458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9048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98521" name="Freeform 8"/>
          <p:cNvSpPr/>
          <p:nvPr/>
        </p:nvSpPr>
        <p:spPr bwMode="auto">
          <a:xfrm>
            <a:off x="421081" y="521971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837217533" name="Freeform 9"/>
          <p:cNvSpPr/>
          <p:nvPr/>
        </p:nvSpPr>
        <p:spPr bwMode="auto">
          <a:xfrm flipH="1" flipV="1">
            <a:off x="12063996" y="5773361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580292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02923" y="0"/>
                </a:lnTo>
                <a:lnTo>
                  <a:pt x="5802923" y="411480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552871635" name="AutoShape 10"/>
          <p:cNvSpPr/>
          <p:nvPr/>
        </p:nvSpPr>
        <p:spPr bwMode="auto">
          <a:xfrm flipV="1">
            <a:off x="6528547" y="607695"/>
            <a:ext cx="109422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365982969" name="AutoShape 11"/>
          <p:cNvSpPr/>
          <p:nvPr/>
        </p:nvSpPr>
        <p:spPr bwMode="auto">
          <a:xfrm flipH="1">
            <a:off x="752883" y="9745287"/>
            <a:ext cx="109422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237816248" name="TextBox 12"/>
          <p:cNvSpPr txBox="1"/>
          <p:nvPr/>
        </p:nvSpPr>
        <p:spPr bwMode="auto">
          <a:xfrm>
            <a:off x="5825861" y="3479905"/>
            <a:ext cx="6636277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Anexo link de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git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 con las actividades correspondientes https://github.com/eddiCastS/PRUEBAS-EN-BRUNO.git</a:t>
            </a:r>
          </a:p>
          <a:p>
            <a:pPr algn="l"/>
            <a:endParaRPr lang="es-ES" sz="2800" b="0" i="0" dirty="0">
              <a:solidFill>
                <a:schemeClr val="bg1"/>
              </a:solidFill>
              <a:effectLst/>
              <a:latin typeface="pplxSerif"/>
            </a:endParaRPr>
          </a:p>
        </p:txBody>
      </p:sp>
      <p:sp>
        <p:nvSpPr>
          <p:cNvPr id="702311257" name="TextBox 13"/>
          <p:cNvSpPr txBox="1"/>
          <p:nvPr/>
        </p:nvSpPr>
        <p:spPr bwMode="auto">
          <a:xfrm>
            <a:off x="4185995" y="1759034"/>
            <a:ext cx="9916010" cy="106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58"/>
              </a:lnSpc>
              <a:spcBef>
                <a:spcPts val="0"/>
              </a:spcBef>
              <a:defRPr/>
            </a:pPr>
            <a:r>
              <a:rPr lang="en-US" sz="6250" u="none" strike="noStrike" spc="181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</a:rPr>
              <a:t>Link de git hub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6631050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19869159" name="object 3"/>
          <p:cNvPicPr/>
          <p:nvPr/>
        </p:nvPicPr>
        <p:blipFill rotWithShape="1">
          <a:blip r:embed="rId4"/>
          <a:stretch/>
        </p:blipFill>
        <p:spPr bwMode="auto">
          <a:xfrm>
            <a:off x="421081" y="521971"/>
            <a:ext cx="5802922" cy="4114800"/>
          </a:xfrm>
          <a:prstGeom prst="rect">
            <a:avLst/>
          </a:prstGeom>
        </p:spPr>
      </p:pic>
      <p:pic>
        <p:nvPicPr>
          <p:cNvPr id="766756948" name="object 4"/>
          <p:cNvPicPr/>
          <p:nvPr/>
        </p:nvPicPr>
        <p:blipFill rotWithShape="1">
          <a:blip r:embed="rId5"/>
          <a:stretch/>
        </p:blipFill>
        <p:spPr bwMode="auto">
          <a:xfrm>
            <a:off x="12063945" y="5773356"/>
            <a:ext cx="5802922" cy="4114800"/>
          </a:xfrm>
          <a:prstGeom prst="rect">
            <a:avLst/>
          </a:prstGeom>
        </p:spPr>
      </p:pic>
      <p:grpSp>
        <p:nvGrpSpPr>
          <p:cNvPr id="195035859" name="object 5"/>
          <p:cNvGrpSpPr/>
          <p:nvPr/>
        </p:nvGrpSpPr>
        <p:grpSpPr bwMode="auto">
          <a:xfrm>
            <a:off x="6459493" y="531199"/>
            <a:ext cx="11011535" cy="153035"/>
            <a:chOff x="6459493" y="531199"/>
            <a:chExt cx="11011535" cy="153035"/>
          </a:xfrm>
        </p:grpSpPr>
        <p:sp>
          <p:nvSpPr>
            <p:cNvPr id="6" name="object 6"/>
            <p:cNvSpPr/>
            <p:nvPr/>
          </p:nvSpPr>
          <p:spPr bwMode="auto">
            <a:xfrm>
              <a:off x="6528549" y="607694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19" extrusionOk="0">
                  <a:moveTo>
                    <a:pt x="0" y="0"/>
                  </a:moveTo>
                  <a:lnTo>
                    <a:pt x="10942243" y="0"/>
                  </a:lnTo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7" name="object 7"/>
            <p:cNvPicPr/>
            <p:nvPr/>
          </p:nvPicPr>
          <p:blipFill rotWithShape="1">
            <a:blip r:embed="rId6"/>
            <a:stretch/>
          </p:blipFill>
          <p:spPr bwMode="auto">
            <a:xfrm>
              <a:off x="6459493" y="531199"/>
              <a:ext cx="138111" cy="152990"/>
            </a:xfrm>
            <a:prstGeom prst="rect">
              <a:avLst/>
            </a:prstGeom>
          </p:spPr>
        </p:pic>
      </p:grpSp>
      <p:grpSp>
        <p:nvGrpSpPr>
          <p:cNvPr id="560480666" name="object 8"/>
          <p:cNvGrpSpPr/>
          <p:nvPr/>
        </p:nvGrpSpPr>
        <p:grpSpPr bwMode="auto">
          <a:xfrm>
            <a:off x="752881" y="9668786"/>
            <a:ext cx="11011535" cy="153035"/>
            <a:chOff x="752881" y="9668786"/>
            <a:chExt cx="11011535" cy="153035"/>
          </a:xfrm>
        </p:grpSpPr>
        <p:sp>
          <p:nvSpPr>
            <p:cNvPr id="9" name="object 9"/>
            <p:cNvSpPr/>
            <p:nvPr/>
          </p:nvSpPr>
          <p:spPr bwMode="auto">
            <a:xfrm>
              <a:off x="752881" y="9745281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20" extrusionOk="0">
                  <a:moveTo>
                    <a:pt x="10942243" y="0"/>
                  </a:moveTo>
                  <a:lnTo>
                    <a:pt x="0" y="0"/>
                  </a:lnTo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0" name="object 10"/>
            <p:cNvPicPr/>
            <p:nvPr/>
          </p:nvPicPr>
          <p:blipFill rotWithShape="1">
            <a:blip r:embed="rId7"/>
            <a:stretch/>
          </p:blipFill>
          <p:spPr bwMode="auto">
            <a:xfrm>
              <a:off x="11626069" y="9668786"/>
              <a:ext cx="138111" cy="152990"/>
            </a:xfrm>
            <a:prstGeom prst="rect">
              <a:avLst/>
            </a:prstGeom>
          </p:spPr>
        </p:pic>
      </p:grpSp>
      <p:sp>
        <p:nvSpPr>
          <p:cNvPr id="1527036298" name="object 11"/>
          <p:cNvSpPr txBox="1"/>
          <p:nvPr/>
        </p:nvSpPr>
        <p:spPr bwMode="auto">
          <a:xfrm>
            <a:off x="5830386" y="3459682"/>
            <a:ext cx="6632344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Al finalizar la práctica, el proyecto Spring </a:t>
            </a:r>
            <a:r>
              <a:rPr lang="es-ES" sz="2400" dirty="0" err="1">
                <a:solidFill>
                  <a:schemeClr val="bg1"/>
                </a:solidFill>
              </a:rPr>
              <a:t>Boot</a:t>
            </a:r>
            <a:r>
              <a:rPr lang="es-ES" sz="2400" dirty="0">
                <a:solidFill>
                  <a:schemeClr val="bg1"/>
                </a:solidFill>
              </a:rPr>
              <a:t> quedó configurado para registrar logs en las operaciones principales del servicio de estudiantes. Se agregaron mensajes en los métodos de listar, buscar, registrar, actualizar y eliminar estudiantes. También se configuró el archivo </a:t>
            </a:r>
            <a:r>
              <a:rPr lang="es-ES" sz="2400" dirty="0" err="1">
                <a:solidFill>
                  <a:schemeClr val="bg1"/>
                </a:solidFill>
              </a:rPr>
              <a:t>application.yml</a:t>
            </a:r>
            <a:r>
              <a:rPr lang="es-ES" sz="2400" dirty="0">
                <a:solidFill>
                  <a:schemeClr val="bg1"/>
                </a:solidFill>
              </a:rPr>
              <a:t> para guardar los registros dentro de la carpeta logs. Gracias a esto, ahora es posible revisar el comportamiento del sistema desde la consola o desde el archivo app.log, lo cual ayuda a detectar errores, validar procesos y tener evidencia de las acciones realizadas en la aplicación.</a:t>
            </a:r>
          </a:p>
        </p:txBody>
      </p:sp>
      <p:sp>
        <p:nvSpPr>
          <p:cNvPr id="1321808712" name="object 12"/>
          <p:cNvSpPr txBox="1">
            <a:spLocks noGrp="1"/>
          </p:cNvSpPr>
          <p:nvPr>
            <p:ph type="title"/>
          </p:nvPr>
        </p:nvSpPr>
        <p:spPr bwMode="auto">
          <a:xfrm>
            <a:off x="7053109" y="1889315"/>
            <a:ext cx="415925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250" spc="150"/>
              <a:t>Conclusion</a:t>
            </a:r>
            <a:endParaRPr sz="62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924</Words>
  <Application>Microsoft Office PowerPoint</Application>
  <PresentationFormat>Personalizado</PresentationFormat>
  <Paragraphs>110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Etna Sans Serif</vt:lpstr>
      <vt:lpstr>pplxSerif</vt:lpstr>
      <vt:lpstr>Office Theme</vt:lpstr>
      <vt:lpstr>Presentación de PowerPoint</vt:lpstr>
      <vt:lpstr>INTRODUCCION</vt:lpstr>
      <vt:lpstr>JUSTIFICACION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Presentación de PowerPoint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Eddi Castillo</dc:creator>
  <cp:lastModifiedBy>eddi castillo</cp:lastModifiedBy>
  <cp:revision>6</cp:revision>
  <dcterms:created xsi:type="dcterms:W3CDTF">2026-05-06T04:52:09Z</dcterms:created>
  <dcterms:modified xsi:type="dcterms:W3CDTF">2026-06-07T00:17:44Z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LastSaved">
    <vt:filetime>2026-05-06T00:00:00Z</vt:filetime>
  </property>
  <property fmtid="{D5CDD505-2E9C-101B-9397-08002B2CF9AE}" pid="4" name="Producer">
    <vt:lpwstr>3-Heights(TM) PDF Security Shell 4.8.25.2 (http://www.pdf-tools.com)</vt:lpwstr>
  </property>
</Properties>
</file>