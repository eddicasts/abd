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70" r:id="rId11"/>
    <p:sldId id="265" r:id="rId12"/>
  </p:sldIdLst>
  <p:sldSz cx="18288000" cy="1028541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0202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 txBox="1">
            <a:spLocks noGrp="1"/>
          </p:cNvSpPr>
          <p:nvPr>
            <p:ph type="body" idx="1"/>
          </p:nvPr>
        </p:nvSpPr>
        <p:spPr>
          <a:xfrm>
            <a:off x="685799" y="4399200"/>
            <a:ext cx="5486399" cy="36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>
            <a:spAutoFit/>
          </a:bodyPr>
          <a:lstStyle/>
          <a:p>
            <a:pPr lvl="0"/>
            <a:endParaRPr lang="en-US" sz="2600" b="1" spc="-11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 txBox="1">
            <a:spLocks noGrp="1"/>
          </p:cNvSpPr>
          <p:nvPr>
            <p:ph type="body" idx="1"/>
          </p:nvPr>
        </p:nvSpPr>
        <p:spPr>
          <a:xfrm>
            <a:off x="685799" y="4399200"/>
            <a:ext cx="5486399" cy="36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>
            <a:spAutoFit/>
          </a:bodyPr>
          <a:lstStyle/>
          <a:p>
            <a:pPr lvl="0"/>
            <a:endParaRPr lang="en-US" sz="2200" b="1">
              <a:solidFill>
                <a:srgbClr val="FFFFFF"/>
              </a:solidFill>
              <a:latin typeface="Liberation San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 txBox="1">
            <a:spLocks noGrp="1"/>
          </p:cNvSpPr>
          <p:nvPr>
            <p:ph type="body" idx="1"/>
          </p:nvPr>
        </p:nvSpPr>
        <p:spPr>
          <a:xfrm>
            <a:off x="685799" y="4399200"/>
            <a:ext cx="5486399" cy="36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>
            <a:spAutoFit/>
          </a:bodyPr>
          <a:lstStyle/>
          <a:p>
            <a:pPr lvl="0"/>
            <a:endParaRPr lang="en-US" sz="2200" b="1">
              <a:solidFill>
                <a:srgbClr val="D6D5D4"/>
              </a:solidFill>
              <a:latin typeface="Liberation San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 txBox="1">
            <a:spLocks noGrp="1"/>
          </p:cNvSpPr>
          <p:nvPr>
            <p:ph type="body" idx="1"/>
          </p:nvPr>
        </p:nvSpPr>
        <p:spPr>
          <a:xfrm>
            <a:off x="685799" y="4399200"/>
            <a:ext cx="5486399" cy="36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>
            <a:spAutoFit/>
          </a:bodyPr>
          <a:lstStyle/>
          <a:p>
            <a:pPr lvl="0"/>
            <a:endParaRPr lang="en-US" sz="180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 txBox="1">
            <a:spLocks noGrp="1"/>
          </p:cNvSpPr>
          <p:nvPr>
            <p:ph type="body" idx="1"/>
          </p:nvPr>
        </p:nvSpPr>
        <p:spPr>
          <a:xfrm>
            <a:off x="685799" y="4399200"/>
            <a:ext cx="5486399" cy="36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>
            <a:spAutoFit/>
          </a:bodyPr>
          <a:lstStyle/>
          <a:p>
            <a:pPr lvl="0"/>
            <a:endParaRPr lang="en-US" sz="180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 txBox="1">
            <a:spLocks noGrp="1"/>
          </p:cNvSpPr>
          <p:nvPr>
            <p:ph type="body" idx="1"/>
          </p:nvPr>
        </p:nvSpPr>
        <p:spPr>
          <a:xfrm>
            <a:off x="685799" y="4399200"/>
            <a:ext cx="5486399" cy="36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>
            <a:spAutoFit/>
          </a:bodyPr>
          <a:lstStyle/>
          <a:p>
            <a:pPr lvl="0"/>
            <a:endParaRPr lang="en-US" sz="200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 txBox="1">
            <a:spLocks noGrp="1"/>
          </p:cNvSpPr>
          <p:nvPr>
            <p:ph type="body" idx="1"/>
          </p:nvPr>
        </p:nvSpPr>
        <p:spPr>
          <a:xfrm>
            <a:off x="685799" y="4399200"/>
            <a:ext cx="5486399" cy="36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>
            <a:spAutoFit/>
          </a:bodyPr>
          <a:lstStyle/>
          <a:p>
            <a:pPr lvl="0"/>
            <a:endParaRPr lang="en-US" sz="200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 txBox="1">
            <a:spLocks noGrp="1"/>
          </p:cNvSpPr>
          <p:nvPr>
            <p:ph type="body" idx="1"/>
          </p:nvPr>
        </p:nvSpPr>
        <p:spPr>
          <a:xfrm>
            <a:off x="685799" y="4399200"/>
            <a:ext cx="5486399" cy="36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>
            <a:spAutoFit/>
          </a:bodyPr>
          <a:lstStyle/>
          <a:p>
            <a:pPr lvl="0"/>
            <a:endParaRPr lang="en-US" sz="220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9EC8BC-B3D1-A74E-C214-6A6C616F21EC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 txBox="1">
            <a:spLocks noGrp="1"/>
          </p:cNvSpPr>
          <p:nvPr>
            <p:ph type="body" idx="1"/>
          </p:nvPr>
        </p:nvSpPr>
        <p:spPr>
          <a:xfrm>
            <a:off x="685799" y="4399200"/>
            <a:ext cx="5486399" cy="36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>
            <a:spAutoFit/>
          </a:bodyPr>
          <a:lstStyle/>
          <a:p>
            <a:pPr lvl="0"/>
            <a:endParaRPr lang="en-US" sz="2200" b="1">
              <a:solidFill>
                <a:srgbClr val="D6D5D4"/>
              </a:solidFill>
              <a:latin typeface="Liberation Sans"/>
            </a:endParaRPr>
          </a:p>
        </p:txBody>
      </p:sp>
    </p:spTree>
    <p:extLst>
      <p:ext uri="{BB962C8B-B14F-4D97-AF65-F5344CB8AC3E}">
        <p14:creationId xmlns:p14="http://schemas.microsoft.com/office/powerpoint/2010/main" val="4252239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2750"/>
            <a:ext cx="13716000" cy="35814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2263"/>
            <a:ext cx="13716000" cy="24828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8895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75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7300" y="2738438"/>
            <a:ext cx="15773400" cy="65262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9309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3813"/>
            <a:ext cx="15773400" cy="4278312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3400"/>
            <a:ext cx="15773400" cy="22494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22768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75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810500" cy="65262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20200" y="2738438"/>
            <a:ext cx="7810500" cy="65262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28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5" y="547688"/>
            <a:ext cx="15773400" cy="19875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0475" y="2520950"/>
            <a:ext cx="7735888" cy="12366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0475" y="3757613"/>
            <a:ext cx="7735888" cy="55260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0950"/>
            <a:ext cx="7775575" cy="12366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5575" cy="55260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4399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75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38252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127123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5575" y="1481138"/>
            <a:ext cx="9258300" cy="73088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6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2356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9258300" cy="7308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6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72068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75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2738438"/>
            <a:ext cx="15773400" cy="65262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13651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6962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69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00510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2750"/>
            <a:ext cx="13716000" cy="35814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2263"/>
            <a:ext cx="13716000" cy="24828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495511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75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7300" y="2738438"/>
            <a:ext cx="15773400" cy="65262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12552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3813"/>
            <a:ext cx="15773400" cy="4278312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3400"/>
            <a:ext cx="15773400" cy="22494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463707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75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810500" cy="65262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20200" y="2738438"/>
            <a:ext cx="7810500" cy="65262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494451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5" y="547688"/>
            <a:ext cx="15773400" cy="19875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0475" y="2520950"/>
            <a:ext cx="7735888" cy="12366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0475" y="3757613"/>
            <a:ext cx="7735888" cy="55260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0950"/>
            <a:ext cx="7775575" cy="12366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5575" cy="55260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11839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75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134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4837086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5575" y="1481138"/>
            <a:ext cx="9258300" cy="73088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6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873623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9258300" cy="7308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6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61741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75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2738438"/>
            <a:ext cx="15773400" cy="65262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026952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6962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69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4176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7573" y="1870560"/>
            <a:ext cx="12772103" cy="6317973"/>
          </a:xfrm>
          <a:prstGeom prst="rect">
            <a:avLst/>
          </a:prstGeom>
          <a:noFill/>
          <a:ln>
            <a:noFill/>
          </a:ln>
        </p:spPr>
        <p:txBody>
          <a:bodyPr wrap="square" lIns="0" tIns="12598" rIns="0" bIns="0" anchor="t">
            <a:spAutoFit/>
          </a:bodyPr>
          <a:lstStyle/>
          <a:p>
            <a:pPr marL="1582420" marR="253365" lvl="0" indent="0" algn="ctr">
              <a:lnSpc>
                <a:spcPct val="100000"/>
              </a:lnSpc>
              <a:spcBef>
                <a:spcPts val="99"/>
              </a:spcBef>
              <a:spcAft>
                <a:spcPts val="0"/>
              </a:spcAft>
              <a:buNone/>
            </a:pPr>
            <a:r>
              <a:rPr lang="es-ES" sz="2400" b="1" u="none" baseline="0" dirty="0">
                <a:latin typeface="Arial"/>
                <a:cs typeface="Arial"/>
              </a:rPr>
              <a:t>Instituto</a:t>
            </a:r>
            <a:r>
              <a:rPr lang="es-ES" sz="2400" b="1" u="none" spc="-39" baseline="0" dirty="0">
                <a:latin typeface="Arial"/>
                <a:cs typeface="Arial"/>
              </a:rPr>
              <a:t> </a:t>
            </a:r>
            <a:r>
              <a:rPr lang="es-ES" sz="2400" b="1" u="none" baseline="0" dirty="0">
                <a:latin typeface="Arial"/>
                <a:cs typeface="Arial"/>
              </a:rPr>
              <a:t>Tecnológico</a:t>
            </a:r>
            <a:r>
              <a:rPr lang="es-ES" sz="2400" b="1" u="none" spc="-39" baseline="0" dirty="0">
                <a:latin typeface="Arial"/>
                <a:cs typeface="Arial"/>
              </a:rPr>
              <a:t> </a:t>
            </a:r>
            <a:r>
              <a:rPr lang="es-ES" sz="2400" b="1" u="none" baseline="0" dirty="0">
                <a:latin typeface="Arial"/>
                <a:cs typeface="Arial"/>
              </a:rPr>
              <a:t>de</a:t>
            </a:r>
            <a:r>
              <a:rPr lang="es-ES" sz="2400" b="1" u="none" spc="-39" baseline="0" dirty="0">
                <a:latin typeface="Arial"/>
                <a:cs typeface="Arial"/>
              </a:rPr>
              <a:t> </a:t>
            </a:r>
            <a:r>
              <a:rPr lang="es-ES" sz="2400" b="1" u="none" baseline="0" dirty="0">
                <a:latin typeface="Arial"/>
                <a:cs typeface="Arial"/>
              </a:rPr>
              <a:t>Frontera</a:t>
            </a:r>
            <a:r>
              <a:rPr lang="es-ES" sz="2400" b="1" u="none" spc="-34" baseline="0" dirty="0">
                <a:latin typeface="Arial"/>
                <a:cs typeface="Arial"/>
              </a:rPr>
              <a:t> </a:t>
            </a:r>
            <a:r>
              <a:rPr lang="es-ES" sz="2400" b="1" u="none" spc="-11" baseline="0" dirty="0">
                <a:latin typeface="Arial"/>
                <a:cs typeface="Arial"/>
              </a:rPr>
              <a:t>Comalapa </a:t>
            </a:r>
            <a:r>
              <a:rPr lang="es-ES" sz="2400" b="1" u="none" baseline="0" dirty="0">
                <a:latin typeface="Arial"/>
                <a:cs typeface="Arial"/>
              </a:rPr>
              <a:t>Modalidad</a:t>
            </a:r>
            <a:r>
              <a:rPr lang="es-ES" sz="2400" b="1" u="none" spc="-14" baseline="0" dirty="0">
                <a:latin typeface="Arial"/>
                <a:cs typeface="Arial"/>
              </a:rPr>
              <a:t> </a:t>
            </a:r>
            <a:r>
              <a:rPr lang="es-ES" sz="2400" b="1" u="none" spc="-11" baseline="0" dirty="0">
                <a:latin typeface="Arial"/>
                <a:cs typeface="Arial"/>
              </a:rPr>
              <a:t>Mixta</a:t>
            </a:r>
          </a:p>
          <a:p>
            <a:pPr marL="0" marR="253365" lvl="0" indent="0" algn="l">
              <a:lnSpc>
                <a:spcPct val="100000"/>
              </a:lnSpc>
              <a:spcBef>
                <a:spcPts val="354"/>
              </a:spcBef>
              <a:spcAft>
                <a:spcPts val="0"/>
              </a:spcAft>
              <a:buNone/>
            </a:pPr>
            <a:endParaRPr lang="es-ES" dirty="0"/>
          </a:p>
          <a:p>
            <a:pPr marL="1323340" marR="253365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u="none" spc="-11" baseline="0" dirty="0">
                <a:latin typeface="Arial"/>
                <a:cs typeface="Arial"/>
              </a:rPr>
              <a:t>Materia:</a:t>
            </a:r>
          </a:p>
          <a:p>
            <a:pPr marL="1322070" marR="253365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u="none" spc="-11" baseline="0" dirty="0">
                <a:latin typeface="Arial"/>
                <a:cs typeface="Arial"/>
              </a:rPr>
              <a:t>Administración</a:t>
            </a:r>
            <a:r>
              <a:rPr lang="es-ES" sz="2600" u="none" spc="-59" baseline="0" dirty="0">
                <a:latin typeface="Arial"/>
                <a:cs typeface="Arial"/>
              </a:rPr>
              <a:t> </a:t>
            </a:r>
            <a:r>
              <a:rPr lang="es-ES" sz="2600" u="none" baseline="0" dirty="0">
                <a:latin typeface="Arial"/>
                <a:cs typeface="Arial"/>
              </a:rPr>
              <a:t>de</a:t>
            </a:r>
            <a:r>
              <a:rPr lang="es-ES" sz="2600" u="none" spc="-53" baseline="0" dirty="0">
                <a:latin typeface="Arial"/>
                <a:cs typeface="Arial"/>
              </a:rPr>
              <a:t> </a:t>
            </a:r>
            <a:r>
              <a:rPr lang="es-ES" sz="2600" u="none" baseline="0" dirty="0">
                <a:latin typeface="Arial"/>
                <a:cs typeface="Arial"/>
              </a:rPr>
              <a:t>base</a:t>
            </a:r>
            <a:r>
              <a:rPr lang="es-ES" sz="2600" u="none" spc="-53" baseline="0" dirty="0">
                <a:latin typeface="Arial"/>
                <a:cs typeface="Arial"/>
              </a:rPr>
              <a:t> </a:t>
            </a:r>
            <a:r>
              <a:rPr lang="es-ES" sz="2600" u="none" baseline="0" dirty="0">
                <a:latin typeface="Arial"/>
                <a:cs typeface="Arial"/>
              </a:rPr>
              <a:t>de</a:t>
            </a:r>
            <a:r>
              <a:rPr lang="es-ES" sz="2600" u="none" spc="-59" baseline="0" dirty="0">
                <a:latin typeface="Arial"/>
                <a:cs typeface="Arial"/>
              </a:rPr>
              <a:t> </a:t>
            </a:r>
            <a:r>
              <a:rPr lang="es-ES" sz="2600" u="none" spc="-11" baseline="0" dirty="0">
                <a:latin typeface="Arial"/>
                <a:cs typeface="Arial"/>
              </a:rPr>
              <a:t>datos</a:t>
            </a:r>
          </a:p>
          <a:p>
            <a:pPr marL="3627120" marR="2297430" lvl="0" indent="1799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u="none" spc="-11" baseline="0" dirty="0">
                <a:latin typeface="Arial"/>
                <a:cs typeface="Arial"/>
              </a:rPr>
              <a:t>Semestre: </a:t>
            </a:r>
            <a:r>
              <a:rPr lang="es-ES" sz="2600" u="none" baseline="0" dirty="0">
                <a:latin typeface="Arial"/>
                <a:cs typeface="Arial"/>
              </a:rPr>
              <a:t>Sexto</a:t>
            </a:r>
            <a:r>
              <a:rPr lang="es-ES" sz="2600" u="none" spc="-79" baseline="0" dirty="0">
                <a:latin typeface="Arial"/>
                <a:cs typeface="Arial"/>
              </a:rPr>
              <a:t> </a:t>
            </a:r>
            <a:r>
              <a:rPr lang="es-ES" sz="2600" u="none" spc="-11" baseline="0" dirty="0">
                <a:latin typeface="Arial"/>
                <a:cs typeface="Arial"/>
              </a:rPr>
              <a:t>semestre </a:t>
            </a:r>
            <a:r>
              <a:rPr lang="es-ES" sz="2600" b="1" u="none" spc="-11" baseline="0" dirty="0">
                <a:latin typeface="Arial"/>
                <a:cs typeface="Arial"/>
              </a:rPr>
              <a:t>Especialidad:</a:t>
            </a:r>
          </a:p>
          <a:p>
            <a:pPr marL="1316990" marR="229743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u="none" baseline="0" dirty="0">
                <a:latin typeface="Arial"/>
                <a:cs typeface="Arial"/>
              </a:rPr>
              <a:t>Ingeniería</a:t>
            </a:r>
            <a:r>
              <a:rPr lang="es-ES" sz="2600" u="none" spc="-96" baseline="0" dirty="0">
                <a:latin typeface="Arial"/>
                <a:cs typeface="Arial"/>
              </a:rPr>
              <a:t> </a:t>
            </a:r>
            <a:r>
              <a:rPr lang="es-ES" sz="2600" u="none" baseline="0" dirty="0">
                <a:latin typeface="Arial"/>
                <a:cs typeface="Arial"/>
              </a:rPr>
              <a:t>en</a:t>
            </a:r>
            <a:r>
              <a:rPr lang="es-ES" sz="2600" u="none" spc="-90" baseline="0" dirty="0">
                <a:latin typeface="Arial"/>
                <a:cs typeface="Arial"/>
              </a:rPr>
              <a:t> </a:t>
            </a:r>
            <a:r>
              <a:rPr lang="es-ES" sz="2600" u="none" baseline="0" dirty="0">
                <a:latin typeface="Arial"/>
                <a:cs typeface="Arial"/>
              </a:rPr>
              <a:t>Sistemas</a:t>
            </a:r>
            <a:r>
              <a:rPr lang="es-ES" sz="2600" u="none" spc="-96" baseline="0" dirty="0">
                <a:latin typeface="Arial"/>
                <a:cs typeface="Arial"/>
              </a:rPr>
              <a:t> </a:t>
            </a:r>
            <a:r>
              <a:rPr lang="es-ES" sz="2600" u="none" spc="-11" baseline="0" dirty="0">
                <a:latin typeface="Arial"/>
                <a:cs typeface="Arial"/>
              </a:rPr>
              <a:t>Computacionales.</a:t>
            </a:r>
          </a:p>
          <a:p>
            <a:pPr marL="1322070" marR="229743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u="none" baseline="0" dirty="0">
                <a:latin typeface="Arial"/>
                <a:cs typeface="Arial"/>
              </a:rPr>
              <a:t>Numero</a:t>
            </a:r>
            <a:r>
              <a:rPr lang="es-ES" sz="2600" b="1" u="none" spc="-51" baseline="0" dirty="0">
                <a:latin typeface="Arial"/>
                <a:cs typeface="Arial"/>
              </a:rPr>
              <a:t> </a:t>
            </a:r>
            <a:r>
              <a:rPr lang="es-ES" sz="2600" b="1" u="none" baseline="0" dirty="0">
                <a:latin typeface="Arial"/>
                <a:cs typeface="Arial"/>
              </a:rPr>
              <a:t>de</a:t>
            </a:r>
            <a:r>
              <a:rPr lang="es-ES" sz="2600" b="1" u="none" spc="-51" baseline="0" dirty="0">
                <a:latin typeface="Arial"/>
                <a:cs typeface="Arial"/>
              </a:rPr>
              <a:t> </a:t>
            </a:r>
            <a:r>
              <a:rPr lang="es-ES" sz="2600" b="1" u="none" spc="-11" baseline="0" dirty="0">
                <a:latin typeface="Arial"/>
                <a:cs typeface="Arial"/>
              </a:rPr>
              <a:t>control:</a:t>
            </a:r>
          </a:p>
          <a:p>
            <a:pPr marL="1324610" marR="229743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u="none" spc="-11" baseline="0" dirty="0">
                <a:latin typeface="Arial"/>
                <a:cs typeface="Arial"/>
              </a:rPr>
              <a:t>231260005</a:t>
            </a:r>
          </a:p>
          <a:p>
            <a:pPr marL="1323340" marR="229743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u="none" baseline="0" dirty="0">
                <a:latin typeface="Arial"/>
                <a:cs typeface="Arial"/>
              </a:rPr>
              <a:t>Nombre</a:t>
            </a:r>
            <a:r>
              <a:rPr lang="es-ES" sz="2600" b="1" u="none" spc="-34" baseline="0" dirty="0">
                <a:latin typeface="Arial"/>
                <a:cs typeface="Arial"/>
              </a:rPr>
              <a:t> </a:t>
            </a:r>
            <a:r>
              <a:rPr lang="es-ES" sz="2600" b="1" u="none" baseline="0" dirty="0">
                <a:latin typeface="Arial"/>
                <a:cs typeface="Arial"/>
              </a:rPr>
              <a:t>del</a:t>
            </a:r>
            <a:r>
              <a:rPr lang="es-ES" sz="2600" b="1" u="none" spc="-34" baseline="0" dirty="0">
                <a:latin typeface="Arial"/>
                <a:cs typeface="Arial"/>
              </a:rPr>
              <a:t> </a:t>
            </a:r>
            <a:r>
              <a:rPr lang="es-ES" sz="2600" b="1" u="none" spc="-11" baseline="0" dirty="0">
                <a:latin typeface="Arial"/>
                <a:cs typeface="Arial"/>
              </a:rPr>
              <a:t>alumno:</a:t>
            </a:r>
          </a:p>
          <a:p>
            <a:pPr marL="1323340" marR="229743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u="none" baseline="0" dirty="0">
                <a:latin typeface="Arial"/>
                <a:cs typeface="Arial"/>
              </a:rPr>
              <a:t>Eddi</a:t>
            </a:r>
            <a:r>
              <a:rPr lang="es-ES" sz="2600" u="none" spc="-59" baseline="0" dirty="0">
                <a:latin typeface="Arial"/>
                <a:cs typeface="Arial"/>
              </a:rPr>
              <a:t> </a:t>
            </a:r>
            <a:r>
              <a:rPr lang="es-ES" sz="2600" u="none" baseline="0" dirty="0">
                <a:latin typeface="Arial"/>
                <a:cs typeface="Arial"/>
              </a:rPr>
              <a:t>Uriel</a:t>
            </a:r>
            <a:r>
              <a:rPr lang="es-ES" sz="2600" u="none" spc="-53" baseline="0" dirty="0">
                <a:latin typeface="Arial"/>
                <a:cs typeface="Arial"/>
              </a:rPr>
              <a:t> </a:t>
            </a:r>
            <a:r>
              <a:rPr lang="es-ES" sz="2600" u="none" baseline="0" dirty="0">
                <a:latin typeface="Arial"/>
                <a:cs typeface="Arial"/>
              </a:rPr>
              <a:t>Castillo</a:t>
            </a:r>
            <a:r>
              <a:rPr lang="es-ES" sz="2600" u="none" spc="-53" baseline="0" dirty="0">
                <a:latin typeface="Arial"/>
                <a:cs typeface="Arial"/>
              </a:rPr>
              <a:t> </a:t>
            </a:r>
            <a:r>
              <a:rPr lang="es-ES" sz="2600" u="none" spc="-11" baseline="0" dirty="0">
                <a:latin typeface="Arial"/>
                <a:cs typeface="Arial"/>
              </a:rPr>
              <a:t>Sánchez</a:t>
            </a:r>
          </a:p>
          <a:p>
            <a:pPr marL="1323340" marR="229743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u="none" baseline="0" dirty="0">
                <a:latin typeface="Arial"/>
                <a:cs typeface="Arial"/>
              </a:rPr>
              <a:t>Nombre</a:t>
            </a:r>
            <a:r>
              <a:rPr lang="es-ES" sz="2600" b="1" u="none" spc="-34" baseline="0" dirty="0">
                <a:latin typeface="Arial"/>
                <a:cs typeface="Arial"/>
              </a:rPr>
              <a:t> </a:t>
            </a:r>
            <a:r>
              <a:rPr lang="es-ES" sz="2600" b="1" u="none" baseline="0" dirty="0">
                <a:latin typeface="Arial"/>
                <a:cs typeface="Arial"/>
              </a:rPr>
              <a:t>del</a:t>
            </a:r>
            <a:r>
              <a:rPr lang="es-ES" sz="2600" b="1" u="none" spc="-34" baseline="0" dirty="0">
                <a:latin typeface="Arial"/>
                <a:cs typeface="Arial"/>
              </a:rPr>
              <a:t> </a:t>
            </a:r>
            <a:r>
              <a:rPr lang="es-ES" sz="2600" b="1" u="none" spc="-11" baseline="0" dirty="0">
                <a:latin typeface="Arial"/>
                <a:cs typeface="Arial"/>
              </a:rPr>
              <a:t>docente:</a:t>
            </a:r>
          </a:p>
          <a:p>
            <a:pPr marL="1324610" marR="229743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u="none" baseline="0" dirty="0">
                <a:latin typeface="Arial"/>
                <a:cs typeface="Arial"/>
              </a:rPr>
              <a:t>Francisco</a:t>
            </a:r>
            <a:r>
              <a:rPr lang="es-ES" sz="2600" u="none" spc="-99" baseline="0" dirty="0">
                <a:latin typeface="Arial"/>
                <a:cs typeface="Arial"/>
              </a:rPr>
              <a:t> </a:t>
            </a:r>
            <a:r>
              <a:rPr lang="es-ES" sz="2600" u="none" baseline="0" dirty="0">
                <a:latin typeface="Arial"/>
                <a:cs typeface="Arial"/>
              </a:rPr>
              <a:t>Javier</a:t>
            </a:r>
            <a:r>
              <a:rPr lang="es-ES" sz="2600" u="none" spc="-96" baseline="0" dirty="0">
                <a:latin typeface="Arial"/>
                <a:cs typeface="Arial"/>
              </a:rPr>
              <a:t> </a:t>
            </a:r>
            <a:r>
              <a:rPr lang="es-ES" sz="2600" u="none" baseline="0" dirty="0">
                <a:latin typeface="Arial"/>
                <a:cs typeface="Arial"/>
              </a:rPr>
              <a:t>Mingo</a:t>
            </a:r>
            <a:r>
              <a:rPr lang="es-ES" sz="2600" u="none" spc="-99" baseline="0" dirty="0">
                <a:latin typeface="Arial"/>
                <a:cs typeface="Arial"/>
              </a:rPr>
              <a:t> </a:t>
            </a:r>
            <a:r>
              <a:rPr lang="es-ES" sz="2600" u="none" spc="-11" baseline="0" dirty="0" err="1">
                <a:latin typeface="Arial"/>
                <a:cs typeface="Arial"/>
              </a:rPr>
              <a:t>Velazquez</a:t>
            </a:r>
            <a:endParaRPr lang="es-ES" sz="2600" u="none" spc="-11" baseline="0" dirty="0">
              <a:latin typeface="Arial"/>
              <a:cs typeface="Arial"/>
            </a:endParaRPr>
          </a:p>
          <a:p>
            <a:pPr marL="1322070" marR="229743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u="none" baseline="0" dirty="0">
                <a:latin typeface="Arial"/>
                <a:cs typeface="Arial"/>
              </a:rPr>
              <a:t>Nombre</a:t>
            </a:r>
            <a:r>
              <a:rPr lang="es-ES" sz="2600" b="1" u="none" spc="-34" baseline="0" dirty="0">
                <a:latin typeface="Arial"/>
                <a:cs typeface="Arial"/>
              </a:rPr>
              <a:t> </a:t>
            </a:r>
            <a:r>
              <a:rPr lang="es-ES" sz="2600" b="1" u="none" baseline="0" dirty="0">
                <a:latin typeface="Arial"/>
                <a:cs typeface="Arial"/>
              </a:rPr>
              <a:t>del</a:t>
            </a:r>
            <a:r>
              <a:rPr lang="es-ES" sz="2600" b="1" u="none" spc="-34" baseline="0" dirty="0">
                <a:latin typeface="Arial"/>
                <a:cs typeface="Arial"/>
              </a:rPr>
              <a:t> </a:t>
            </a:r>
            <a:r>
              <a:rPr lang="es-ES" sz="2600" b="1" u="none" spc="-11" baseline="0" dirty="0">
                <a:latin typeface="Arial"/>
                <a:cs typeface="Arial"/>
              </a:rPr>
              <a:t>trabajo:</a:t>
            </a:r>
          </a:p>
          <a:p>
            <a:pPr marL="1322070" marR="229743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u="none" baseline="0" dirty="0" err="1">
                <a:latin typeface="Arial"/>
                <a:cs typeface="Arial"/>
              </a:rPr>
              <a:t>Act</a:t>
            </a:r>
            <a:r>
              <a:rPr lang="es-ES" sz="2600" u="none" spc="-59" baseline="0" dirty="0">
                <a:latin typeface="Arial"/>
                <a:cs typeface="Arial"/>
              </a:rPr>
              <a:t> </a:t>
            </a:r>
            <a:r>
              <a:rPr lang="es-ES" sz="2600" u="none" spc="-11" baseline="0" dirty="0">
                <a:latin typeface="Arial"/>
                <a:cs typeface="Arial"/>
              </a:rPr>
              <a:t>2.2 Reporte de practica</a:t>
            </a:r>
          </a:p>
          <a:p>
            <a:pPr marL="1324610" marR="2297430" lvl="0" indent="0" algn="ctr">
              <a:lnSpc>
                <a:spcPts val="31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u="none" baseline="0" dirty="0">
                <a:latin typeface="Arial"/>
                <a:cs typeface="Arial"/>
              </a:rPr>
              <a:t>Fecha</a:t>
            </a:r>
            <a:r>
              <a:rPr lang="es-ES" sz="2600" b="1" u="none" spc="-45" baseline="0" dirty="0">
                <a:latin typeface="Arial"/>
                <a:cs typeface="Arial"/>
              </a:rPr>
              <a:t> </a:t>
            </a:r>
            <a:r>
              <a:rPr lang="es-ES" sz="2600" b="1" u="none" baseline="0" dirty="0">
                <a:latin typeface="Arial"/>
                <a:cs typeface="Arial"/>
              </a:rPr>
              <a:t>de</a:t>
            </a:r>
            <a:r>
              <a:rPr lang="es-ES" sz="2600" b="1" u="none" spc="-39" baseline="0" dirty="0">
                <a:latin typeface="Arial"/>
                <a:cs typeface="Arial"/>
              </a:rPr>
              <a:t> </a:t>
            </a:r>
            <a:r>
              <a:rPr lang="es-ES" sz="2600" b="1" u="none" spc="-11" baseline="0" dirty="0">
                <a:latin typeface="Arial"/>
                <a:cs typeface="Arial"/>
              </a:rPr>
              <a:t>entrega</a:t>
            </a:r>
            <a:r>
              <a:rPr lang="es-ES" sz="2600" u="none" spc="-11" baseline="0" dirty="0">
                <a:latin typeface="Arial"/>
                <a:cs typeface="Arial"/>
              </a:rPr>
              <a:t>:</a:t>
            </a:r>
          </a:p>
          <a:p>
            <a:pPr marL="0" marR="2297430" lvl="0" indent="0" algn="ctr">
              <a:lnSpc>
                <a:spcPts val="33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u="none" baseline="0" dirty="0">
                <a:latin typeface="Arial"/>
                <a:cs typeface="Arial"/>
              </a:rPr>
              <a:t>Frontera</a:t>
            </a:r>
            <a:r>
              <a:rPr lang="es-ES" sz="2800" u="none" spc="-79" baseline="0" dirty="0">
                <a:latin typeface="Arial"/>
                <a:cs typeface="Arial"/>
              </a:rPr>
              <a:t> </a:t>
            </a:r>
            <a:r>
              <a:rPr lang="es-ES" sz="2800" u="none" baseline="0" dirty="0" err="1">
                <a:latin typeface="Arial"/>
                <a:cs typeface="Arial"/>
              </a:rPr>
              <a:t>comalapa</a:t>
            </a:r>
            <a:r>
              <a:rPr lang="es-ES" sz="2800" u="none" baseline="0" dirty="0">
                <a:latin typeface="Arial"/>
                <a:cs typeface="Arial"/>
              </a:rPr>
              <a:t>,</a:t>
            </a:r>
            <a:r>
              <a:rPr lang="es-ES" sz="2800" u="none" spc="-79" baseline="0" dirty="0">
                <a:latin typeface="Arial"/>
                <a:cs typeface="Arial"/>
              </a:rPr>
              <a:t> </a:t>
            </a:r>
            <a:r>
              <a:rPr lang="es-ES" sz="2800" u="none" baseline="0" dirty="0">
                <a:latin typeface="Arial"/>
                <a:cs typeface="Arial"/>
              </a:rPr>
              <a:t>Chiapas</a:t>
            </a:r>
            <a:r>
              <a:rPr lang="es-ES" sz="2800" u="none" spc="-73" baseline="0" dirty="0">
                <a:latin typeface="Arial"/>
                <a:cs typeface="Arial"/>
              </a:rPr>
              <a:t> </a:t>
            </a:r>
            <a:r>
              <a:rPr lang="es-ES" sz="2800" u="none" baseline="0" dirty="0">
                <a:latin typeface="Arial"/>
                <a:cs typeface="Arial"/>
              </a:rPr>
              <a:t>a</a:t>
            </a:r>
            <a:r>
              <a:rPr lang="es-ES" sz="2800" u="none" spc="-79" baseline="0" dirty="0">
                <a:latin typeface="Arial"/>
                <a:cs typeface="Arial"/>
              </a:rPr>
              <a:t> </a:t>
            </a:r>
            <a:r>
              <a:rPr lang="es-ES" sz="2800" u="none" spc="-73" baseline="0" dirty="0">
                <a:latin typeface="Arial"/>
                <a:cs typeface="Arial"/>
              </a:rPr>
              <a:t>03 </a:t>
            </a:r>
            <a:r>
              <a:rPr lang="es-ES" sz="2800" u="none" baseline="0" dirty="0">
                <a:latin typeface="Arial"/>
                <a:cs typeface="Arial"/>
              </a:rPr>
              <a:t>de</a:t>
            </a:r>
            <a:r>
              <a:rPr lang="es-ES" sz="2800" u="none" spc="-79" baseline="0" dirty="0">
                <a:latin typeface="Arial"/>
                <a:cs typeface="Arial"/>
              </a:rPr>
              <a:t> </a:t>
            </a:r>
            <a:r>
              <a:rPr lang="es-ES" sz="2800" u="none" baseline="0" dirty="0">
                <a:latin typeface="Arial"/>
                <a:cs typeface="Arial"/>
              </a:rPr>
              <a:t>mayo</a:t>
            </a:r>
            <a:r>
              <a:rPr lang="es-ES" sz="2800" u="none" spc="-73" baseline="0" dirty="0">
                <a:latin typeface="Arial"/>
                <a:cs typeface="Arial"/>
              </a:rPr>
              <a:t> </a:t>
            </a:r>
            <a:r>
              <a:rPr lang="es-ES" sz="2800" u="none" baseline="0" dirty="0">
                <a:latin typeface="Arial"/>
                <a:cs typeface="Arial"/>
              </a:rPr>
              <a:t>del</a:t>
            </a:r>
            <a:r>
              <a:rPr lang="es-ES" sz="2800" u="none" spc="-79" baseline="0" dirty="0">
                <a:latin typeface="Arial"/>
                <a:cs typeface="Arial"/>
              </a:rPr>
              <a:t> </a:t>
            </a:r>
            <a:r>
              <a:rPr lang="es-ES" sz="2800" u="none" spc="-19" baseline="0" dirty="0">
                <a:latin typeface="Arial"/>
                <a:cs typeface="Arial"/>
              </a:rPr>
              <a:t>2026</a:t>
            </a:r>
          </a:p>
        </p:txBody>
      </p:sp>
      <p:pic>
        <p:nvPicPr>
          <p:cNvPr id="3" name="object 3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2000" y="461879"/>
            <a:ext cx="5562000" cy="63288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13661999" y="4222799"/>
            <a:ext cx="3368880" cy="459719"/>
          </a:xfrm>
          <a:prstGeom prst="rect">
            <a:avLst/>
          </a:prstGeom>
          <a:noFill/>
          <a:ln>
            <a:noFill/>
          </a:ln>
        </p:spPr>
        <p:txBody>
          <a:bodyPr lIns="89992" tIns="44996" rIns="89992" bIns="44996">
            <a:spAutoFit/>
          </a:bodyPr>
          <a:lstStyle/>
          <a:p>
            <a:pPr lvl="0">
              <a:buNone/>
            </a:pPr>
            <a:r>
              <a:rPr lang="en-US" sz="2600" b="1" u="none" baseline="0">
                <a:solidFill>
                  <a:srgbClr val="FFFFFF"/>
                </a:solidFill>
                <a:latin typeface="Arial"/>
                <a:cs typeface="Arial"/>
              </a:rPr>
              <a:t>Nombre</a:t>
            </a:r>
            <a:r>
              <a:rPr lang="en-US" sz="2600" b="1" u="none" spc="-34" baseline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2600" b="1" u="none" baseline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lang="en-US" sz="2600" b="1" u="none" spc="-34" baseline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2600" b="1" u="none" spc="-11" baseline="0">
                <a:solidFill>
                  <a:srgbClr val="FFFFFF"/>
                </a:solidFill>
                <a:latin typeface="Arial"/>
                <a:cs typeface="Arial"/>
              </a:rPr>
              <a:t>alumno: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TRODUC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5200"/>
          </a:xfrm>
          <a:prstGeom prst="rect">
            <a:avLst/>
          </a:prstGeom>
          <a:ln>
            <a:noFill/>
          </a:ln>
        </p:spPr>
      </p:pic>
      <p:pic>
        <p:nvPicPr>
          <p:cNvPr id="3" name="object 3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16800" y="2075039"/>
            <a:ext cx="6577200" cy="6577200"/>
          </a:xfrm>
          <a:prstGeom prst="rect">
            <a:avLst/>
          </a:prstGeom>
          <a:ln>
            <a:noFill/>
          </a:ln>
        </p:spPr>
      </p:pic>
      <p:pic>
        <p:nvPicPr>
          <p:cNvPr id="4" name="object 4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8708400"/>
            <a:ext cx="3607200" cy="919799"/>
          </a:xfrm>
          <a:prstGeom prst="rect">
            <a:avLst/>
          </a:prstGeom>
          <a:ln>
            <a:noFill/>
          </a:ln>
        </p:spPr>
      </p:pic>
      <p:pic>
        <p:nvPicPr>
          <p:cNvPr id="5" name="object 5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402800" y="0"/>
            <a:ext cx="3855599" cy="617400"/>
          </a:xfrm>
          <a:prstGeom prst="rect">
            <a:avLst/>
          </a:prstGeom>
          <a:ln>
            <a:noFill/>
          </a:ln>
        </p:spPr>
      </p:pic>
      <p:sp>
        <p:nvSpPr>
          <p:cNvPr id="6" name="object 6"/>
          <p:cNvSpPr txBox="1">
            <a:spLocks noGrp="1"/>
          </p:cNvSpPr>
          <p:nvPr>
            <p:ph type="title" sz="quarter" idx="4294967295"/>
          </p:nvPr>
        </p:nvSpPr>
        <p:spPr>
          <a:xfrm>
            <a:off x="1666439" y="3399120"/>
            <a:ext cx="8661600" cy="1293480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marL="12598" lvl="0">
              <a:lnSpc>
                <a:spcPct val="100000"/>
              </a:lnSpc>
              <a:spcBef>
                <a:spcPts val="99"/>
              </a:spcBef>
            </a:pPr>
            <a:r>
              <a:rPr lang="en-US" sz="8400" spc="195">
                <a:solidFill>
                  <a:srgbClr val="FFFFFF"/>
                </a:solidFill>
                <a:latin typeface="Arial"/>
                <a:cs typeface="Arial"/>
              </a:rPr>
              <a:t>INTRODUCCI</a:t>
            </a:r>
            <a:r>
              <a:rPr lang="en-US" sz="8400" spc="192">
                <a:solidFill>
                  <a:srgbClr val="FFFFFF"/>
                </a:solidFill>
                <a:latin typeface="Arial"/>
                <a:cs typeface="Arial"/>
              </a:rPr>
              <a:t>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66439" y="4928400"/>
            <a:ext cx="6836399" cy="5521558"/>
          </a:xfrm>
          <a:prstGeom prst="rect">
            <a:avLst/>
          </a:prstGeom>
          <a:noFill/>
          <a:ln>
            <a:noFill/>
          </a:ln>
        </p:spPr>
        <p:txBody>
          <a:bodyPr lIns="0" tIns="12238" rIns="0" bIns="0" anchor="t">
            <a:spAutoFit/>
          </a:bodyPr>
          <a:lstStyle/>
          <a:p>
            <a:pPr algn="l"/>
            <a:r>
              <a:rPr lang="es-ES" sz="2400" b="0" i="0" dirty="0">
                <a:solidFill>
                  <a:schemeClr val="bg1"/>
                </a:solidFill>
                <a:effectLst/>
                <a:latin typeface="pplxSerif"/>
              </a:rPr>
              <a:t>En esta práctica se desarrolló el uso de una API REST mediante el manejo de peticiones HTTP con los métodos GET, POST, PUT y DELETE, utilizando herramientas de prueba para verificar el funcionamiento de cada operación. El objetivo principal fue comprender cómo se consultan, registran, actualizan y eliminan datos dentro de una colección de estudiantes, observando la respuesta del servidor en cada caso. Esta actividad permitió reforzar los conocimientos sobre el intercambio de información entre cliente y servidor, así como la importancia de estructurar correctamente las solicitudes para obtener resultados exitosos.</a:t>
            </a:r>
          </a:p>
          <a:p>
            <a:br>
              <a:rPr lang="es-ES" sz="2400" dirty="0"/>
            </a:br>
            <a:endParaRPr lang="es-ES" sz="2200" b="1" u="none" baseline="0" dirty="0">
              <a:solidFill>
                <a:srgbClr val="FFFFFF"/>
              </a:solidFill>
              <a:latin typeface="Liberation Sans"/>
              <a:ea typeface="Liberation Sans"/>
              <a:cs typeface="Liberatio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JUSTIFICA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5200"/>
          </a:xfrm>
          <a:prstGeom prst="rect">
            <a:avLst/>
          </a:prstGeom>
          <a:ln>
            <a:noFill/>
          </a:ln>
        </p:spPr>
      </p:pic>
      <p:pic>
        <p:nvPicPr>
          <p:cNvPr id="3" name="object 3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16800" y="2075039"/>
            <a:ext cx="6577200" cy="6577200"/>
          </a:xfrm>
          <a:prstGeom prst="rect">
            <a:avLst/>
          </a:prstGeom>
          <a:ln>
            <a:noFill/>
          </a:ln>
        </p:spPr>
      </p:pic>
      <p:pic>
        <p:nvPicPr>
          <p:cNvPr id="4" name="object 4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8708400"/>
            <a:ext cx="3607200" cy="919799"/>
          </a:xfrm>
          <a:prstGeom prst="rect">
            <a:avLst/>
          </a:prstGeom>
          <a:ln>
            <a:noFill/>
          </a:ln>
        </p:spPr>
      </p:pic>
      <p:pic>
        <p:nvPicPr>
          <p:cNvPr id="5" name="object 5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402800" y="0"/>
            <a:ext cx="3855599" cy="617400"/>
          </a:xfrm>
          <a:prstGeom prst="rect">
            <a:avLst/>
          </a:prstGeom>
          <a:ln>
            <a:noFill/>
          </a:ln>
        </p:spPr>
      </p:pic>
      <p:sp>
        <p:nvSpPr>
          <p:cNvPr id="6" name="object 6"/>
          <p:cNvSpPr txBox="1">
            <a:spLocks noGrp="1"/>
          </p:cNvSpPr>
          <p:nvPr>
            <p:ph type="title" sz="quarter" idx="4294967295"/>
          </p:nvPr>
        </p:nvSpPr>
        <p:spPr>
          <a:xfrm>
            <a:off x="1666439" y="3398759"/>
            <a:ext cx="8456400" cy="1305720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marL="12598" lvl="0">
              <a:lnSpc>
                <a:spcPct val="100000"/>
              </a:lnSpc>
              <a:spcBef>
                <a:spcPts val="99"/>
              </a:spcBef>
            </a:pPr>
            <a:r>
              <a:rPr lang="en-US" sz="8400" spc="201">
                <a:solidFill>
                  <a:srgbClr val="FFFFFF"/>
                </a:solidFill>
                <a:latin typeface="Arial"/>
                <a:cs typeface="Arial"/>
              </a:rPr>
              <a:t>JUSTIFICACION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66439" y="4939200"/>
            <a:ext cx="6685200" cy="5152590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algn="l"/>
            <a:r>
              <a:rPr lang="es-ES" sz="2400" b="0" i="0" dirty="0">
                <a:solidFill>
                  <a:schemeClr val="bg1"/>
                </a:solidFill>
                <a:effectLst/>
                <a:latin typeface="pplxSerif"/>
              </a:rPr>
              <a:t>La realización de esta práctica es importante porque permite aplicar de manera directa los conocimientos teóricos sobre administración de bases de datos y servicios web en un entorno real. El uso de métodos HTTP para manipular registros ayuda a entender el funcionamiento básico de muchas aplicaciones modernas, donde la información debe almacenarse, consultarse y modificarse de forma eficiente. Además, esta actividad fortalece habilidades técnicas necesarias en el desarrollo de sistemas, como la correcta elaboración de solicitudes, la interpretación de respuestas y la validación de resultados obtenidos.</a:t>
            </a:r>
          </a:p>
          <a:p>
            <a:br>
              <a:rPr lang="es-ES" sz="2400" dirty="0"/>
            </a:br>
            <a:endParaRPr lang="es-ES" sz="2200" b="1" u="none" baseline="0" dirty="0">
              <a:solidFill>
                <a:srgbClr val="D6D5D4"/>
              </a:solidFill>
              <a:latin typeface="Liberation Sans"/>
              <a:ea typeface="Liberation Sans"/>
              <a:cs typeface="Liberatio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jercicio 1- Consultar Datos G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sz="quarter" idx="4294967295"/>
          </p:nvPr>
        </p:nvSpPr>
        <p:spPr>
          <a:xfrm>
            <a:off x="1212480" y="475200"/>
            <a:ext cx="11005200" cy="409320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marL="12598" lvl="0">
              <a:lnSpc>
                <a:spcPct val="100000"/>
              </a:lnSpc>
              <a:spcBef>
                <a:spcPts val="99"/>
              </a:spcBef>
            </a:pPr>
            <a:r>
              <a:rPr lang="es-ES" sz="2600" spc="124" dirty="0">
                <a:latin typeface="Arial"/>
                <a:cs typeface="Arial"/>
              </a:rPr>
              <a:t>Consultar Datos</a:t>
            </a:r>
            <a:r>
              <a:rPr lang="es-ES" sz="2600" dirty="0">
                <a:latin typeface="Arial"/>
                <a:cs typeface="Arial"/>
              </a:rPr>
              <a:t> GET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4400" y="4978800"/>
            <a:ext cx="256680" cy="299520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marL="12598" marR="0" lvl="0" indent="0" algn="l">
              <a:lnSpc>
                <a:spcPct val="100000"/>
              </a:lnSpc>
              <a:spcBef>
                <a:spcPts val="99"/>
              </a:spcBef>
              <a:spcAft>
                <a:spcPts val="0"/>
              </a:spcAft>
              <a:buNone/>
            </a:pPr>
            <a:r>
              <a:rPr lang="en-US" sz="1800" u="none" spc="-25" baseline="0">
                <a:latin typeface="Calibri"/>
                <a:cs typeface="Calibri"/>
              </a:rPr>
              <a:t>03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854000" y="2191680"/>
            <a:ext cx="6436800" cy="2451600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u="none" baseline="0" dirty="0">
                <a:latin typeface="Arial"/>
                <a:ea typeface="Arial"/>
                <a:cs typeface="Arial"/>
              </a:rPr>
              <a:t>Pasos en Bruno:</a:t>
            </a: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u="none" baseline="0" dirty="0">
                <a:latin typeface="Arial"/>
                <a:ea typeface="Arial"/>
                <a:cs typeface="Arial"/>
              </a:rPr>
              <a:t>Seleccionar  la </a:t>
            </a:r>
            <a:r>
              <a:rPr lang="es-ES" sz="2000" u="none" baseline="0" dirty="0" err="1">
                <a:latin typeface="Arial"/>
                <a:ea typeface="Arial"/>
                <a:cs typeface="Arial"/>
              </a:rPr>
              <a:t>request</a:t>
            </a:r>
            <a:r>
              <a:rPr lang="es-ES" sz="2000" u="none" baseline="0" dirty="0">
                <a:latin typeface="Arial"/>
                <a:ea typeface="Arial"/>
                <a:cs typeface="Arial"/>
              </a:rPr>
              <a:t> GET Listar Estudiantes en la colección.</a:t>
            </a: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u="none" baseline="0" dirty="0">
                <a:latin typeface="Arial"/>
                <a:ea typeface="Arial"/>
                <a:cs typeface="Arial"/>
              </a:rPr>
              <a:t>Verificar  que la URL sea {{</a:t>
            </a:r>
            <a:r>
              <a:rPr lang="es-ES" sz="2000" u="none" baseline="0" dirty="0" err="1">
                <a:latin typeface="Arial"/>
                <a:ea typeface="Arial"/>
                <a:cs typeface="Arial"/>
              </a:rPr>
              <a:t>baseUrl</a:t>
            </a:r>
            <a:r>
              <a:rPr lang="es-ES" sz="2000" u="none" baseline="0" dirty="0">
                <a:latin typeface="Arial"/>
                <a:ea typeface="Arial"/>
                <a:cs typeface="Arial"/>
              </a:rPr>
              <a:t>}}/estudiantes.</a:t>
            </a: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u="none" baseline="0" dirty="0">
                <a:latin typeface="Arial"/>
                <a:ea typeface="Arial"/>
                <a:cs typeface="Arial"/>
              </a:rPr>
              <a:t>Asegurarse  de que no haya nada en la pestaña </a:t>
            </a:r>
            <a:r>
              <a:rPr lang="es-ES" sz="2000" u="none" baseline="0" dirty="0" err="1">
                <a:latin typeface="Arial"/>
                <a:ea typeface="Arial"/>
                <a:cs typeface="Arial"/>
              </a:rPr>
              <a:t>Body</a:t>
            </a:r>
            <a:r>
              <a:rPr lang="es-ES" sz="2000" u="none" baseline="0" dirty="0">
                <a:latin typeface="Arial"/>
                <a:ea typeface="Arial"/>
                <a:cs typeface="Arial"/>
              </a:rPr>
              <a:t>.</a:t>
            </a: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u="none" baseline="0" dirty="0">
                <a:latin typeface="Arial"/>
                <a:ea typeface="Arial"/>
                <a:cs typeface="Arial"/>
              </a:rPr>
              <a:t>Hacer  clic en el botón </a:t>
            </a:r>
            <a:r>
              <a:rPr lang="es-ES" sz="2000" u="none" baseline="0" dirty="0" err="1">
                <a:latin typeface="Arial"/>
                <a:ea typeface="Arial"/>
                <a:cs typeface="Arial"/>
              </a:rPr>
              <a:t>Send</a:t>
            </a:r>
            <a:r>
              <a:rPr lang="es-ES" sz="2000" u="none" baseline="0" dirty="0">
                <a:latin typeface="Arial"/>
                <a:ea typeface="Arial"/>
                <a:cs typeface="Arial"/>
              </a:rPr>
              <a:t> (flecha azul).</a:t>
            </a: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u="none" baseline="0" dirty="0">
                <a:latin typeface="Arial"/>
                <a:ea typeface="Arial"/>
                <a:cs typeface="Arial"/>
              </a:rPr>
              <a:t>Revisar  que en el panel inferior aparezca el status 200 OK.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57080" y="8172000"/>
            <a:ext cx="8827200" cy="560880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u="none" baseline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Resultado esperado: un arreglo JSON  [ ]  (vacío si no hay datos) o una lista de objetos estudiante.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9200" y="987840"/>
            <a:ext cx="1895039" cy="54864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endParaRPr lang="en-US"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479" y="2366640"/>
            <a:ext cx="9979200" cy="50148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jercicio 2- Consultar Datos GET po 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sz="quarter" idx="4294967295"/>
          </p:nvPr>
        </p:nvSpPr>
        <p:spPr>
          <a:xfrm>
            <a:off x="1212480" y="475200"/>
            <a:ext cx="11008800" cy="409320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marL="12598" lvl="0">
              <a:lnSpc>
                <a:spcPct val="100000"/>
              </a:lnSpc>
              <a:spcBef>
                <a:spcPts val="99"/>
              </a:spcBef>
            </a:pPr>
            <a:r>
              <a:rPr lang="es-ES" sz="2600" spc="124" dirty="0">
                <a:latin typeface="Arial"/>
                <a:cs typeface="Arial"/>
              </a:rPr>
              <a:t>Consultar Datos</a:t>
            </a:r>
            <a:r>
              <a:rPr lang="es-ES" sz="2600" dirty="0">
                <a:latin typeface="Arial"/>
                <a:cs typeface="Arial"/>
              </a:rPr>
              <a:t> GET </a:t>
            </a:r>
            <a:r>
              <a:rPr lang="es-ES" sz="2600" dirty="0" err="1">
                <a:latin typeface="Arial"/>
                <a:cs typeface="Arial"/>
              </a:rPr>
              <a:t>po</a:t>
            </a:r>
            <a:r>
              <a:rPr lang="es-ES" sz="2600" dirty="0">
                <a:latin typeface="Arial"/>
                <a:cs typeface="Arial"/>
              </a:rPr>
              <a:t> id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4400" y="4978800"/>
            <a:ext cx="256680" cy="299520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marL="12598" marR="0" lvl="0" indent="0" algn="l">
              <a:lnSpc>
                <a:spcPct val="100000"/>
              </a:lnSpc>
              <a:spcBef>
                <a:spcPts val="99"/>
              </a:spcBef>
              <a:spcAft>
                <a:spcPts val="0"/>
              </a:spcAft>
              <a:buNone/>
            </a:pPr>
            <a:r>
              <a:rPr lang="en-US" sz="1800" u="none" spc="-22" baseline="0">
                <a:latin typeface="Calibri"/>
                <a:cs typeface="Calibri"/>
              </a:rPr>
              <a:t>03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854000" y="2191680"/>
            <a:ext cx="6440400" cy="2167157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u="none" baseline="0" dirty="0">
                <a:latin typeface="Arial"/>
                <a:ea typeface="Arial"/>
                <a:cs typeface="Arial"/>
              </a:rPr>
              <a:t>Seleccionar  la </a:t>
            </a:r>
            <a:r>
              <a:rPr lang="es-ES" sz="2000" u="none" baseline="0" dirty="0" err="1">
                <a:latin typeface="Arial"/>
                <a:ea typeface="Arial"/>
                <a:cs typeface="Arial"/>
              </a:rPr>
              <a:t>request</a:t>
            </a:r>
            <a:r>
              <a:rPr lang="es-ES" sz="2000" u="none" baseline="0" dirty="0">
                <a:latin typeface="Arial"/>
                <a:ea typeface="Arial"/>
                <a:cs typeface="Arial"/>
              </a:rPr>
              <a:t> GET Por ID.</a:t>
            </a: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u="none" baseline="0" dirty="0">
                <a:latin typeface="Arial"/>
                <a:ea typeface="Arial"/>
                <a:cs typeface="Arial"/>
              </a:rPr>
              <a:t>En  la URL cambiar el número final por el ID del estudiante a buscar  (ejemplo: /1, /2, /3).</a:t>
            </a: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u="none" baseline="0" dirty="0">
                <a:latin typeface="Arial"/>
                <a:ea typeface="Arial"/>
                <a:cs typeface="Arial"/>
              </a:rPr>
              <a:t>Clic  en </a:t>
            </a:r>
            <a:r>
              <a:rPr lang="es-ES" sz="2000" u="none" baseline="0" dirty="0" err="1">
                <a:latin typeface="Arial"/>
                <a:ea typeface="Arial"/>
                <a:cs typeface="Arial"/>
              </a:rPr>
              <a:t>Send</a:t>
            </a:r>
            <a:r>
              <a:rPr lang="es-ES" sz="2000" u="none" baseline="0" dirty="0">
                <a:latin typeface="Arial"/>
                <a:ea typeface="Arial"/>
                <a:cs typeface="Arial"/>
              </a:rPr>
              <a:t>.</a:t>
            </a: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u="none" baseline="0" dirty="0">
                <a:latin typeface="Arial"/>
                <a:ea typeface="Arial"/>
                <a:cs typeface="Arial"/>
              </a:rPr>
              <a:t>Revisar  que el status sea 200 OK y que el JSON corresponda al estudiante  correcto.</a:t>
            </a:r>
            <a:br>
              <a:rPr lang="es-ES" sz="2000" u="none" baseline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endParaRPr lang="es-ES" sz="2000" u="none" baseline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57080" y="8172000"/>
            <a:ext cx="8830800" cy="560880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u="none" baseline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Qué hace: regresa los datos de un único estudiante usando su ID. Primero es necesario haber registrado al menos uno (Prueba POST más abajo).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9200" y="987840"/>
            <a:ext cx="1895039" cy="54864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endParaRPr lang="en-US"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079" y="2280240"/>
            <a:ext cx="10159200" cy="5169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jercicio 3- Registrar Datos con POS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sz="quarter" idx="4294967295"/>
          </p:nvPr>
        </p:nvSpPr>
        <p:spPr>
          <a:xfrm>
            <a:off x="1212480" y="475200"/>
            <a:ext cx="11026800" cy="409320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marL="12598" lvl="0">
              <a:lnSpc>
                <a:spcPct val="100000"/>
              </a:lnSpc>
              <a:spcBef>
                <a:spcPts val="99"/>
              </a:spcBef>
            </a:pPr>
            <a:r>
              <a:rPr lang="es-ES" sz="2600" spc="124" dirty="0">
                <a:latin typeface="Arial"/>
                <a:cs typeface="Arial"/>
              </a:rPr>
              <a:t>Registrar Datos con </a:t>
            </a:r>
            <a:r>
              <a:rPr lang="es-ES" sz="2600" dirty="0">
                <a:latin typeface="Arial"/>
                <a:cs typeface="Arial"/>
              </a:rPr>
              <a:t>POST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4400" y="4978800"/>
            <a:ext cx="256680" cy="299520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marL="12598" marR="0" lvl="0" indent="0" algn="l">
              <a:lnSpc>
                <a:spcPct val="100000"/>
              </a:lnSpc>
              <a:spcBef>
                <a:spcPts val="99"/>
              </a:spcBef>
              <a:spcAft>
                <a:spcPts val="0"/>
              </a:spcAft>
              <a:buNone/>
            </a:pPr>
            <a:r>
              <a:rPr lang="en-US" sz="1800" u="none" spc="-22" baseline="0">
                <a:latin typeface="Calibri"/>
                <a:cs typeface="Calibri"/>
              </a:rPr>
              <a:t>03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096000" y="2134080"/>
            <a:ext cx="6443999" cy="1231920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u="none" baseline="0" dirty="0">
                <a:latin typeface="Arial"/>
                <a:ea typeface="Arial"/>
                <a:cs typeface="Arial"/>
              </a:rPr>
              <a:t>Seleccionar  la </a:t>
            </a:r>
            <a:r>
              <a:rPr lang="es-ES" sz="2000" u="none" baseline="0" dirty="0" err="1">
                <a:latin typeface="Arial"/>
                <a:ea typeface="Arial"/>
                <a:cs typeface="Arial"/>
              </a:rPr>
              <a:t>request</a:t>
            </a:r>
            <a:r>
              <a:rPr lang="es-ES" sz="2000" u="none" baseline="0" dirty="0">
                <a:latin typeface="Arial"/>
                <a:ea typeface="Arial"/>
                <a:cs typeface="Arial"/>
              </a:rPr>
              <a:t> POST Registrar Estudiante.</a:t>
            </a: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u="none" baseline="0" dirty="0">
                <a:latin typeface="Arial"/>
                <a:ea typeface="Arial"/>
                <a:cs typeface="Arial"/>
              </a:rPr>
              <a:t>Ir  a la pestaña </a:t>
            </a:r>
            <a:r>
              <a:rPr lang="es-ES" sz="2000" u="none" baseline="0" dirty="0" err="1">
                <a:latin typeface="Arial"/>
                <a:ea typeface="Arial"/>
                <a:cs typeface="Arial"/>
              </a:rPr>
              <a:t>Body</a:t>
            </a:r>
            <a:r>
              <a:rPr lang="es-ES" sz="2000" u="none" baseline="0" dirty="0">
                <a:latin typeface="Arial"/>
                <a:ea typeface="Arial"/>
                <a:cs typeface="Arial"/>
              </a:rPr>
              <a:t> y seleccionar el tipo JSON.</a:t>
            </a: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u="none" baseline="0" dirty="0">
                <a:latin typeface="Arial"/>
                <a:ea typeface="Arial"/>
                <a:cs typeface="Arial"/>
              </a:rPr>
              <a:t>Borrar  cualquier contenido anterior y pegar exactamente este JSON: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57080" y="8172000"/>
            <a:ext cx="8830800" cy="256680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lvl="0">
              <a:buNone/>
            </a:pP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376041" y="884520"/>
            <a:ext cx="1895039" cy="54864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endParaRPr lang="en-US"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360" y="2346120"/>
            <a:ext cx="11260800" cy="57312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jercicio 4- Actualizar datos del Estudiante 1 Con P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sz="quarter" idx="4294967295"/>
          </p:nvPr>
        </p:nvSpPr>
        <p:spPr>
          <a:xfrm>
            <a:off x="1212480" y="475200"/>
            <a:ext cx="11026800" cy="566719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marL="12598" lvl="0">
              <a:lnSpc>
                <a:spcPct val="100000"/>
              </a:lnSpc>
              <a:spcBef>
                <a:spcPts val="99"/>
              </a:spcBef>
            </a:pPr>
            <a:r>
              <a:rPr lang="es-ES" sz="3600" spc="124" dirty="0">
                <a:latin typeface="Arial"/>
                <a:cs typeface="Arial"/>
              </a:rPr>
              <a:t> </a:t>
            </a:r>
            <a:r>
              <a:rPr lang="es-ES" sz="2400" b="1" dirty="0">
                <a:latin typeface="Arial"/>
                <a:cs typeface="Arial"/>
              </a:rPr>
              <a:t>Actualizar datos del Estudiante 1</a:t>
            </a:r>
            <a:r>
              <a:rPr lang="es-ES" sz="2800" dirty="0">
                <a:latin typeface="Arial"/>
                <a:cs typeface="Arial"/>
              </a:rPr>
              <a:t>Con PUT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4400" y="4978800"/>
            <a:ext cx="256680" cy="299520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marL="12598" marR="0" lvl="0" indent="0" algn="l">
              <a:lnSpc>
                <a:spcPct val="100000"/>
              </a:lnSpc>
              <a:spcBef>
                <a:spcPts val="99"/>
              </a:spcBef>
              <a:spcAft>
                <a:spcPts val="0"/>
              </a:spcAft>
              <a:buNone/>
            </a:pPr>
            <a:r>
              <a:rPr lang="en-US" sz="1800" u="none" spc="-22" baseline="0">
                <a:latin typeface="Calibri"/>
                <a:cs typeface="Calibri"/>
              </a:rPr>
              <a:t>03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113200" y="2134080"/>
            <a:ext cx="6451199" cy="3059709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u="none" baseline="0" dirty="0">
                <a:latin typeface="Arial"/>
                <a:ea typeface="Arial"/>
                <a:cs typeface="Arial"/>
              </a:rPr>
              <a:t>Seleccionar  la </a:t>
            </a:r>
            <a:r>
              <a:rPr lang="es-ES" sz="2000" u="none" baseline="0" dirty="0" err="1">
                <a:latin typeface="Arial"/>
                <a:ea typeface="Arial"/>
                <a:cs typeface="Arial"/>
              </a:rPr>
              <a:t>request</a:t>
            </a:r>
            <a:r>
              <a:rPr lang="es-ES" sz="2000" u="none" baseline="0" dirty="0">
                <a:latin typeface="Arial"/>
                <a:ea typeface="Arial"/>
                <a:cs typeface="Arial"/>
              </a:rPr>
              <a:t> PUT Actualizar Estudiante.</a:t>
            </a: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u="none" baseline="0" dirty="0">
                <a:latin typeface="Arial"/>
                <a:ea typeface="Arial"/>
                <a:cs typeface="Arial"/>
              </a:rPr>
              <a:t>Cambiar  el número en la URL por el ID del estudiante a actualizar.</a:t>
            </a: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u="none" baseline="0" dirty="0">
                <a:latin typeface="Arial"/>
                <a:ea typeface="Arial"/>
                <a:cs typeface="Arial"/>
              </a:rPr>
              <a:t>En  </a:t>
            </a:r>
            <a:r>
              <a:rPr lang="es-ES" sz="2000" u="none" baseline="0" dirty="0" err="1">
                <a:latin typeface="Arial"/>
                <a:ea typeface="Arial"/>
                <a:cs typeface="Arial"/>
              </a:rPr>
              <a:t>Body</a:t>
            </a:r>
            <a:r>
              <a:rPr lang="es-ES" sz="2000" u="none" baseline="0" dirty="0">
                <a:latin typeface="Arial"/>
                <a:ea typeface="Arial"/>
                <a:cs typeface="Arial"/>
              </a:rPr>
              <a:t> pegar el JSON completo con los cambios deseados</a:t>
            </a: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u="none" baseline="0" dirty="0">
                <a:latin typeface="Arial"/>
                <a:ea typeface="Arial"/>
                <a:cs typeface="Arial"/>
              </a:rPr>
              <a:t>Clic  en </a:t>
            </a:r>
            <a:r>
              <a:rPr lang="es-ES" sz="2000" u="none" baseline="0" dirty="0" err="1">
                <a:latin typeface="Arial"/>
                <a:ea typeface="Arial"/>
                <a:cs typeface="Arial"/>
              </a:rPr>
              <a:t>Send</a:t>
            </a:r>
            <a:r>
              <a:rPr lang="es-ES" sz="2000" u="none" baseline="0" dirty="0">
                <a:latin typeface="Arial"/>
                <a:ea typeface="Arial"/>
                <a:cs typeface="Arial"/>
              </a:rPr>
              <a:t> y verificar que el status sea 200 OK.</a:t>
            </a: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u="none" baseline="0" dirty="0">
                <a:latin typeface="Arial"/>
                <a:ea typeface="Arial"/>
                <a:cs typeface="Arial"/>
              </a:rPr>
              <a:t>En  la respuesta confirmar que el campo semestre ahora muestra 5 y la  dirección cambió.</a:t>
            </a:r>
            <a:br>
              <a:rPr lang="es-ES" sz="2000" u="none" baseline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endParaRPr lang="es-ES" sz="2000" u="none" baseline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57080" y="8172000"/>
            <a:ext cx="8830800" cy="256680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lvl="0">
              <a:buNone/>
            </a:pP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909200" y="987840"/>
            <a:ext cx="1895039" cy="54864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endParaRPr lang="en-US"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440" y="2134080"/>
            <a:ext cx="10684800" cy="5436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jercicio 5 Eliminar estudiante DELE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sz="quarter" idx="4294967295"/>
          </p:nvPr>
        </p:nvSpPr>
        <p:spPr>
          <a:xfrm>
            <a:off x="1212480" y="475200"/>
            <a:ext cx="11041200" cy="561960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marL="12598" lvl="0">
              <a:lnSpc>
                <a:spcPct val="100000"/>
              </a:lnSpc>
              <a:spcBef>
                <a:spcPts val="99"/>
              </a:spcBef>
            </a:pPr>
            <a:r>
              <a:rPr lang="es-ES" sz="3600" spc="124" dirty="0">
                <a:latin typeface="Arial"/>
                <a:cs typeface="Arial"/>
              </a:rPr>
              <a:t>Eliminar estudiante DELETE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4400" y="4978800"/>
            <a:ext cx="256680" cy="299520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marL="12598" marR="0" lvl="0" indent="0" algn="l">
              <a:lnSpc>
                <a:spcPct val="100000"/>
              </a:lnSpc>
              <a:spcBef>
                <a:spcPts val="99"/>
              </a:spcBef>
              <a:spcAft>
                <a:spcPts val="0"/>
              </a:spcAft>
              <a:buNone/>
            </a:pPr>
            <a:r>
              <a:rPr lang="en-US" sz="1800" u="none" spc="-22" baseline="0">
                <a:latin typeface="Calibri"/>
                <a:cs typeface="Calibri"/>
              </a:rPr>
              <a:t>03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113200" y="2134080"/>
            <a:ext cx="6454800" cy="3736817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u="none" baseline="0" dirty="0">
                <a:latin typeface="Arial"/>
                <a:ea typeface="Arial"/>
                <a:cs typeface="Arial"/>
              </a:rPr>
              <a:t>Seleccionar  la </a:t>
            </a:r>
            <a:r>
              <a:rPr lang="es-ES" sz="2200" u="none" baseline="0" dirty="0" err="1">
                <a:latin typeface="Arial"/>
                <a:ea typeface="Arial"/>
                <a:cs typeface="Arial"/>
              </a:rPr>
              <a:t>request</a:t>
            </a:r>
            <a:r>
              <a:rPr lang="es-ES" sz="2200" u="none" baseline="0" dirty="0">
                <a:latin typeface="Arial"/>
                <a:ea typeface="Arial"/>
                <a:cs typeface="Arial"/>
              </a:rPr>
              <a:t> DELETE Eliminar Estudiante.</a:t>
            </a: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u="none" baseline="0" dirty="0">
                <a:latin typeface="Arial"/>
                <a:ea typeface="Arial"/>
                <a:cs typeface="Arial"/>
              </a:rPr>
              <a:t>Cambiar  el número de la URL por el ID del estudiante a eliminar.</a:t>
            </a: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u="none" baseline="0" dirty="0">
                <a:latin typeface="Arial"/>
                <a:ea typeface="Arial"/>
                <a:cs typeface="Arial"/>
              </a:rPr>
              <a:t>Asegurarse  de que </a:t>
            </a:r>
            <a:r>
              <a:rPr lang="es-ES" sz="2200" u="none" baseline="0" dirty="0" err="1">
                <a:latin typeface="Arial"/>
                <a:ea typeface="Arial"/>
                <a:cs typeface="Arial"/>
              </a:rPr>
              <a:t>Body</a:t>
            </a:r>
            <a:r>
              <a:rPr lang="es-ES" sz="2200" u="none" baseline="0" dirty="0">
                <a:latin typeface="Arial"/>
                <a:ea typeface="Arial"/>
                <a:cs typeface="Arial"/>
              </a:rPr>
              <a:t> esté en </a:t>
            </a:r>
            <a:r>
              <a:rPr lang="es-ES" sz="2200" u="none" baseline="0" dirty="0" err="1">
                <a:latin typeface="Arial"/>
                <a:ea typeface="Arial"/>
                <a:cs typeface="Arial"/>
              </a:rPr>
              <a:t>None</a:t>
            </a:r>
            <a:r>
              <a:rPr lang="es-ES" sz="2200" u="none" baseline="0" dirty="0">
                <a:latin typeface="Arial"/>
                <a:ea typeface="Arial"/>
                <a:cs typeface="Arial"/>
              </a:rPr>
              <a:t> o vacío.</a:t>
            </a: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u="none" baseline="0" dirty="0">
                <a:latin typeface="Arial"/>
                <a:ea typeface="Arial"/>
                <a:cs typeface="Arial"/>
              </a:rPr>
              <a:t>Clic  en </a:t>
            </a:r>
            <a:r>
              <a:rPr lang="es-ES" sz="2200" u="none" baseline="0" dirty="0" err="1">
                <a:latin typeface="Arial"/>
                <a:ea typeface="Arial"/>
                <a:cs typeface="Arial"/>
              </a:rPr>
              <a:t>Send</a:t>
            </a:r>
            <a:r>
              <a:rPr lang="es-ES" sz="2200" u="none" baseline="0" dirty="0">
                <a:latin typeface="Arial"/>
                <a:ea typeface="Arial"/>
                <a:cs typeface="Arial"/>
              </a:rPr>
              <a:t>.</a:t>
            </a: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u="none" baseline="0" dirty="0">
                <a:latin typeface="Arial"/>
                <a:ea typeface="Arial"/>
                <a:cs typeface="Arial"/>
              </a:rPr>
              <a:t>Verificar  que el status sea 204 No Content — el panel de respuesta estará  vacío, eso es correcto.</a:t>
            </a: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u="none" baseline="0" dirty="0">
                <a:latin typeface="Arial"/>
                <a:ea typeface="Arial"/>
                <a:cs typeface="Arial"/>
              </a:rPr>
              <a:t>Ejecutar  de nuevo la Prueba 1 (GET listar) para confirmar que el estudiante  ya no </a:t>
            </a:r>
            <a:r>
              <a:rPr lang="es-ES" sz="2200" u="none" baseline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aparece.</a:t>
            </a:r>
            <a:br>
              <a:rPr lang="es-ES" sz="2200" u="none" baseline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endParaRPr lang="es-ES" sz="2200" u="none" baseline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57080" y="8172000"/>
            <a:ext cx="8830800" cy="256680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lvl="0">
              <a:buNone/>
            </a:pP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909200" y="987840"/>
            <a:ext cx="1895039" cy="54864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endParaRPr lang="en-US"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920" y="1838519"/>
            <a:ext cx="10742400" cy="54648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0098521" name="Freeform 8"/>
          <p:cNvSpPr/>
          <p:nvPr/>
        </p:nvSpPr>
        <p:spPr bwMode="auto">
          <a:xfrm>
            <a:off x="422428" y="521890"/>
            <a:ext cx="5802027" cy="4114165"/>
          </a:xfrm>
          <a:custGeom>
            <a:avLst/>
            <a:gdLst/>
            <a:ahLst/>
            <a:cxnLst/>
            <a:rect l="l" t="t" r="r" b="b"/>
            <a:pathLst>
              <a:path w="5802923" h="4114800" extrusionOk="0">
                <a:moveTo>
                  <a:pt x="0" y="0"/>
                </a:moveTo>
                <a:lnTo>
                  <a:pt x="5802923" y="0"/>
                </a:lnTo>
                <a:lnTo>
                  <a:pt x="58029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sp>
        <p:nvSpPr>
          <p:cNvPr id="837217533" name="Freeform 9"/>
          <p:cNvSpPr/>
          <p:nvPr/>
        </p:nvSpPr>
        <p:spPr bwMode="auto">
          <a:xfrm flipH="1" flipV="1">
            <a:off x="12063546" y="5772470"/>
            <a:ext cx="5802027" cy="4114165"/>
          </a:xfrm>
          <a:custGeom>
            <a:avLst/>
            <a:gdLst/>
            <a:ahLst/>
            <a:cxnLst/>
            <a:rect l="l" t="t" r="r" b="b"/>
            <a:pathLst>
              <a:path w="5802923" h="4114800" extrusionOk="0">
                <a:moveTo>
                  <a:pt x="580292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802923" y="0"/>
                </a:lnTo>
                <a:lnTo>
                  <a:pt x="5802923" y="411480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</p:spPr>
      </p:sp>
      <p:sp>
        <p:nvSpPr>
          <p:cNvPr id="552871635" name="AutoShape 10"/>
          <p:cNvSpPr/>
          <p:nvPr/>
        </p:nvSpPr>
        <p:spPr bwMode="auto">
          <a:xfrm flipV="1">
            <a:off x="6528951" y="607601"/>
            <a:ext cx="10940552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1365982969" name="AutoShape 11"/>
          <p:cNvSpPr/>
          <p:nvPr/>
        </p:nvSpPr>
        <p:spPr bwMode="auto">
          <a:xfrm flipH="1">
            <a:off x="754179" y="9743783"/>
            <a:ext cx="10940552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1237816248" name="TextBox 12"/>
          <p:cNvSpPr txBox="1"/>
          <p:nvPr/>
        </p:nvSpPr>
        <p:spPr bwMode="auto">
          <a:xfrm>
            <a:off x="6224455" y="4465192"/>
            <a:ext cx="6635253" cy="21541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s-ES" sz="2799" dirty="0">
                <a:latin typeface="pplxSerif"/>
              </a:rPr>
              <a:t>Anexo link de </a:t>
            </a:r>
            <a:r>
              <a:rPr lang="es-ES" sz="2799" dirty="0" err="1">
                <a:latin typeface="pplxSerif"/>
              </a:rPr>
              <a:t>git</a:t>
            </a:r>
            <a:r>
              <a:rPr lang="es-ES" sz="2799" dirty="0">
                <a:latin typeface="pplxSerif"/>
              </a:rPr>
              <a:t> con las actividades correspondientes https://github.com/eddiCastS/PRUEBAS-EN-BRUNO.git</a:t>
            </a:r>
          </a:p>
          <a:p>
            <a:pPr algn="l"/>
            <a:endParaRPr lang="es-ES" sz="2799" dirty="0">
              <a:solidFill>
                <a:schemeClr val="bg1"/>
              </a:solidFill>
              <a:latin typeface="pplxSerif"/>
            </a:endParaRPr>
          </a:p>
        </p:txBody>
      </p:sp>
      <p:sp>
        <p:nvSpPr>
          <p:cNvPr id="702311257" name="TextBox 13"/>
          <p:cNvSpPr txBox="1"/>
          <p:nvPr/>
        </p:nvSpPr>
        <p:spPr bwMode="auto">
          <a:xfrm>
            <a:off x="4186760" y="1758763"/>
            <a:ext cx="9914480" cy="1064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56"/>
              </a:lnSpc>
              <a:defRPr/>
            </a:pPr>
            <a:r>
              <a:rPr lang="en-US" sz="6249" spc="181" dirty="0">
                <a:latin typeface="Etna Sans Serif"/>
                <a:ea typeface="Etna Sans Serif"/>
                <a:cs typeface="Etna Sans Serif"/>
              </a:rPr>
              <a:t>Link de git hub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5200"/>
          </a:xfrm>
          <a:prstGeom prst="rect">
            <a:avLst/>
          </a:prstGeom>
          <a:ln>
            <a:noFill/>
          </a:ln>
        </p:spPr>
      </p:pic>
      <p:pic>
        <p:nvPicPr>
          <p:cNvPr id="3" name="object 3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16800" y="2075039"/>
            <a:ext cx="6577200" cy="6577200"/>
          </a:xfrm>
          <a:prstGeom prst="rect">
            <a:avLst/>
          </a:prstGeom>
          <a:ln>
            <a:noFill/>
          </a:ln>
        </p:spPr>
      </p:pic>
      <p:pic>
        <p:nvPicPr>
          <p:cNvPr id="4" name="object 4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8708400"/>
            <a:ext cx="3607200" cy="919799"/>
          </a:xfrm>
          <a:prstGeom prst="rect">
            <a:avLst/>
          </a:prstGeom>
          <a:ln>
            <a:noFill/>
          </a:ln>
        </p:spPr>
      </p:pic>
      <p:pic>
        <p:nvPicPr>
          <p:cNvPr id="5" name="object 5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402800" y="0"/>
            <a:ext cx="3855599" cy="617400"/>
          </a:xfrm>
          <a:prstGeom prst="rect">
            <a:avLst/>
          </a:prstGeom>
          <a:ln>
            <a:noFill/>
          </a:ln>
        </p:spPr>
      </p:pic>
      <p:sp>
        <p:nvSpPr>
          <p:cNvPr id="6" name="object 6"/>
          <p:cNvSpPr txBox="1">
            <a:spLocks noGrp="1"/>
          </p:cNvSpPr>
          <p:nvPr>
            <p:ph type="title" sz="quarter" idx="4294967295"/>
          </p:nvPr>
        </p:nvSpPr>
        <p:spPr>
          <a:xfrm>
            <a:off x="1666439" y="3398759"/>
            <a:ext cx="8456400" cy="1305720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marL="12598" lvl="0">
              <a:lnSpc>
                <a:spcPct val="100000"/>
              </a:lnSpc>
              <a:spcBef>
                <a:spcPts val="99"/>
              </a:spcBef>
            </a:pPr>
            <a:r>
              <a:rPr lang="en-US" sz="8400" spc="201" dirty="0">
                <a:solidFill>
                  <a:srgbClr val="FFFFFF"/>
                </a:solidFill>
                <a:latin typeface="Arial"/>
                <a:cs typeface="Arial"/>
              </a:rPr>
              <a:t>CONCLUSION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66439" y="4939200"/>
            <a:ext cx="6685200" cy="4783258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algn="l"/>
            <a:r>
              <a:rPr lang="es-ES" sz="2400" b="0" i="0" dirty="0">
                <a:solidFill>
                  <a:schemeClr val="bg1"/>
                </a:solidFill>
                <a:effectLst/>
                <a:latin typeface="pplxSerif"/>
              </a:rPr>
              <a:t>Al finalizar la práctica, se logró identificar el comportamiento de una API REST al ejecutar operaciones básicas sobre datos de estudiantes mediante los métodos GET, POST, PUT y DELETE. También se comprobó la utilidad de estas herramientas para probar y validar el funcionamiento de los servicios antes de integrarlos en una aplicación completa. En conclusión, esta actividad contribuyó al desarrollo de conocimientos prácticos sobre la comunicación entre sistemas y el manejo de información en aplicaciones web.</a:t>
            </a:r>
          </a:p>
          <a:p>
            <a:br>
              <a:rPr lang="es-ES" sz="2400" dirty="0"/>
            </a:br>
            <a:endParaRPr lang="es-ES" sz="2200" b="1" u="none" baseline="0" dirty="0">
              <a:solidFill>
                <a:srgbClr val="D6D5D4"/>
              </a:solidFill>
              <a:latin typeface="Liberation Sans"/>
              <a:ea typeface="Liberation Sans"/>
              <a:cs typeface="Liberation Sans"/>
            </a:endParaRPr>
          </a:p>
        </p:txBody>
      </p:sp>
    </p:spTree>
    <p:extLst>
      <p:ext uri="{BB962C8B-B14F-4D97-AF65-F5344CB8AC3E}">
        <p14:creationId xmlns:p14="http://schemas.microsoft.com/office/powerpoint/2010/main" val="1338344558"/>
      </p:ext>
    </p:extLst>
  </p:cSld>
  <p:clrMapOvr>
    <a:masterClrMapping/>
  </p:clrMapOvr>
</p:sld>
</file>

<file path=ppt/theme/theme1.xml><?xml version="1.0" encoding="utf-8"?>
<a:theme xmlns:a="http://schemas.openxmlformats.org/drawingml/2006/main" name="Blank_Blan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itle_20_and_20_Content_Title_20_and_20_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737</Words>
  <Application>Microsoft Office PowerPoint</Application>
  <PresentationFormat>Personalizado</PresentationFormat>
  <Paragraphs>71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Arial</vt:lpstr>
      <vt:lpstr>Calibri</vt:lpstr>
      <vt:lpstr>Etna Sans Serif</vt:lpstr>
      <vt:lpstr>Liberation Sans</vt:lpstr>
      <vt:lpstr>pplxSerif</vt:lpstr>
      <vt:lpstr>Blank_Blank</vt:lpstr>
      <vt:lpstr>Title_20_and_20_Content_Title_20_and_20_Content</vt:lpstr>
      <vt:lpstr>Presentación de PowerPoint</vt:lpstr>
      <vt:lpstr>INTRODUCCION</vt:lpstr>
      <vt:lpstr>JUSTIFICACION</vt:lpstr>
      <vt:lpstr>Consultar Datos GET</vt:lpstr>
      <vt:lpstr>Consultar Datos GET po id</vt:lpstr>
      <vt:lpstr>Registrar Datos con POST</vt:lpstr>
      <vt:lpstr> Actualizar datos del Estudiante 1Con PUT</vt:lpstr>
      <vt:lpstr>Eliminar estudiante DELETE</vt:lpstr>
      <vt:lpstr>Presentación de PowerPoint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Eddi Castillo</dc:creator>
  <cp:lastModifiedBy>eddi castillo</cp:lastModifiedBy>
  <cp:revision>4</cp:revision>
  <dcterms:modified xsi:type="dcterms:W3CDTF">2026-06-05T16:10:07Z</dcterms:modified>
</cp:coreProperties>
</file>