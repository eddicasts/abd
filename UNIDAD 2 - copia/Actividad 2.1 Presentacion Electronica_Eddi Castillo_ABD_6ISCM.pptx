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5143500" type="screen16x9"/>
  <p:notesSz cx="5143500" cy="9144000"/>
  <p:defaultTextStyle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2880">
          <p15:clr>
            <a:srgbClr val="A4A3A4"/>
          </p15:clr>
        </p15:guide>
        <p15:guide id="2" orient="horz" pos="16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15" d="100"/>
          <a:sy n="115" d="100"/>
        </p:scale>
        <p:origin x="514" y="-173"/>
      </p:cViewPr>
      <p:guideLst>
        <p:guide pos="2880"/>
        <p:guide orient="horz" pos="16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9482405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43139213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5282F153-3F37-0F45-9E97-73ACFA13230C}" type="datetimeFigureOut">
              <a:rPr lang="en-US"/>
              <a:t>6/3/2026</a:t>
            </a:fld>
            <a:endParaRPr lang="en-US"/>
          </a:p>
        </p:txBody>
      </p:sp>
      <p:sp>
        <p:nvSpPr>
          <p:cNvPr id="1022562788" name="Slide Image Placeholder 3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962042047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135894449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943416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CE5E9CC1-C706-0F49-92D6-E571CC5EEA8F}" type="slidenum">
              <a:rPr lang="en-US"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8859840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91246389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74828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9733E4E-6024-1A11-98B5-D5647DFB04C3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7101754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40411161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805572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9487057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9860746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0488797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9052931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8265852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795163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2698701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5339369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680190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4739038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0015486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1795813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100029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7243851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9406775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6674924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7450220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1909612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7080173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3013777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0499812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5473917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21365569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518668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7106789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20091890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6985785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2669229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64153924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1870454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4363600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56912809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051514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7779037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5774106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6552566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1647247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97491654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5184402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7204348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60541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7505132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407831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74947307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6191603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6083098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26658383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145111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18</a:t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2851641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034090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5939323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19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6114304" name="CuadroTexto 1216114303"/>
          <p:cNvSpPr txBox="1"/>
          <p:nvPr/>
        </p:nvSpPr>
        <p:spPr bwMode="auto">
          <a:xfrm>
            <a:off x="2200272" y="853040"/>
            <a:ext cx="4540107" cy="35969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algn="ctr">
              <a:defRPr/>
            </a:pPr>
            <a:r>
              <a:rPr lang="en-US" sz="12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Instituto Tecnológico de Frontera Comalapa</a:t>
            </a:r>
            <a:endParaRPr sz="1400" b="1">
              <a:solidFill>
                <a:schemeClr val="tx1"/>
              </a:solidFill>
              <a:latin typeface="Arial"/>
              <a:cs typeface="Arial"/>
            </a:endParaRPr>
          </a:p>
          <a:p>
            <a:pPr algn="ctr">
              <a:defRPr/>
            </a:pPr>
            <a:r>
              <a:rPr lang="en-US" sz="12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Modalidad Mixta</a:t>
            </a:r>
            <a:endParaRPr sz="1400" b="1">
              <a:solidFill>
                <a:schemeClr val="tx1"/>
              </a:solidFill>
              <a:latin typeface="Arial"/>
              <a:cs typeface="Arial"/>
            </a:endParaRPr>
          </a:p>
          <a:p>
            <a:pPr algn="ctr">
              <a:defRPr/>
            </a:pPr>
            <a:endParaRPr sz="1400" b="1">
              <a:solidFill>
                <a:schemeClr val="tx1"/>
              </a:solidFill>
              <a:latin typeface="Arial"/>
              <a:cs typeface="Arial"/>
            </a:endParaRPr>
          </a:p>
          <a:p>
            <a:pPr algn="ctr">
              <a:defRPr/>
            </a:pPr>
            <a:r>
              <a:rPr lang="en-US" sz="12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Materia:</a:t>
            </a:r>
            <a:endParaRPr sz="1400" b="1">
              <a:solidFill>
                <a:schemeClr val="tx1"/>
              </a:solidFill>
              <a:latin typeface="Arial"/>
              <a:cs typeface="Arial"/>
            </a:endParaRPr>
          </a:p>
          <a:p>
            <a:pPr algn="ctr">
              <a:defRPr/>
            </a:pPr>
            <a:r>
              <a:rPr lang="es-ES" sz="1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Administración de base de datos</a:t>
            </a:r>
            <a:endParaRPr sz="1400">
              <a:solidFill>
                <a:schemeClr val="tx1"/>
              </a:solidFill>
              <a:latin typeface="Arial"/>
              <a:cs typeface="Arial"/>
            </a:endParaRPr>
          </a:p>
          <a:p>
            <a:pPr algn="ctr">
              <a:defRPr/>
            </a:pPr>
            <a:r>
              <a:rPr lang="en-US" sz="12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Semestre:</a:t>
            </a:r>
            <a:endParaRPr sz="1400" b="1">
              <a:solidFill>
                <a:schemeClr val="tx1"/>
              </a:solidFill>
              <a:latin typeface="Arial"/>
              <a:cs typeface="Arial"/>
            </a:endParaRPr>
          </a:p>
          <a:p>
            <a:pPr algn="ctr"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Sexto semestre</a:t>
            </a:r>
            <a:endParaRPr sz="1400">
              <a:solidFill>
                <a:schemeClr val="tx1"/>
              </a:solidFill>
              <a:latin typeface="Arial"/>
              <a:cs typeface="Arial"/>
            </a:endParaRPr>
          </a:p>
          <a:p>
            <a:pPr algn="ctr">
              <a:defRPr/>
            </a:pPr>
            <a:r>
              <a:rPr lang="en-US" sz="12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Especialidad:</a:t>
            </a:r>
            <a:endParaRPr sz="1400" b="1">
              <a:solidFill>
                <a:schemeClr val="tx1"/>
              </a:solidFill>
              <a:latin typeface="Arial"/>
              <a:cs typeface="Arial"/>
            </a:endParaRPr>
          </a:p>
          <a:p>
            <a:pPr algn="ctr"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Ingeniería en Sistemas Computacionales.</a:t>
            </a:r>
            <a:endParaRPr sz="1400">
              <a:solidFill>
                <a:schemeClr val="tx1"/>
              </a:solidFill>
              <a:latin typeface="Arial"/>
              <a:cs typeface="Arial"/>
            </a:endParaRPr>
          </a:p>
          <a:p>
            <a:pPr algn="ctr">
              <a:defRPr/>
            </a:pPr>
            <a:r>
              <a:rPr lang="en-US" sz="12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Numero de control:</a:t>
            </a:r>
            <a:endParaRPr sz="1400" b="1">
              <a:solidFill>
                <a:schemeClr val="tx1"/>
              </a:solidFill>
              <a:latin typeface="Arial"/>
              <a:cs typeface="Arial"/>
            </a:endParaRPr>
          </a:p>
          <a:p>
            <a:pPr algn="ctr"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231260005</a:t>
            </a:r>
            <a:endParaRPr sz="1400">
              <a:solidFill>
                <a:schemeClr val="tx1"/>
              </a:solidFill>
              <a:latin typeface="Arial"/>
              <a:cs typeface="Arial"/>
            </a:endParaRPr>
          </a:p>
          <a:p>
            <a:pPr algn="ctr">
              <a:defRPr/>
            </a:pPr>
            <a:r>
              <a:rPr lang="en-US" sz="12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Nombre del alumno:</a:t>
            </a:r>
            <a:endParaRPr sz="1400">
              <a:solidFill>
                <a:schemeClr val="tx1"/>
              </a:solidFill>
              <a:latin typeface="Arial"/>
              <a:cs typeface="Arial"/>
            </a:endParaRPr>
          </a:p>
          <a:p>
            <a:pPr algn="ctr"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Eddi Uriel Castillo Sánchez</a:t>
            </a:r>
            <a:endParaRPr sz="1400">
              <a:solidFill>
                <a:schemeClr val="tx1"/>
              </a:solidFill>
              <a:latin typeface="Arial"/>
              <a:cs typeface="Arial"/>
            </a:endParaRPr>
          </a:p>
          <a:p>
            <a:pPr algn="ctr">
              <a:defRPr/>
            </a:pPr>
            <a:r>
              <a:rPr lang="en-US" sz="12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Nombre del docente:</a:t>
            </a:r>
            <a:endParaRPr sz="1400" b="1">
              <a:solidFill>
                <a:schemeClr val="tx1"/>
              </a:solidFill>
              <a:latin typeface="Arial"/>
              <a:cs typeface="Arial"/>
            </a:endParaRPr>
          </a:p>
          <a:p>
            <a:pPr algn="ctr">
              <a:defRPr/>
            </a:pPr>
            <a:r>
              <a:rPr lang="es-ES" sz="1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Francisco Javier Mingo Velazquez</a:t>
            </a:r>
            <a:endParaRPr sz="1400">
              <a:solidFill>
                <a:schemeClr val="tx1"/>
              </a:solidFill>
              <a:latin typeface="Arial"/>
              <a:cs typeface="Arial"/>
            </a:endParaRPr>
          </a:p>
          <a:p>
            <a:pPr algn="ctr">
              <a:defRPr/>
            </a:pPr>
            <a:r>
              <a:rPr lang="en-US" sz="12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Nombre del trabajo:</a:t>
            </a:r>
            <a:endParaRPr sz="1400" b="1">
              <a:solidFill>
                <a:schemeClr val="tx1"/>
              </a:solidFill>
              <a:latin typeface="Arial"/>
              <a:cs typeface="Arial"/>
            </a:endParaRPr>
          </a:p>
          <a:p>
            <a:pPr algn="ctr">
              <a:spcBef>
                <a:spcPts val="0"/>
              </a:spcBef>
              <a:defRPr/>
            </a:pPr>
            <a:r>
              <a:rPr lang="es-ES" sz="1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Act 2.1 Presentacion electronica</a:t>
            </a:r>
            <a:endParaRPr sz="1400" b="1">
              <a:solidFill>
                <a:schemeClr val="tx1"/>
              </a:solidFill>
              <a:latin typeface="Arial"/>
              <a:cs typeface="Arial"/>
            </a:endParaRPr>
          </a:p>
          <a:p>
            <a:pPr algn="ctr">
              <a:defRPr/>
            </a:pPr>
            <a:r>
              <a:rPr lang="en-US" sz="12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Fecha de entrega</a:t>
            </a:r>
            <a:r>
              <a:rPr lang="en-US" sz="1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:</a:t>
            </a:r>
            <a:endParaRPr sz="1400">
              <a:solidFill>
                <a:schemeClr val="tx1"/>
              </a:solidFill>
              <a:latin typeface="Arial"/>
              <a:cs typeface="Arial"/>
            </a:endParaRPr>
          </a:p>
          <a:p>
            <a:pPr algn="ctr">
              <a:defRPr/>
            </a:pPr>
            <a:r>
              <a:rPr lang="es-ES" sz="1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Frontera comalapa</a:t>
            </a:r>
            <a:r>
              <a:rPr lang="en-US" sz="1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, Chiapas a </a:t>
            </a:r>
            <a:r>
              <a:rPr lang="es-ES" sz="1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26 de abril</a:t>
            </a:r>
            <a:r>
              <a:rPr lang="en-US" sz="1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del 2026</a:t>
            </a:r>
            <a:endParaRPr sz="900"/>
          </a:p>
        </p:txBody>
      </p:sp>
      <p:sp>
        <p:nvSpPr>
          <p:cNvPr id="527134308" name="CuadroTexto 527134307"/>
          <p:cNvSpPr txBox="1"/>
          <p:nvPr/>
        </p:nvSpPr>
        <p:spPr bwMode="auto">
          <a:xfrm>
            <a:off x="2331225" y="499109"/>
            <a:ext cx="4481908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endParaRPr/>
          </a:p>
        </p:txBody>
      </p:sp>
      <p:pic>
        <p:nvPicPr>
          <p:cNvPr id="156585566" name="Imagen 156585565"/>
          <p:cNvPicPr>
            <a:picLocks noChangeAspect="1"/>
          </p:cNvPicPr>
          <p:nvPr/>
        </p:nvPicPr>
        <p:blipFill rotWithShape="1">
          <a:blip r:embed="rId3"/>
          <a:srcRect l="905" t="8279" b="-1"/>
          <a:stretch/>
        </p:blipFill>
        <p:spPr bwMode="auto">
          <a:xfrm>
            <a:off x="554271" y="29724"/>
            <a:ext cx="7606462" cy="86590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 name="Slide 3"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8195405" name="Shape 0"/>
          <p:cNvSpPr/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65620049" name="Shape 1"/>
          <p:cNvSpPr/>
          <p:nvPr/>
        </p:nvSpPr>
        <p:spPr bwMode="auto">
          <a:xfrm>
            <a:off x="0" y="114300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58670811" name="Shape 2"/>
          <p:cNvSpPr/>
          <p:nvPr/>
        </p:nvSpPr>
        <p:spPr bwMode="auto">
          <a:xfrm>
            <a:off x="274320" y="182880"/>
            <a:ext cx="658368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85560429" name="Text 3"/>
          <p:cNvSpPr/>
          <p:nvPr/>
        </p:nvSpPr>
        <p:spPr bwMode="auto">
          <a:xfrm>
            <a:off x="274320" y="18288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2.1</a:t>
            </a:r>
            <a:endParaRPr lang="en-US" sz="1500"/>
          </a:p>
        </p:txBody>
      </p:sp>
      <p:sp>
        <p:nvSpPr>
          <p:cNvPr id="413298853" name="Text 4"/>
          <p:cNvSpPr/>
          <p:nvPr/>
        </p:nvSpPr>
        <p:spPr bwMode="auto">
          <a:xfrm>
            <a:off x="1078992" y="237744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Estructura de Memoria y Procesos de la Instancia</a:t>
            </a:r>
            <a:endParaRPr lang="en-US" sz="2100"/>
          </a:p>
        </p:txBody>
      </p:sp>
      <p:pic>
        <p:nvPicPr>
          <p:cNvPr id="115359963" name="Image 0" descr="preencoded.png"/>
          <p:cNvPicPr>
            <a:picLocks noChangeAspect="1"/>
          </p:cNvPicPr>
          <p:nvPr/>
        </p:nvPicPr>
        <p:blipFill rotWithShape="1">
          <a:blip r:embed="rId3">
            <a:alphaModFix amt="80000"/>
          </a:blip>
          <a:stretch/>
        </p:blipFill>
        <p:spPr bwMode="auto">
          <a:xfrm>
            <a:off x="8092440" y="91440"/>
            <a:ext cx="822960" cy="822960"/>
          </a:xfrm>
          <a:prstGeom prst="rect">
            <a:avLst/>
          </a:prstGeom>
        </p:spPr>
      </p:pic>
      <p:sp>
        <p:nvSpPr>
          <p:cNvPr id="134832419" name="Shape 5"/>
          <p:cNvSpPr/>
          <p:nvPr/>
        </p:nvSpPr>
        <p:spPr bwMode="auto">
          <a:xfrm>
            <a:off x="256032" y="1325880"/>
            <a:ext cx="2788920" cy="34930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64034572" name="Shape 6"/>
          <p:cNvSpPr/>
          <p:nvPr/>
        </p:nvSpPr>
        <p:spPr bwMode="auto">
          <a:xfrm>
            <a:off x="256032" y="1325880"/>
            <a:ext cx="278892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49918073" name="Text 7"/>
          <p:cNvSpPr/>
          <p:nvPr/>
        </p:nvSpPr>
        <p:spPr bwMode="auto">
          <a:xfrm>
            <a:off x="347472" y="1353312"/>
            <a:ext cx="2606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SGA — System Global Area</a:t>
            </a:r>
            <a:endParaRPr lang="en-US" sz="1100"/>
          </a:p>
        </p:txBody>
      </p:sp>
      <p:sp>
        <p:nvSpPr>
          <p:cNvPr id="649170556" name="Text 8"/>
          <p:cNvSpPr/>
          <p:nvPr/>
        </p:nvSpPr>
        <p:spPr bwMode="auto">
          <a:xfrm>
            <a:off x="365760" y="1847088"/>
            <a:ext cx="2578608" cy="288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  <a:defRPr/>
            </a:pPr>
            <a:r>
              <a:rPr lang="en-US" sz="1050">
                <a:solidFill>
                  <a:srgbClr val="0F2A47"/>
                </a:solidFill>
                <a:latin typeface="Calibri"/>
                <a:ea typeface="Calibri"/>
                <a:cs typeface="Calibri"/>
              </a:rPr>
              <a:t>Memoria compartida entre todos los procesos del SGBD.</a:t>
            </a:r>
            <a:endParaRPr lang="en-US" sz="1050"/>
          </a:p>
          <a:p>
            <a:pPr marL="342900" indent="-342900">
              <a:spcAft>
                <a:spcPts val="700"/>
              </a:spcAft>
              <a:buSzPct val="100000"/>
              <a:buChar char="•"/>
              <a:defRPr/>
            </a:pPr>
            <a:r>
              <a:rPr lang="en-US" sz="1050">
                <a:solidFill>
                  <a:srgbClr val="0F2A47"/>
                </a:solidFill>
                <a:latin typeface="Calibri"/>
                <a:ea typeface="Calibri"/>
                <a:cs typeface="Calibri"/>
              </a:rPr>
              <a:t>Incluye: Database Buffer Cache (páginas de datos en RAM), Shared Pool (sentencias SQL cacheadas), Redo Log Buffer (cambios pendientes de escribir a disco).</a:t>
            </a:r>
            <a:endParaRPr lang="en-US" sz="1050"/>
          </a:p>
          <a:p>
            <a:pPr marL="342900" indent="-342900">
              <a:spcAft>
                <a:spcPts val="700"/>
              </a:spcAft>
              <a:buSzPct val="100000"/>
              <a:buChar char="•"/>
              <a:defRPr/>
            </a:pPr>
            <a:r>
              <a:rPr lang="en-US" sz="1050">
                <a:solidFill>
                  <a:srgbClr val="0F2A47"/>
                </a:solidFill>
                <a:latin typeface="Calibri"/>
                <a:ea typeface="Calibri"/>
                <a:cs typeface="Calibri"/>
              </a:rPr>
              <a:t>Su tamaño define cuántos datos se mantienen en memoria; afecta directamente el rendimiento.</a:t>
            </a:r>
            <a:endParaRPr lang="en-US" sz="1050"/>
          </a:p>
        </p:txBody>
      </p:sp>
      <p:sp>
        <p:nvSpPr>
          <p:cNvPr id="1222184243" name="Shape 9"/>
          <p:cNvSpPr/>
          <p:nvPr/>
        </p:nvSpPr>
        <p:spPr bwMode="auto">
          <a:xfrm>
            <a:off x="3154680" y="1325880"/>
            <a:ext cx="2788920" cy="34930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50396119" name="Shape 10"/>
          <p:cNvSpPr/>
          <p:nvPr/>
        </p:nvSpPr>
        <p:spPr bwMode="auto">
          <a:xfrm>
            <a:off x="3154680" y="1325880"/>
            <a:ext cx="2788920" cy="457200"/>
          </a:xfrm>
          <a:prstGeom prst="rect">
            <a:avLst/>
          </a:prstGeom>
          <a:solidFill>
            <a:srgbClr val="1A4A7A"/>
          </a:solidFill>
          <a:ln w="12700">
            <a:solidFill>
              <a:srgbClr val="1A4A7A"/>
            </a:solidFill>
            <a:prstDash val="solid"/>
          </a:ln>
        </p:spPr>
      </p:sp>
      <p:sp>
        <p:nvSpPr>
          <p:cNvPr id="564218269" name="Text 11"/>
          <p:cNvSpPr/>
          <p:nvPr/>
        </p:nvSpPr>
        <p:spPr bwMode="auto">
          <a:xfrm>
            <a:off x="3246120" y="1353312"/>
            <a:ext cx="2606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PGA — Program Global Area</a:t>
            </a:r>
            <a:endParaRPr lang="en-US" sz="1100"/>
          </a:p>
        </p:txBody>
      </p:sp>
      <p:sp>
        <p:nvSpPr>
          <p:cNvPr id="1464190069" name="Text 12"/>
          <p:cNvSpPr/>
          <p:nvPr/>
        </p:nvSpPr>
        <p:spPr bwMode="auto">
          <a:xfrm>
            <a:off x="3264408" y="1847088"/>
            <a:ext cx="2578608" cy="288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  <a:defRPr/>
            </a:pPr>
            <a:r>
              <a:rPr lang="en-US" sz="1050">
                <a:solidFill>
                  <a:srgbClr val="0F2A47"/>
                </a:solidFill>
                <a:latin typeface="Calibri"/>
                <a:ea typeface="Calibri"/>
                <a:cs typeface="Calibri"/>
              </a:rPr>
              <a:t>Memoria privada de cada proceso o sesión de servidor.</a:t>
            </a:r>
            <a:endParaRPr lang="en-US" sz="1050"/>
          </a:p>
          <a:p>
            <a:pPr marL="342900" indent="-342900">
              <a:spcAft>
                <a:spcPts val="700"/>
              </a:spcAft>
              <a:buSzPct val="100000"/>
              <a:buChar char="•"/>
              <a:defRPr/>
            </a:pPr>
            <a:r>
              <a:rPr lang="en-US" sz="1050">
                <a:solidFill>
                  <a:srgbClr val="0F2A47"/>
                </a:solidFill>
                <a:latin typeface="Calibri"/>
                <a:ea typeface="Calibri"/>
                <a:cs typeface="Calibri"/>
              </a:rPr>
              <a:t>Almacena datos de sesión, variables de cursor, resultados de sort y operaciones de hash.</a:t>
            </a:r>
            <a:endParaRPr lang="en-US" sz="1050"/>
          </a:p>
          <a:p>
            <a:pPr marL="342900" indent="-342900">
              <a:spcAft>
                <a:spcPts val="700"/>
              </a:spcAft>
              <a:buSzPct val="100000"/>
              <a:buChar char="•"/>
              <a:defRPr/>
            </a:pPr>
            <a:r>
              <a:rPr lang="en-US" sz="1050">
                <a:solidFill>
                  <a:srgbClr val="0F2A47"/>
                </a:solidFill>
                <a:latin typeface="Calibri"/>
                <a:ea typeface="Calibri"/>
                <a:cs typeface="Calibri"/>
              </a:rPr>
              <a:t>No se comparte entre procesos; cada conexión tiene su propia PGA.</a:t>
            </a:r>
            <a:endParaRPr lang="en-US" sz="1050"/>
          </a:p>
        </p:txBody>
      </p:sp>
      <p:sp>
        <p:nvSpPr>
          <p:cNvPr id="19417552" name="Shape 13"/>
          <p:cNvSpPr/>
          <p:nvPr/>
        </p:nvSpPr>
        <p:spPr bwMode="auto">
          <a:xfrm>
            <a:off x="6053328" y="1325880"/>
            <a:ext cx="2788920" cy="34930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88704038" name="Shape 14"/>
          <p:cNvSpPr/>
          <p:nvPr/>
        </p:nvSpPr>
        <p:spPr bwMode="auto">
          <a:xfrm>
            <a:off x="6053328" y="1325880"/>
            <a:ext cx="2788920" cy="4572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111663586" name="Text 15"/>
          <p:cNvSpPr/>
          <p:nvPr/>
        </p:nvSpPr>
        <p:spPr bwMode="auto">
          <a:xfrm>
            <a:off x="6144768" y="1353312"/>
            <a:ext cx="2606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Memoria de Programa / Servidor</a:t>
            </a:r>
            <a:endParaRPr lang="en-US" sz="1100"/>
          </a:p>
        </p:txBody>
      </p:sp>
      <p:sp>
        <p:nvSpPr>
          <p:cNvPr id="448255925" name="Text 16"/>
          <p:cNvSpPr/>
          <p:nvPr/>
        </p:nvSpPr>
        <p:spPr bwMode="auto">
          <a:xfrm>
            <a:off x="6163056" y="1847088"/>
            <a:ext cx="2578608" cy="288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  <a:defRPr/>
            </a:pPr>
            <a:r>
              <a:rPr lang="en-US" sz="1050">
                <a:solidFill>
                  <a:srgbClr val="0F2A47"/>
                </a:solidFill>
                <a:latin typeface="Calibri"/>
                <a:ea typeface="Calibri"/>
                <a:cs typeface="Calibri"/>
              </a:rPr>
              <a:t>Procesos de usuario: representan las aplicaciones clientes que solicitan servicios al SGBD.</a:t>
            </a:r>
            <a:endParaRPr lang="en-US" sz="1050"/>
          </a:p>
          <a:p>
            <a:pPr marL="342900" indent="-342900">
              <a:spcAft>
                <a:spcPts val="700"/>
              </a:spcAft>
              <a:buSzPct val="100000"/>
              <a:buChar char="•"/>
              <a:defRPr/>
            </a:pPr>
            <a:r>
              <a:rPr lang="en-US" sz="1050">
                <a:solidFill>
                  <a:srgbClr val="0F2A47"/>
                </a:solidFill>
                <a:latin typeface="Calibri"/>
                <a:ea typeface="Calibri"/>
                <a:cs typeface="Calibri"/>
              </a:rPr>
              <a:t>Procesos de servidor: reciben las solicitudes del usuario, interactúan con la SGA y ejecutan sentencias SQL.</a:t>
            </a:r>
            <a:endParaRPr lang="en-US" sz="1050"/>
          </a:p>
          <a:p>
            <a:pPr marL="342900" indent="-342900">
              <a:spcAft>
                <a:spcPts val="700"/>
              </a:spcAft>
              <a:buSzPct val="100000"/>
              <a:buChar char="•"/>
              <a:defRPr/>
            </a:pPr>
            <a:r>
              <a:rPr lang="en-US" sz="1050">
                <a:solidFill>
                  <a:srgbClr val="0F2A47"/>
                </a:solidFill>
                <a:latin typeface="Calibri"/>
                <a:ea typeface="Calibri"/>
                <a:cs typeface="Calibri"/>
              </a:rPr>
              <a:t>Modelo dedicado vs. compartido: en modo dedicado cada sesión tiene su propio proceso servidor.</a:t>
            </a:r>
            <a:endParaRPr lang="en-US" sz="1050"/>
          </a:p>
        </p:txBody>
      </p:sp>
      <p:sp>
        <p:nvSpPr>
          <p:cNvPr id="1727047414" name="Shape 17"/>
          <p:cNvSpPr/>
          <p:nvPr/>
        </p:nvSpPr>
        <p:spPr bwMode="auto">
          <a:xfrm>
            <a:off x="0" y="4892039"/>
            <a:ext cx="9144000" cy="25603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23280734" name="Text 18"/>
          <p:cNvSpPr/>
          <p:nvPr/>
        </p:nvSpPr>
        <p:spPr bwMode="auto">
          <a:xfrm>
            <a:off x="274320" y="4901184"/>
            <a:ext cx="8686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75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Fuentes: Nicole Rodríguez Blog · Scribd ABD · StudoCu · UNEZ 2023</a:t>
            </a:r>
            <a:endParaRPr lang="en-US" sz="75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 name="Slide 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1023626" name="Shape 0"/>
          <p:cNvSpPr/>
          <p:nvPr/>
        </p:nvSpPr>
        <p:spPr bwMode="auto">
          <a:xfrm>
            <a:off x="0" y="0"/>
            <a:ext cx="109728" cy="51435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002937175" name="Text 1"/>
          <p:cNvSpPr/>
          <p:nvPr/>
        </p:nvSpPr>
        <p:spPr bwMode="auto">
          <a:xfrm>
            <a:off x="292608" y="164592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14B8A6"/>
                </a:solidFill>
                <a:latin typeface="Calibri"/>
                <a:ea typeface="Calibri"/>
                <a:cs typeface="Calibri"/>
              </a:rPr>
              <a:t>2.1</a:t>
            </a:r>
            <a:endParaRPr lang="en-US" sz="1300"/>
          </a:p>
        </p:txBody>
      </p:sp>
      <p:sp>
        <p:nvSpPr>
          <p:cNvPr id="939128370" name="Text 2"/>
          <p:cNvSpPr/>
          <p:nvPr/>
        </p:nvSpPr>
        <p:spPr bwMode="auto">
          <a:xfrm>
            <a:off x="292608" y="502920"/>
            <a:ext cx="8595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Procesos de la Instancia</a:t>
            </a:r>
            <a:endParaRPr lang="en-US" sz="2200"/>
          </a:p>
        </p:txBody>
      </p:sp>
      <p:pic>
        <p:nvPicPr>
          <p:cNvPr id="230919427" name="Image 0" descr="preencoded.png"/>
          <p:cNvPicPr>
            <a:picLocks noChangeAspect="1"/>
          </p:cNvPicPr>
          <p:nvPr/>
        </p:nvPicPr>
        <p:blipFill rotWithShape="1">
          <a:blip r:embed="rId3">
            <a:alphaModFix amt="85000"/>
          </a:blip>
          <a:stretch/>
        </p:blipFill>
        <p:spPr bwMode="auto">
          <a:xfrm>
            <a:off x="8046720" y="137160"/>
            <a:ext cx="822960" cy="822960"/>
          </a:xfrm>
          <a:prstGeom prst="rect">
            <a:avLst/>
          </a:prstGeom>
        </p:spPr>
      </p:pic>
      <p:sp>
        <p:nvSpPr>
          <p:cNvPr id="137786335" name="Shape 3"/>
          <p:cNvSpPr/>
          <p:nvPr/>
        </p:nvSpPr>
        <p:spPr bwMode="auto">
          <a:xfrm>
            <a:off x="256032" y="1298448"/>
            <a:ext cx="2834640" cy="1645920"/>
          </a:xfrm>
          <a:prstGeom prst="rect">
            <a:avLst/>
          </a:prstGeom>
          <a:solidFill>
            <a:srgbClr val="0F2A47"/>
          </a:solidFill>
          <a:ln w="12700">
            <a:solidFill>
              <a:srgbClr val="1A4A7A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67908041" name="Shape 4"/>
          <p:cNvSpPr/>
          <p:nvPr/>
        </p:nvSpPr>
        <p:spPr bwMode="auto">
          <a:xfrm>
            <a:off x="365760" y="1453896"/>
            <a:ext cx="420624" cy="42062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9284513" name="Text 5"/>
          <p:cNvSpPr/>
          <p:nvPr/>
        </p:nvSpPr>
        <p:spPr bwMode="auto">
          <a:xfrm>
            <a:off x="365760" y="14538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01</a:t>
            </a:r>
            <a:endParaRPr lang="en-US" sz="1000"/>
          </a:p>
        </p:txBody>
      </p:sp>
      <p:sp>
        <p:nvSpPr>
          <p:cNvPr id="664957014" name="Text 6"/>
          <p:cNvSpPr/>
          <p:nvPr/>
        </p:nvSpPr>
        <p:spPr bwMode="auto">
          <a:xfrm>
            <a:off x="877824" y="1481328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DBWn — Database Writer</a:t>
            </a:r>
            <a:endParaRPr lang="en-US" sz="1100"/>
          </a:p>
        </p:txBody>
      </p:sp>
      <p:sp>
        <p:nvSpPr>
          <p:cNvPr id="142855732" name="Text 7"/>
          <p:cNvSpPr/>
          <p:nvPr/>
        </p:nvSpPr>
        <p:spPr bwMode="auto">
          <a:xfrm>
            <a:off x="365760" y="1956816"/>
            <a:ext cx="263347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Escribe bloques modificados del Buffer Cache a los datafiles en disco. Actúa en checkpoints y cuando el buffer se llena.</a:t>
            </a:r>
            <a:endParaRPr lang="en-US" sz="1000"/>
          </a:p>
        </p:txBody>
      </p:sp>
      <p:sp>
        <p:nvSpPr>
          <p:cNvPr id="1694093890" name="Shape 8"/>
          <p:cNvSpPr/>
          <p:nvPr/>
        </p:nvSpPr>
        <p:spPr bwMode="auto">
          <a:xfrm>
            <a:off x="3200400" y="1298448"/>
            <a:ext cx="2834640" cy="1645920"/>
          </a:xfrm>
          <a:prstGeom prst="rect">
            <a:avLst/>
          </a:prstGeom>
          <a:solidFill>
            <a:srgbClr val="0F2A47"/>
          </a:solidFill>
          <a:ln w="12700">
            <a:solidFill>
              <a:srgbClr val="1A4A7A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681382960" name="Shape 9"/>
          <p:cNvSpPr/>
          <p:nvPr/>
        </p:nvSpPr>
        <p:spPr bwMode="auto">
          <a:xfrm>
            <a:off x="3310127" y="1453896"/>
            <a:ext cx="420624" cy="42062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090465967" name="Text 10"/>
          <p:cNvSpPr/>
          <p:nvPr/>
        </p:nvSpPr>
        <p:spPr bwMode="auto">
          <a:xfrm>
            <a:off x="3310127" y="14538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02</a:t>
            </a:r>
            <a:endParaRPr lang="en-US" sz="1000"/>
          </a:p>
        </p:txBody>
      </p:sp>
      <p:sp>
        <p:nvSpPr>
          <p:cNvPr id="589169212" name="Text 11"/>
          <p:cNvSpPr/>
          <p:nvPr/>
        </p:nvSpPr>
        <p:spPr bwMode="auto">
          <a:xfrm>
            <a:off x="3822192" y="1481328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LGWR — Log Writer</a:t>
            </a:r>
            <a:endParaRPr lang="en-US" sz="1100"/>
          </a:p>
        </p:txBody>
      </p:sp>
      <p:sp>
        <p:nvSpPr>
          <p:cNvPr id="917861143" name="Text 12"/>
          <p:cNvSpPr/>
          <p:nvPr/>
        </p:nvSpPr>
        <p:spPr bwMode="auto">
          <a:xfrm>
            <a:off x="3310127" y="1956816"/>
            <a:ext cx="263347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Escribe el contenido del Redo Log Buffer a los archivos de redo log online. Garantiza durabilidad (D en ACID).</a:t>
            </a:r>
            <a:endParaRPr lang="en-US" sz="1000"/>
          </a:p>
        </p:txBody>
      </p:sp>
      <p:sp>
        <p:nvSpPr>
          <p:cNvPr id="2083127539" name="Shape 13"/>
          <p:cNvSpPr/>
          <p:nvPr/>
        </p:nvSpPr>
        <p:spPr bwMode="auto">
          <a:xfrm>
            <a:off x="6144768" y="1298448"/>
            <a:ext cx="2834640" cy="1645920"/>
          </a:xfrm>
          <a:prstGeom prst="rect">
            <a:avLst/>
          </a:prstGeom>
          <a:solidFill>
            <a:srgbClr val="0F2A47"/>
          </a:solidFill>
          <a:ln w="12700">
            <a:solidFill>
              <a:srgbClr val="1A4A7A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07926009" name="Shape 14"/>
          <p:cNvSpPr/>
          <p:nvPr/>
        </p:nvSpPr>
        <p:spPr bwMode="auto">
          <a:xfrm>
            <a:off x="6254496" y="1453896"/>
            <a:ext cx="420624" cy="42062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99960896" name="Text 15"/>
          <p:cNvSpPr/>
          <p:nvPr/>
        </p:nvSpPr>
        <p:spPr bwMode="auto">
          <a:xfrm>
            <a:off x="6254496" y="14538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03</a:t>
            </a:r>
            <a:endParaRPr lang="en-US" sz="1000"/>
          </a:p>
        </p:txBody>
      </p:sp>
      <p:sp>
        <p:nvSpPr>
          <p:cNvPr id="405863793" name="Text 16"/>
          <p:cNvSpPr/>
          <p:nvPr/>
        </p:nvSpPr>
        <p:spPr bwMode="auto">
          <a:xfrm>
            <a:off x="6766560" y="1481328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CKPT — Checkpoint</a:t>
            </a:r>
            <a:endParaRPr lang="en-US" sz="1100"/>
          </a:p>
        </p:txBody>
      </p:sp>
      <p:sp>
        <p:nvSpPr>
          <p:cNvPr id="1702877265" name="Text 17"/>
          <p:cNvSpPr/>
          <p:nvPr/>
        </p:nvSpPr>
        <p:spPr bwMode="auto">
          <a:xfrm>
            <a:off x="6254496" y="1956816"/>
            <a:ext cx="263347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Actualiza los control files y datafiles con la posición del último checkpoint; reduce el tiempo de recuperación.</a:t>
            </a:r>
            <a:endParaRPr lang="en-US" sz="1000"/>
          </a:p>
        </p:txBody>
      </p:sp>
      <p:sp>
        <p:nvSpPr>
          <p:cNvPr id="1503209557" name="Shape 18"/>
          <p:cNvSpPr/>
          <p:nvPr/>
        </p:nvSpPr>
        <p:spPr bwMode="auto">
          <a:xfrm>
            <a:off x="256032" y="3081528"/>
            <a:ext cx="2834640" cy="1645920"/>
          </a:xfrm>
          <a:prstGeom prst="rect">
            <a:avLst/>
          </a:prstGeom>
          <a:solidFill>
            <a:srgbClr val="0F2A47"/>
          </a:solidFill>
          <a:ln w="12700">
            <a:solidFill>
              <a:srgbClr val="1A4A7A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096350844" name="Shape 19"/>
          <p:cNvSpPr/>
          <p:nvPr/>
        </p:nvSpPr>
        <p:spPr bwMode="auto">
          <a:xfrm>
            <a:off x="365760" y="3236976"/>
            <a:ext cx="420624" cy="42062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9128535" name="Text 20"/>
          <p:cNvSpPr/>
          <p:nvPr/>
        </p:nvSpPr>
        <p:spPr bwMode="auto">
          <a:xfrm>
            <a:off x="365760" y="32369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04</a:t>
            </a:r>
            <a:endParaRPr lang="en-US" sz="1000"/>
          </a:p>
        </p:txBody>
      </p:sp>
      <p:sp>
        <p:nvSpPr>
          <p:cNvPr id="1309264752" name="Text 21"/>
          <p:cNvSpPr/>
          <p:nvPr/>
        </p:nvSpPr>
        <p:spPr bwMode="auto">
          <a:xfrm>
            <a:off x="877824" y="3264408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SMON — System Monitor</a:t>
            </a:r>
            <a:endParaRPr lang="en-US" sz="1100"/>
          </a:p>
        </p:txBody>
      </p:sp>
      <p:sp>
        <p:nvSpPr>
          <p:cNvPr id="1431734555" name="Text 22"/>
          <p:cNvSpPr/>
          <p:nvPr/>
        </p:nvSpPr>
        <p:spPr bwMode="auto">
          <a:xfrm>
            <a:off x="365760" y="3739896"/>
            <a:ext cx="263347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Realiza la recuperación de la instancia al arrancar; libera segmentos temporales no utilizados.</a:t>
            </a:r>
            <a:endParaRPr lang="en-US" sz="1000"/>
          </a:p>
        </p:txBody>
      </p:sp>
      <p:sp>
        <p:nvSpPr>
          <p:cNvPr id="1638282387" name="Shape 23"/>
          <p:cNvSpPr/>
          <p:nvPr/>
        </p:nvSpPr>
        <p:spPr bwMode="auto">
          <a:xfrm>
            <a:off x="3200400" y="3081528"/>
            <a:ext cx="2834640" cy="1645920"/>
          </a:xfrm>
          <a:prstGeom prst="rect">
            <a:avLst/>
          </a:prstGeom>
          <a:solidFill>
            <a:srgbClr val="0F2A47"/>
          </a:solidFill>
          <a:ln w="12700">
            <a:solidFill>
              <a:srgbClr val="1A4A7A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97780766" name="Shape 24"/>
          <p:cNvSpPr/>
          <p:nvPr/>
        </p:nvSpPr>
        <p:spPr bwMode="auto">
          <a:xfrm>
            <a:off x="3310127" y="3236976"/>
            <a:ext cx="420624" cy="42062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77234241" name="Text 25"/>
          <p:cNvSpPr/>
          <p:nvPr/>
        </p:nvSpPr>
        <p:spPr bwMode="auto">
          <a:xfrm>
            <a:off x="3310127" y="32369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05</a:t>
            </a:r>
            <a:endParaRPr lang="en-US" sz="1000"/>
          </a:p>
        </p:txBody>
      </p:sp>
      <p:sp>
        <p:nvSpPr>
          <p:cNvPr id="527915304" name="Text 26"/>
          <p:cNvSpPr/>
          <p:nvPr/>
        </p:nvSpPr>
        <p:spPr bwMode="auto">
          <a:xfrm>
            <a:off x="3822192" y="3264408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PMON — Process Monitor</a:t>
            </a:r>
            <a:endParaRPr lang="en-US" sz="1100"/>
          </a:p>
        </p:txBody>
      </p:sp>
      <p:sp>
        <p:nvSpPr>
          <p:cNvPr id="2146081698" name="Text 27"/>
          <p:cNvSpPr/>
          <p:nvPr/>
        </p:nvSpPr>
        <p:spPr bwMode="auto">
          <a:xfrm>
            <a:off x="3310127" y="3739896"/>
            <a:ext cx="263347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Limpia recursos de procesos de usuario que fallaron; libera bloqueos y recursos del sistema.</a:t>
            </a:r>
            <a:endParaRPr lang="en-US" sz="1000"/>
          </a:p>
        </p:txBody>
      </p:sp>
      <p:sp>
        <p:nvSpPr>
          <p:cNvPr id="870210744" name="Shape 28"/>
          <p:cNvSpPr/>
          <p:nvPr/>
        </p:nvSpPr>
        <p:spPr bwMode="auto">
          <a:xfrm>
            <a:off x="6144768" y="3081528"/>
            <a:ext cx="2834640" cy="1645920"/>
          </a:xfrm>
          <a:prstGeom prst="rect">
            <a:avLst/>
          </a:prstGeom>
          <a:solidFill>
            <a:srgbClr val="0F2A47"/>
          </a:solidFill>
          <a:ln w="12700">
            <a:solidFill>
              <a:srgbClr val="1A4A7A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082076660" name="Shape 29"/>
          <p:cNvSpPr/>
          <p:nvPr/>
        </p:nvSpPr>
        <p:spPr bwMode="auto">
          <a:xfrm>
            <a:off x="6254496" y="3236976"/>
            <a:ext cx="420624" cy="420624"/>
          </a:xfrm>
          <a:prstGeom prst="rect">
            <a:avLst/>
          </a:prstGeom>
          <a:solidFill>
            <a:srgbClr val="1A4A7A"/>
          </a:solidFill>
          <a:ln w="12700">
            <a:solidFill>
              <a:srgbClr val="1A4A7A"/>
            </a:solidFill>
            <a:prstDash val="solid"/>
          </a:ln>
        </p:spPr>
      </p:sp>
      <p:sp>
        <p:nvSpPr>
          <p:cNvPr id="1823484143" name="Text 30"/>
          <p:cNvSpPr/>
          <p:nvPr/>
        </p:nvSpPr>
        <p:spPr bwMode="auto">
          <a:xfrm>
            <a:off x="6254496" y="32369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06</a:t>
            </a:r>
            <a:endParaRPr lang="en-US" sz="1000"/>
          </a:p>
        </p:txBody>
      </p:sp>
      <p:sp>
        <p:nvSpPr>
          <p:cNvPr id="640136784" name="Text 31"/>
          <p:cNvSpPr/>
          <p:nvPr/>
        </p:nvSpPr>
        <p:spPr bwMode="auto">
          <a:xfrm>
            <a:off x="6766560" y="3264408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ARCn — Archiver</a:t>
            </a:r>
            <a:endParaRPr lang="en-US" sz="1100"/>
          </a:p>
        </p:txBody>
      </p:sp>
      <p:sp>
        <p:nvSpPr>
          <p:cNvPr id="1918678610" name="Text 32"/>
          <p:cNvSpPr/>
          <p:nvPr/>
        </p:nvSpPr>
        <p:spPr bwMode="auto">
          <a:xfrm>
            <a:off x="6254496" y="3739896"/>
            <a:ext cx="263347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Copia los redo logs llenos al área de archivo; habilita la recuperación completa y el modo ARCHIVELOG.</a:t>
            </a:r>
            <a:endParaRPr lang="en-US" sz="1000"/>
          </a:p>
        </p:txBody>
      </p:sp>
      <p:sp>
        <p:nvSpPr>
          <p:cNvPr id="1369148302" name="Shape 33"/>
          <p:cNvSpPr/>
          <p:nvPr/>
        </p:nvSpPr>
        <p:spPr bwMode="auto">
          <a:xfrm>
            <a:off x="0" y="4892039"/>
            <a:ext cx="9144000" cy="25603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650694612" name="Text 34"/>
          <p:cNvSpPr/>
          <p:nvPr/>
        </p:nvSpPr>
        <p:spPr bwMode="auto">
          <a:xfrm>
            <a:off x="274320" y="4901184"/>
            <a:ext cx="8686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75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Fuente: Nicole Rodríguez Blog (2020) · Scribd ABD Unidad 2 · StudoCu ITI</a:t>
            </a:r>
            <a:endParaRPr lang="en-US" sz="75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 name="Slide 5"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672760" name="Shape 0"/>
          <p:cNvSpPr/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46168213" name="Shape 1"/>
          <p:cNvSpPr/>
          <p:nvPr/>
        </p:nvSpPr>
        <p:spPr bwMode="auto">
          <a:xfrm>
            <a:off x="0" y="1143000"/>
            <a:ext cx="9144000" cy="54864"/>
          </a:xfrm>
          <a:prstGeom prst="rect">
            <a:avLst/>
          </a:prstGeom>
          <a:solidFill>
            <a:srgbClr val="1A4A7A"/>
          </a:solidFill>
          <a:ln w="12700">
            <a:solidFill>
              <a:srgbClr val="1A4A7A"/>
            </a:solidFill>
            <a:prstDash val="solid"/>
          </a:ln>
        </p:spPr>
      </p:sp>
      <p:sp>
        <p:nvSpPr>
          <p:cNvPr id="931577585" name="Shape 2"/>
          <p:cNvSpPr/>
          <p:nvPr/>
        </p:nvSpPr>
        <p:spPr bwMode="auto">
          <a:xfrm>
            <a:off x="274320" y="182880"/>
            <a:ext cx="658368" cy="658368"/>
          </a:xfrm>
          <a:prstGeom prst="rect">
            <a:avLst/>
          </a:prstGeom>
          <a:solidFill>
            <a:srgbClr val="1A4A7A"/>
          </a:solidFill>
          <a:ln w="12700">
            <a:solidFill>
              <a:srgbClr val="1A4A7A"/>
            </a:solidFill>
            <a:prstDash val="solid"/>
          </a:ln>
        </p:spPr>
      </p:sp>
      <p:sp>
        <p:nvSpPr>
          <p:cNvPr id="974056218" name="Text 3"/>
          <p:cNvSpPr/>
          <p:nvPr/>
        </p:nvSpPr>
        <p:spPr bwMode="auto">
          <a:xfrm>
            <a:off x="274320" y="18288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2.2</a:t>
            </a:r>
            <a:endParaRPr lang="en-US" sz="1500"/>
          </a:p>
        </p:txBody>
      </p:sp>
      <p:sp>
        <p:nvSpPr>
          <p:cNvPr id="307843029" name="Text 4"/>
          <p:cNvSpPr/>
          <p:nvPr/>
        </p:nvSpPr>
        <p:spPr bwMode="auto">
          <a:xfrm>
            <a:off x="1078992" y="237744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Estructura Física de la Base de Datos</a:t>
            </a:r>
            <a:endParaRPr lang="en-US" sz="2100"/>
          </a:p>
        </p:txBody>
      </p:sp>
      <p:pic>
        <p:nvPicPr>
          <p:cNvPr id="710070993" name="Image 0" descr="preencoded.png"/>
          <p:cNvPicPr>
            <a:picLocks noChangeAspect="1"/>
          </p:cNvPicPr>
          <p:nvPr/>
        </p:nvPicPr>
        <p:blipFill rotWithShape="1">
          <a:blip r:embed="rId3">
            <a:alphaModFix amt="80000"/>
          </a:blip>
          <a:stretch/>
        </p:blipFill>
        <p:spPr bwMode="auto">
          <a:xfrm>
            <a:off x="8092440" y="91440"/>
            <a:ext cx="822960" cy="822960"/>
          </a:xfrm>
          <a:prstGeom prst="rect">
            <a:avLst/>
          </a:prstGeom>
        </p:spPr>
      </p:pic>
      <p:sp>
        <p:nvSpPr>
          <p:cNvPr id="1026165919" name="Shape 5"/>
          <p:cNvSpPr/>
          <p:nvPr/>
        </p:nvSpPr>
        <p:spPr bwMode="auto">
          <a:xfrm>
            <a:off x="256032" y="1298448"/>
            <a:ext cx="429768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91994854" name="Shape 6"/>
          <p:cNvSpPr/>
          <p:nvPr/>
        </p:nvSpPr>
        <p:spPr bwMode="auto">
          <a:xfrm>
            <a:off x="256032" y="1298448"/>
            <a:ext cx="64008" cy="2331720"/>
          </a:xfrm>
          <a:prstGeom prst="rect">
            <a:avLst/>
          </a:prstGeom>
          <a:solidFill>
            <a:srgbClr val="1A4A7A"/>
          </a:solidFill>
          <a:ln w="12700">
            <a:solidFill>
              <a:srgbClr val="1A4A7A"/>
            </a:solidFill>
            <a:prstDash val="solid"/>
          </a:ln>
        </p:spPr>
      </p:sp>
      <p:sp>
        <p:nvSpPr>
          <p:cNvPr id="228238533" name="Text 7"/>
          <p:cNvSpPr/>
          <p:nvPr/>
        </p:nvSpPr>
        <p:spPr bwMode="auto">
          <a:xfrm>
            <a:off x="420624" y="1389888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1A4A7A"/>
                </a:solidFill>
                <a:latin typeface="Calibri"/>
                <a:ea typeface="Calibri"/>
                <a:cs typeface="Calibri"/>
              </a:rPr>
              <a:t>Archivos de Datos (Datafiles)</a:t>
            </a:r>
            <a:endParaRPr lang="en-US" sz="1200"/>
          </a:p>
        </p:txBody>
      </p:sp>
      <p:sp>
        <p:nvSpPr>
          <p:cNvPr id="828117557" name="Text 8"/>
          <p:cNvSpPr/>
          <p:nvPr/>
        </p:nvSpPr>
        <p:spPr bwMode="auto">
          <a:xfrm>
            <a:off x="420624" y="1773936"/>
            <a:ext cx="4041648" cy="180136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  <a:defRPr/>
            </a:pPr>
            <a:r>
              <a:rPr lang="en-US" sz="1150">
                <a:solidFill>
                  <a:srgbClr val="0F2A47"/>
                </a:solidFill>
                <a:latin typeface="Calibri"/>
                <a:ea typeface="Calibri"/>
                <a:cs typeface="Calibri"/>
              </a:rPr>
              <a:t>Almacenan los objetos de la BD: tablas, índices, vistas materializadas.</a:t>
            </a:r>
            <a:endParaRPr lang="en-US" sz="1150"/>
          </a:p>
          <a:p>
            <a:pPr marL="342900" indent="-342900">
              <a:spcAft>
                <a:spcPts val="600"/>
              </a:spcAft>
              <a:buSzPct val="100000"/>
              <a:buChar char="•"/>
              <a:defRPr/>
            </a:pPr>
            <a:r>
              <a:rPr lang="en-US" sz="1150">
                <a:solidFill>
                  <a:srgbClr val="0F2A47"/>
                </a:solidFill>
                <a:latin typeface="Calibri"/>
                <a:ea typeface="Calibri"/>
                <a:cs typeface="Calibri"/>
              </a:rPr>
              <a:t>Organizados lógicamente en Tablespaces; un tablespace puede abarcar varios datafiles.</a:t>
            </a:r>
            <a:endParaRPr lang="en-US" sz="1150"/>
          </a:p>
          <a:p>
            <a:pPr marL="342900" indent="-342900">
              <a:spcAft>
                <a:spcPts val="600"/>
              </a:spcAft>
              <a:buSzPct val="100000"/>
              <a:buChar char="•"/>
              <a:defRPr/>
            </a:pPr>
            <a:r>
              <a:rPr lang="en-US" sz="1150">
                <a:solidFill>
                  <a:srgbClr val="0F2A47"/>
                </a:solidFill>
                <a:latin typeface="Calibri"/>
                <a:ea typeface="Calibri"/>
                <a:cs typeface="Calibri"/>
              </a:rPr>
              <a:t>Pueden ser de tamaño fijo o con autoextensión habilitada (AUTOEXTEND ON).</a:t>
            </a:r>
            <a:endParaRPr lang="en-US" sz="1150"/>
          </a:p>
          <a:p>
            <a:pPr marL="342900" indent="-342900">
              <a:spcAft>
                <a:spcPts val="600"/>
              </a:spcAft>
              <a:buSzPct val="100000"/>
              <a:buChar char="•"/>
              <a:defRPr/>
            </a:pPr>
            <a:r>
              <a:rPr lang="en-US" sz="1150">
                <a:solidFill>
                  <a:srgbClr val="0F2A47"/>
                </a:solidFill>
                <a:latin typeface="Calibri"/>
                <a:ea typeface="Calibri"/>
                <a:cs typeface="Calibri"/>
              </a:rPr>
              <a:t>Formato interno: bloques/páginas (unidad mínima de E/S) agrupados en extensiones y segmentos.</a:t>
            </a:r>
            <a:endParaRPr lang="en-US" sz="1150"/>
          </a:p>
        </p:txBody>
      </p:sp>
      <p:sp>
        <p:nvSpPr>
          <p:cNvPr id="1864239212" name="Shape 9"/>
          <p:cNvSpPr/>
          <p:nvPr/>
        </p:nvSpPr>
        <p:spPr bwMode="auto">
          <a:xfrm>
            <a:off x="4700016" y="1298448"/>
            <a:ext cx="429768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60727508" name="Shape 10"/>
          <p:cNvSpPr/>
          <p:nvPr/>
        </p:nvSpPr>
        <p:spPr bwMode="auto">
          <a:xfrm>
            <a:off x="4700016" y="1298448"/>
            <a:ext cx="64008" cy="2331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38094294" name="Text 11"/>
          <p:cNvSpPr/>
          <p:nvPr/>
        </p:nvSpPr>
        <p:spPr bwMode="auto">
          <a:xfrm>
            <a:off x="4864607" y="1389888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0D9488"/>
                </a:solidFill>
                <a:latin typeface="Calibri"/>
                <a:ea typeface="Calibri"/>
                <a:cs typeface="Calibri"/>
              </a:rPr>
              <a:t>Archivos de Control (Control Files)</a:t>
            </a:r>
            <a:endParaRPr lang="en-US" sz="1200"/>
          </a:p>
        </p:txBody>
      </p:sp>
      <p:sp>
        <p:nvSpPr>
          <p:cNvPr id="1410398811" name="Text 12"/>
          <p:cNvSpPr/>
          <p:nvPr/>
        </p:nvSpPr>
        <p:spPr bwMode="auto">
          <a:xfrm>
            <a:off x="4864607" y="1773936"/>
            <a:ext cx="4041648" cy="180136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  <a:defRPr/>
            </a:pPr>
            <a:r>
              <a:rPr lang="en-US" sz="1150">
                <a:solidFill>
                  <a:srgbClr val="0F2A47"/>
                </a:solidFill>
                <a:latin typeface="Calibri"/>
                <a:ea typeface="Calibri"/>
                <a:cs typeface="Calibri"/>
              </a:rPr>
              <a:t>Contienen metadatos sobre la estructura física: nombres de datafiles y redo logs.</a:t>
            </a:r>
            <a:endParaRPr lang="en-US" sz="1150"/>
          </a:p>
          <a:p>
            <a:pPr marL="342900" indent="-342900">
              <a:spcAft>
                <a:spcPts val="600"/>
              </a:spcAft>
              <a:buSzPct val="100000"/>
              <a:buChar char="•"/>
              <a:defRPr/>
            </a:pPr>
            <a:r>
              <a:rPr lang="en-US" sz="1150">
                <a:solidFill>
                  <a:srgbClr val="0F2A47"/>
                </a:solidFill>
                <a:latin typeface="Calibri"/>
                <a:ea typeface="Calibri"/>
                <a:cs typeface="Calibri"/>
              </a:rPr>
              <a:t>Registran el número de secuencia SCN, nombre de BD y tiempos de checkpoint.</a:t>
            </a:r>
            <a:endParaRPr lang="en-US" sz="1150"/>
          </a:p>
          <a:p>
            <a:pPr marL="342900" indent="-342900">
              <a:spcAft>
                <a:spcPts val="600"/>
              </a:spcAft>
              <a:buSzPct val="100000"/>
              <a:buChar char="•"/>
              <a:defRPr/>
            </a:pPr>
            <a:r>
              <a:rPr lang="en-US" sz="1150">
                <a:solidFill>
                  <a:srgbClr val="0F2A47"/>
                </a:solidFill>
                <a:latin typeface="Calibri"/>
                <a:ea typeface="Calibri"/>
                <a:cs typeface="Calibri"/>
              </a:rPr>
              <a:t>Críticos para el montaje de la instancia; se recomienda multiplexarlos (varias copias).</a:t>
            </a:r>
            <a:endParaRPr lang="en-US" sz="1150"/>
          </a:p>
          <a:p>
            <a:pPr marL="342900" indent="-342900">
              <a:spcAft>
                <a:spcPts val="600"/>
              </a:spcAft>
              <a:buSzPct val="100000"/>
              <a:buChar char="•"/>
              <a:defRPr/>
            </a:pPr>
            <a:r>
              <a:rPr lang="en-US" sz="1150">
                <a:solidFill>
                  <a:srgbClr val="0F2A47"/>
                </a:solidFill>
                <a:latin typeface="Calibri"/>
                <a:ea typeface="Calibri"/>
                <a:cs typeface="Calibri"/>
              </a:rPr>
              <a:t>Sin control file válido, la instancia no puede abrir la base de datos.</a:t>
            </a:r>
            <a:endParaRPr lang="en-US" sz="1150"/>
          </a:p>
        </p:txBody>
      </p:sp>
      <p:sp>
        <p:nvSpPr>
          <p:cNvPr id="1492760192" name="Shape 13"/>
          <p:cNvSpPr/>
          <p:nvPr/>
        </p:nvSpPr>
        <p:spPr bwMode="auto">
          <a:xfrm>
            <a:off x="256032" y="3767328"/>
            <a:ext cx="8631936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54966808" name="Shape 14"/>
          <p:cNvSpPr/>
          <p:nvPr/>
        </p:nvSpPr>
        <p:spPr bwMode="auto">
          <a:xfrm>
            <a:off x="256032" y="3767328"/>
            <a:ext cx="64008" cy="10972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2132783" name="Text 15"/>
          <p:cNvSpPr/>
          <p:nvPr/>
        </p:nvSpPr>
        <p:spPr bwMode="auto">
          <a:xfrm>
            <a:off x="420624" y="3858768"/>
            <a:ext cx="83576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10B981"/>
                </a:solidFill>
                <a:latin typeface="Calibri"/>
                <a:ea typeface="Calibri"/>
                <a:cs typeface="Calibri"/>
              </a:rPr>
              <a:t>Redo Logs · Archive Logs · Parameter File · Password File</a:t>
            </a:r>
            <a:endParaRPr lang="en-US" sz="1200"/>
          </a:p>
        </p:txBody>
      </p:sp>
      <p:sp>
        <p:nvSpPr>
          <p:cNvPr id="724044603" name="Text 16"/>
          <p:cNvSpPr/>
          <p:nvPr/>
        </p:nvSpPr>
        <p:spPr bwMode="auto">
          <a:xfrm>
            <a:off x="420624" y="4242816"/>
            <a:ext cx="8375904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  <a:defRPr/>
            </a:pPr>
            <a:r>
              <a:rPr lang="en-US" sz="1150">
                <a:solidFill>
                  <a:srgbClr val="0F2A47"/>
                </a:solidFill>
                <a:latin typeface="Calibri"/>
                <a:ea typeface="Calibri"/>
                <a:cs typeface="Calibri"/>
              </a:rPr>
              <a:t>Online Redo Logs: registran todos los cambios (WAL — Write-Ahead Logging); esenciales para recuperación ante fallos.</a:t>
            </a:r>
            <a:endParaRPr lang="en-US" sz="1150"/>
          </a:p>
          <a:p>
            <a:pPr marL="342900" indent="-342900">
              <a:spcAft>
                <a:spcPts val="600"/>
              </a:spcAft>
              <a:buSzPct val="100000"/>
              <a:buChar char="•"/>
              <a:defRPr/>
            </a:pPr>
            <a:r>
              <a:rPr lang="en-US" sz="1150">
                <a:solidFill>
                  <a:srgbClr val="0F2A47"/>
                </a:solidFill>
                <a:latin typeface="Calibri"/>
                <a:ea typeface="Calibri"/>
                <a:cs typeface="Calibri"/>
              </a:rPr>
              <a:t>Archive Logs: copias de los redo logs llenos; permiten recuperación completa hasta un punto en el tiempo (Point-in-Time Recovery).</a:t>
            </a:r>
            <a:endParaRPr lang="en-US" sz="1150"/>
          </a:p>
          <a:p>
            <a:pPr marL="342900" indent="-342900">
              <a:spcAft>
                <a:spcPts val="600"/>
              </a:spcAft>
              <a:buSzPct val="100000"/>
              <a:buChar char="•"/>
              <a:defRPr/>
            </a:pPr>
            <a:r>
              <a:rPr lang="en-US" sz="1150">
                <a:solidFill>
                  <a:srgbClr val="0F2A47"/>
                </a:solidFill>
                <a:latin typeface="Calibri"/>
                <a:ea typeface="Calibri"/>
                <a:cs typeface="Calibri"/>
              </a:rPr>
              <a:t>Parameter File (spfile/pfile) y Password File: controlan la configuración de la instancia y la autenticación de administradores.</a:t>
            </a:r>
            <a:endParaRPr lang="en-US" sz="1150"/>
          </a:p>
        </p:txBody>
      </p:sp>
      <p:sp>
        <p:nvSpPr>
          <p:cNvPr id="909518651" name="Shape 17"/>
          <p:cNvSpPr/>
          <p:nvPr/>
        </p:nvSpPr>
        <p:spPr bwMode="auto">
          <a:xfrm>
            <a:off x="0" y="4892039"/>
            <a:ext cx="9144000" cy="25603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549932567" name="Text 18"/>
          <p:cNvSpPr/>
          <p:nvPr/>
        </p:nvSpPr>
        <p:spPr bwMode="auto">
          <a:xfrm>
            <a:off x="274320" y="4901184"/>
            <a:ext cx="8686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75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Fuentes: Nicole Rodríguez Blog · Scribd ABD · StudoCu · UNEZ 2023</a:t>
            </a:r>
            <a:endParaRPr lang="en-US" sz="75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 name="Slide 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78761633" name="Shape 0"/>
          <p:cNvSpPr/>
          <p:nvPr/>
        </p:nvSpPr>
        <p:spPr bwMode="auto">
          <a:xfrm>
            <a:off x="0" y="0"/>
            <a:ext cx="109728" cy="5143500"/>
          </a:xfrm>
          <a:prstGeom prst="rect">
            <a:avLst/>
          </a:prstGeom>
          <a:solidFill>
            <a:srgbClr val="1A4A7A"/>
          </a:solidFill>
          <a:ln w="12700">
            <a:solidFill>
              <a:srgbClr val="1A4A7A"/>
            </a:solidFill>
            <a:prstDash val="solid"/>
          </a:ln>
        </p:spPr>
      </p:sp>
      <p:sp>
        <p:nvSpPr>
          <p:cNvPr id="802333057" name="Text 1"/>
          <p:cNvSpPr/>
          <p:nvPr/>
        </p:nvSpPr>
        <p:spPr bwMode="auto">
          <a:xfrm>
            <a:off x="292608" y="164592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38BDF8"/>
                </a:solidFill>
                <a:latin typeface="Calibri"/>
                <a:ea typeface="Calibri"/>
                <a:cs typeface="Calibri"/>
              </a:rPr>
              <a:t>2.2</a:t>
            </a:r>
            <a:endParaRPr lang="en-US" sz="1300"/>
          </a:p>
        </p:txBody>
      </p:sp>
      <p:sp>
        <p:nvSpPr>
          <p:cNvPr id="158994857" name="Text 2"/>
          <p:cNvSpPr/>
          <p:nvPr/>
        </p:nvSpPr>
        <p:spPr bwMode="auto">
          <a:xfrm>
            <a:off x="292608" y="502920"/>
            <a:ext cx="8595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Organización Lógica y Física en Disco</a:t>
            </a:r>
            <a:endParaRPr lang="en-US" sz="2200"/>
          </a:p>
        </p:txBody>
      </p:sp>
      <p:pic>
        <p:nvPicPr>
          <p:cNvPr id="2001750772" name="Image 0" descr="preencoded.png"/>
          <p:cNvPicPr>
            <a:picLocks noChangeAspect="1"/>
          </p:cNvPicPr>
          <p:nvPr/>
        </p:nvPicPr>
        <p:blipFill rotWithShape="1">
          <a:blip r:embed="rId3">
            <a:alphaModFix amt="85000"/>
          </a:blip>
          <a:stretch/>
        </p:blipFill>
        <p:spPr bwMode="auto">
          <a:xfrm>
            <a:off x="8046720" y="137160"/>
            <a:ext cx="822960" cy="822960"/>
          </a:xfrm>
          <a:prstGeom prst="rect">
            <a:avLst/>
          </a:prstGeom>
        </p:spPr>
      </p:pic>
      <p:sp>
        <p:nvSpPr>
          <p:cNvPr id="768584703" name="Shape 3"/>
          <p:cNvSpPr/>
          <p:nvPr/>
        </p:nvSpPr>
        <p:spPr bwMode="auto">
          <a:xfrm>
            <a:off x="457200" y="1325880"/>
            <a:ext cx="8229600" cy="749808"/>
          </a:xfrm>
          <a:prstGeom prst="rect">
            <a:avLst/>
          </a:prstGeom>
          <a:solidFill>
            <a:srgbClr val="1A4A7A"/>
          </a:solidFill>
          <a:ln w="12700">
            <a:solidFill>
              <a:srgbClr val="1A4A7A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866801236" name="Text 4"/>
          <p:cNvSpPr/>
          <p:nvPr/>
        </p:nvSpPr>
        <p:spPr bwMode="auto">
          <a:xfrm>
            <a:off x="594360" y="1362455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Tablespace</a:t>
            </a:r>
            <a:endParaRPr lang="en-US" sz="1300"/>
          </a:p>
        </p:txBody>
      </p:sp>
      <p:sp>
        <p:nvSpPr>
          <p:cNvPr id="1198348365" name="Text 5"/>
          <p:cNvSpPr/>
          <p:nvPr/>
        </p:nvSpPr>
        <p:spPr bwMode="auto">
          <a:xfrm>
            <a:off x="594360" y="1709928"/>
            <a:ext cx="7955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Contenedor lógico de objetos: tablas, índices. Ej: SYSTEM, USERS, TEMP, UNDO.</a:t>
            </a:r>
            <a:endParaRPr lang="en-US" sz="1000"/>
          </a:p>
        </p:txBody>
      </p:sp>
      <p:sp>
        <p:nvSpPr>
          <p:cNvPr id="719264677" name="Shape 6"/>
          <p:cNvSpPr/>
          <p:nvPr/>
        </p:nvSpPr>
        <p:spPr bwMode="auto">
          <a:xfrm>
            <a:off x="1097280" y="2212848"/>
            <a:ext cx="6949440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698656559" name="Text 7"/>
          <p:cNvSpPr/>
          <p:nvPr/>
        </p:nvSpPr>
        <p:spPr bwMode="auto">
          <a:xfrm>
            <a:off x="1234440" y="2249424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Segmento</a:t>
            </a:r>
            <a:endParaRPr lang="en-US" sz="1300"/>
          </a:p>
        </p:txBody>
      </p:sp>
      <p:sp>
        <p:nvSpPr>
          <p:cNvPr id="1906028661" name="Text 8"/>
          <p:cNvSpPr/>
          <p:nvPr/>
        </p:nvSpPr>
        <p:spPr bwMode="auto">
          <a:xfrm>
            <a:off x="1234440" y="2596896"/>
            <a:ext cx="6675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Conjunto de extensiones que compone un objeto específico (tabla, índice, rollback).</a:t>
            </a:r>
            <a:endParaRPr lang="en-US" sz="1000"/>
          </a:p>
        </p:txBody>
      </p:sp>
      <p:sp>
        <p:nvSpPr>
          <p:cNvPr id="982431562" name="Shape 9"/>
          <p:cNvSpPr/>
          <p:nvPr/>
        </p:nvSpPr>
        <p:spPr bwMode="auto">
          <a:xfrm>
            <a:off x="1737360" y="3099816"/>
            <a:ext cx="5669280" cy="74980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402821894" name="Text 10"/>
          <p:cNvSpPr/>
          <p:nvPr/>
        </p:nvSpPr>
        <p:spPr bwMode="auto">
          <a:xfrm>
            <a:off x="1874520" y="313639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Extensión</a:t>
            </a:r>
            <a:endParaRPr lang="en-US" sz="1300"/>
          </a:p>
        </p:txBody>
      </p:sp>
      <p:sp>
        <p:nvSpPr>
          <p:cNvPr id="999324451" name="Text 11"/>
          <p:cNvSpPr/>
          <p:nvPr/>
        </p:nvSpPr>
        <p:spPr bwMode="auto">
          <a:xfrm>
            <a:off x="1874520" y="3483864"/>
            <a:ext cx="5394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Grupo de bloques contiguos asignados de una sola vez al crecer un segmento.</a:t>
            </a:r>
            <a:endParaRPr lang="en-US" sz="1000"/>
          </a:p>
        </p:txBody>
      </p:sp>
      <p:sp>
        <p:nvSpPr>
          <p:cNvPr id="2041171800" name="Shape 12"/>
          <p:cNvSpPr/>
          <p:nvPr/>
        </p:nvSpPr>
        <p:spPr bwMode="auto">
          <a:xfrm>
            <a:off x="2377440" y="3986784"/>
            <a:ext cx="4389120" cy="7498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98860436" name="Text 13"/>
          <p:cNvSpPr/>
          <p:nvPr/>
        </p:nvSpPr>
        <p:spPr bwMode="auto">
          <a:xfrm>
            <a:off x="2514600" y="402336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Bloque/Página</a:t>
            </a:r>
            <a:endParaRPr lang="en-US" sz="1300"/>
          </a:p>
        </p:txBody>
      </p:sp>
      <p:sp>
        <p:nvSpPr>
          <p:cNvPr id="337516016" name="Text 14"/>
          <p:cNvSpPr/>
          <p:nvPr/>
        </p:nvSpPr>
        <p:spPr bwMode="auto">
          <a:xfrm>
            <a:off x="2514600" y="4370832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Unidad mínima de E/S (2–32 KB). Contiene cabecera, directorio de filas y datos reales.</a:t>
            </a:r>
            <a:endParaRPr lang="en-US" sz="1000"/>
          </a:p>
        </p:txBody>
      </p:sp>
      <p:sp>
        <p:nvSpPr>
          <p:cNvPr id="796209854" name="Shape 15"/>
          <p:cNvSpPr/>
          <p:nvPr/>
        </p:nvSpPr>
        <p:spPr bwMode="auto">
          <a:xfrm>
            <a:off x="0" y="4892039"/>
            <a:ext cx="9144000" cy="25603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62440205" name="Text 16"/>
          <p:cNvSpPr/>
          <p:nvPr/>
        </p:nvSpPr>
        <p:spPr bwMode="auto">
          <a:xfrm>
            <a:off x="274320" y="4901184"/>
            <a:ext cx="8686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75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Fuente: Scribd ABD Unidad 2 · UNEZ ISC 2023 — Administración de BD</a:t>
            </a:r>
            <a:endParaRPr lang="en-US" sz="75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 name="Slide 7"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5909938" name="Shape 0"/>
          <p:cNvSpPr/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853812017" name="Shape 1"/>
          <p:cNvSpPr/>
          <p:nvPr/>
        </p:nvSpPr>
        <p:spPr bwMode="auto">
          <a:xfrm>
            <a:off x="0" y="1143000"/>
            <a:ext cx="91440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80972801" name="Shape 2"/>
          <p:cNvSpPr/>
          <p:nvPr/>
        </p:nvSpPr>
        <p:spPr bwMode="auto">
          <a:xfrm>
            <a:off x="274320" y="182880"/>
            <a:ext cx="658368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54009306" name="Text 3"/>
          <p:cNvSpPr/>
          <p:nvPr/>
        </p:nvSpPr>
        <p:spPr bwMode="auto">
          <a:xfrm>
            <a:off x="274320" y="18288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2.3</a:t>
            </a:r>
            <a:endParaRPr lang="en-US" sz="1500"/>
          </a:p>
        </p:txBody>
      </p:sp>
      <p:sp>
        <p:nvSpPr>
          <p:cNvPr id="140266493" name="Text 4"/>
          <p:cNvSpPr/>
          <p:nvPr/>
        </p:nvSpPr>
        <p:spPr bwMode="auto">
          <a:xfrm>
            <a:off x="1078992" y="237744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Requerimientos para Instalación — Hardware</a:t>
            </a:r>
            <a:endParaRPr lang="en-US" sz="2100"/>
          </a:p>
        </p:txBody>
      </p:sp>
      <p:pic>
        <p:nvPicPr>
          <p:cNvPr id="1906394854" name="Image 0" descr="preencoded.png"/>
          <p:cNvPicPr>
            <a:picLocks noChangeAspect="1"/>
          </p:cNvPicPr>
          <p:nvPr/>
        </p:nvPicPr>
        <p:blipFill rotWithShape="1">
          <a:blip r:embed="rId3">
            <a:alphaModFix amt="80000"/>
          </a:blip>
          <a:stretch/>
        </p:blipFill>
        <p:spPr bwMode="auto">
          <a:xfrm>
            <a:off x="8092440" y="91440"/>
            <a:ext cx="822960" cy="822960"/>
          </a:xfrm>
          <a:prstGeom prst="rect">
            <a:avLst/>
          </a:prstGeom>
        </p:spPr>
      </p:pic>
      <p:sp>
        <p:nvSpPr>
          <p:cNvPr id="2104533660" name="Shape 5"/>
          <p:cNvSpPr/>
          <p:nvPr/>
        </p:nvSpPr>
        <p:spPr bwMode="auto">
          <a:xfrm>
            <a:off x="256032" y="1298448"/>
            <a:ext cx="283464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88400118" name="Shape 6"/>
          <p:cNvSpPr/>
          <p:nvPr/>
        </p:nvSpPr>
        <p:spPr bwMode="auto">
          <a:xfrm>
            <a:off x="256032" y="1298448"/>
            <a:ext cx="64008" cy="3474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59386788" name="Text 7"/>
          <p:cNvSpPr/>
          <p:nvPr/>
        </p:nvSpPr>
        <p:spPr bwMode="auto">
          <a:xfrm>
            <a:off x="420624" y="138988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F59E0B"/>
                </a:solidFill>
                <a:latin typeface="Calibri"/>
                <a:ea typeface="Calibri"/>
                <a:cs typeface="Calibri"/>
              </a:rPr>
              <a:t>CPU</a:t>
            </a:r>
            <a:endParaRPr lang="en-US" sz="1200"/>
          </a:p>
        </p:txBody>
      </p:sp>
      <p:sp>
        <p:nvSpPr>
          <p:cNvPr id="2117172843" name="Text 8"/>
          <p:cNvSpPr/>
          <p:nvPr/>
        </p:nvSpPr>
        <p:spPr bwMode="auto">
          <a:xfrm>
            <a:off x="420624" y="1773936"/>
            <a:ext cx="2578608" cy="2944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  <a:defRPr/>
            </a:pPr>
            <a:r>
              <a:rPr lang="en-US" sz="1150">
                <a:solidFill>
                  <a:srgbClr val="0F2A47"/>
                </a:solidFill>
                <a:latin typeface="Calibri"/>
                <a:ea typeface="Calibri"/>
                <a:cs typeface="Calibri"/>
              </a:rPr>
              <a:t>Mínimo 2 núcleos; 4+ recomendados para entornos productivos.</a:t>
            </a:r>
            <a:endParaRPr lang="en-US" sz="1150"/>
          </a:p>
          <a:p>
            <a:pPr marL="342900" indent="-342900">
              <a:spcAft>
                <a:spcPts val="600"/>
              </a:spcAft>
              <a:buSzPct val="100000"/>
              <a:buChar char="•"/>
              <a:defRPr/>
            </a:pPr>
            <a:r>
              <a:rPr lang="en-US" sz="1150">
                <a:solidFill>
                  <a:srgbClr val="0F2A47"/>
                </a:solidFill>
                <a:latin typeface="Calibri"/>
                <a:ea typeface="Calibri"/>
                <a:cs typeface="Calibri"/>
              </a:rPr>
              <a:t>SGBD como Oracle requieren arquitectura x86-64 (64 bits) para aprovechar toda la SGA.</a:t>
            </a:r>
            <a:endParaRPr lang="en-US" sz="1150"/>
          </a:p>
          <a:p>
            <a:pPr marL="342900" indent="-342900">
              <a:spcAft>
                <a:spcPts val="600"/>
              </a:spcAft>
              <a:buSzPct val="100000"/>
              <a:buChar char="•"/>
              <a:defRPr/>
            </a:pPr>
            <a:r>
              <a:rPr lang="en-US" sz="1150">
                <a:solidFill>
                  <a:srgbClr val="0F2A47"/>
                </a:solidFill>
                <a:latin typeface="Calibri"/>
                <a:ea typeface="Calibri"/>
                <a:cs typeface="Calibri"/>
              </a:rPr>
              <a:t>A mayor concurrencia de sesiones, mayor cantidad de núcleos necesarios.</a:t>
            </a:r>
            <a:endParaRPr lang="en-US" sz="1150"/>
          </a:p>
        </p:txBody>
      </p:sp>
      <p:sp>
        <p:nvSpPr>
          <p:cNvPr id="1676481570" name="Shape 9"/>
          <p:cNvSpPr/>
          <p:nvPr/>
        </p:nvSpPr>
        <p:spPr bwMode="auto">
          <a:xfrm>
            <a:off x="3200400" y="1298448"/>
            <a:ext cx="283464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48898622" name="Shape 10"/>
          <p:cNvSpPr/>
          <p:nvPr/>
        </p:nvSpPr>
        <p:spPr bwMode="auto">
          <a:xfrm>
            <a:off x="3200400" y="1298448"/>
            <a:ext cx="64008" cy="3474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69658321" name="Text 11"/>
          <p:cNvSpPr/>
          <p:nvPr/>
        </p:nvSpPr>
        <p:spPr bwMode="auto">
          <a:xfrm>
            <a:off x="3364992" y="138988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0D9488"/>
                </a:solidFill>
                <a:latin typeface="Calibri"/>
                <a:ea typeface="Calibri"/>
                <a:cs typeface="Calibri"/>
              </a:rPr>
              <a:t>Memoria RAM</a:t>
            </a:r>
            <a:endParaRPr lang="en-US" sz="1200"/>
          </a:p>
        </p:txBody>
      </p:sp>
      <p:sp>
        <p:nvSpPr>
          <p:cNvPr id="1675242105" name="Text 12"/>
          <p:cNvSpPr/>
          <p:nvPr/>
        </p:nvSpPr>
        <p:spPr bwMode="auto">
          <a:xfrm>
            <a:off x="3364992" y="1773936"/>
            <a:ext cx="2578608" cy="2944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  <a:defRPr/>
            </a:pPr>
            <a:r>
              <a:rPr lang="en-US" sz="1150">
                <a:solidFill>
                  <a:srgbClr val="0F2A47"/>
                </a:solidFill>
                <a:latin typeface="Calibri"/>
                <a:ea typeface="Calibri"/>
                <a:cs typeface="Calibri"/>
              </a:rPr>
              <a:t>MySQL/MariaDB: mínimo 1 GB (4–8 GB recomendado para producción).</a:t>
            </a:r>
            <a:endParaRPr lang="en-US" sz="1150"/>
          </a:p>
          <a:p>
            <a:pPr marL="342900" indent="-342900">
              <a:spcAft>
                <a:spcPts val="600"/>
              </a:spcAft>
              <a:buSzPct val="100000"/>
              <a:buChar char="•"/>
              <a:defRPr/>
            </a:pPr>
            <a:r>
              <a:rPr lang="en-US" sz="1150">
                <a:solidFill>
                  <a:srgbClr val="0F2A47"/>
                </a:solidFill>
                <a:latin typeface="Calibri"/>
                <a:ea typeface="Calibri"/>
                <a:cs typeface="Calibri"/>
              </a:rPr>
              <a:t>PostgreSQL: mínimo 512 MB; shared_buffers = 25% de la RAM total es punto de partida.</a:t>
            </a:r>
            <a:endParaRPr lang="en-US" sz="1150"/>
          </a:p>
          <a:p>
            <a:pPr marL="342900" indent="-342900">
              <a:spcAft>
                <a:spcPts val="600"/>
              </a:spcAft>
              <a:buSzPct val="100000"/>
              <a:buChar char="•"/>
              <a:defRPr/>
            </a:pPr>
            <a:r>
              <a:rPr lang="en-US" sz="1150">
                <a:solidFill>
                  <a:srgbClr val="0F2A47"/>
                </a:solidFill>
                <a:latin typeface="Calibri"/>
                <a:ea typeface="Calibri"/>
                <a:cs typeface="Calibri"/>
              </a:rPr>
              <a:t>Oracle XE: 2 GB mínimo; edición Enterprise: 4 GB+ para SGA y PGA combinadas.</a:t>
            </a:r>
            <a:endParaRPr lang="en-US" sz="1150"/>
          </a:p>
        </p:txBody>
      </p:sp>
      <p:sp>
        <p:nvSpPr>
          <p:cNvPr id="1601495763" name="Shape 13"/>
          <p:cNvSpPr/>
          <p:nvPr/>
        </p:nvSpPr>
        <p:spPr bwMode="auto">
          <a:xfrm>
            <a:off x="6144768" y="1298448"/>
            <a:ext cx="283464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0342968" name="Shape 14"/>
          <p:cNvSpPr/>
          <p:nvPr/>
        </p:nvSpPr>
        <p:spPr bwMode="auto">
          <a:xfrm>
            <a:off x="6144768" y="1298448"/>
            <a:ext cx="64008" cy="3474720"/>
          </a:xfrm>
          <a:prstGeom prst="rect">
            <a:avLst/>
          </a:prstGeom>
          <a:solidFill>
            <a:srgbClr val="1A4A7A"/>
          </a:solidFill>
          <a:ln w="12700">
            <a:solidFill>
              <a:srgbClr val="1A4A7A"/>
            </a:solidFill>
            <a:prstDash val="solid"/>
          </a:ln>
        </p:spPr>
      </p:sp>
      <p:sp>
        <p:nvSpPr>
          <p:cNvPr id="939974637" name="Text 15"/>
          <p:cNvSpPr/>
          <p:nvPr/>
        </p:nvSpPr>
        <p:spPr bwMode="auto">
          <a:xfrm>
            <a:off x="6309360" y="138988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1A4A7A"/>
                </a:solidFill>
                <a:latin typeface="Calibri"/>
                <a:ea typeface="Calibri"/>
                <a:cs typeface="Calibri"/>
              </a:rPr>
              <a:t>Almacenamiento</a:t>
            </a:r>
            <a:endParaRPr lang="en-US" sz="1200"/>
          </a:p>
        </p:txBody>
      </p:sp>
      <p:sp>
        <p:nvSpPr>
          <p:cNvPr id="1933712462" name="Text 16"/>
          <p:cNvSpPr/>
          <p:nvPr/>
        </p:nvSpPr>
        <p:spPr bwMode="auto">
          <a:xfrm>
            <a:off x="6309360" y="1773936"/>
            <a:ext cx="2578608" cy="2944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  <a:defRPr/>
            </a:pPr>
            <a:r>
              <a:rPr lang="en-US" sz="1150">
                <a:solidFill>
                  <a:srgbClr val="0F2A47"/>
                </a:solidFill>
                <a:latin typeface="Calibri"/>
                <a:ea typeface="Calibri"/>
                <a:cs typeface="Calibri"/>
              </a:rPr>
              <a:t>Espacio para binarios: ~1–8 GB según el SGBD y componentes instalados.</a:t>
            </a:r>
            <a:endParaRPr lang="en-US" sz="1150"/>
          </a:p>
          <a:p>
            <a:pPr marL="342900" indent="-342900">
              <a:spcAft>
                <a:spcPts val="600"/>
              </a:spcAft>
              <a:buSzPct val="100000"/>
              <a:buChar char="•"/>
              <a:defRPr/>
            </a:pPr>
            <a:r>
              <a:rPr lang="en-US" sz="1150">
                <a:solidFill>
                  <a:srgbClr val="0F2A47"/>
                </a:solidFill>
                <a:latin typeface="Calibri"/>
                <a:ea typeface="Calibri"/>
                <a:cs typeface="Calibri"/>
              </a:rPr>
              <a:t>Espacio para datos: depende del volumen; planificar 3× el tamaño esperado (datos + logs + backups).</a:t>
            </a:r>
            <a:endParaRPr lang="en-US" sz="1150"/>
          </a:p>
          <a:p>
            <a:pPr marL="342900" indent="-342900">
              <a:spcAft>
                <a:spcPts val="600"/>
              </a:spcAft>
              <a:buSzPct val="100000"/>
              <a:buChar char="•"/>
              <a:defRPr/>
            </a:pPr>
            <a:r>
              <a:rPr lang="en-US" sz="1150">
                <a:solidFill>
                  <a:srgbClr val="0F2A47"/>
                </a:solidFill>
                <a:latin typeface="Calibri"/>
                <a:ea typeface="Calibri"/>
                <a:cs typeface="Calibri"/>
              </a:rPr>
              <a:t>Se recomienda discos separados para datafiles y redo logs para maximizar IOPS.</a:t>
            </a:r>
            <a:endParaRPr lang="en-US" sz="1150"/>
          </a:p>
        </p:txBody>
      </p:sp>
      <p:sp>
        <p:nvSpPr>
          <p:cNvPr id="161565779" name="Shape 17"/>
          <p:cNvSpPr/>
          <p:nvPr/>
        </p:nvSpPr>
        <p:spPr bwMode="auto">
          <a:xfrm>
            <a:off x="0" y="4892039"/>
            <a:ext cx="9144000" cy="25603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063971718" name="Text 18"/>
          <p:cNvSpPr/>
          <p:nvPr/>
        </p:nvSpPr>
        <p:spPr bwMode="auto">
          <a:xfrm>
            <a:off x="274320" y="4901184"/>
            <a:ext cx="8686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75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Fuente: Nicole Rodríguez Blog (2020) · UNEZ ISC 2023 · StudoCu ITI</a:t>
            </a:r>
            <a:endParaRPr lang="en-US" sz="75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 name="Slide 8"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9770656" name="Shape 0"/>
          <p:cNvSpPr/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05446199" name="Shape 1"/>
          <p:cNvSpPr/>
          <p:nvPr/>
        </p:nvSpPr>
        <p:spPr bwMode="auto">
          <a:xfrm>
            <a:off x="0" y="1143000"/>
            <a:ext cx="91440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57086279" name="Shape 2"/>
          <p:cNvSpPr/>
          <p:nvPr/>
        </p:nvSpPr>
        <p:spPr bwMode="auto">
          <a:xfrm>
            <a:off x="274320" y="182880"/>
            <a:ext cx="658368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82616802" name="Text 3"/>
          <p:cNvSpPr/>
          <p:nvPr/>
        </p:nvSpPr>
        <p:spPr bwMode="auto">
          <a:xfrm>
            <a:off x="274320" y="18288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2.3</a:t>
            </a:r>
            <a:endParaRPr lang="en-US" sz="1500"/>
          </a:p>
        </p:txBody>
      </p:sp>
      <p:sp>
        <p:nvSpPr>
          <p:cNvPr id="1261643763" name="Text 4"/>
          <p:cNvSpPr/>
          <p:nvPr/>
        </p:nvSpPr>
        <p:spPr bwMode="auto">
          <a:xfrm>
            <a:off x="1078992" y="237744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Requerimientos para Instalación — Software y Red</a:t>
            </a:r>
            <a:endParaRPr lang="en-US" sz="2100"/>
          </a:p>
        </p:txBody>
      </p:sp>
      <p:pic>
        <p:nvPicPr>
          <p:cNvPr id="1281089488" name="Image 0" descr="preencoded.png"/>
          <p:cNvPicPr>
            <a:picLocks noChangeAspect="1"/>
          </p:cNvPicPr>
          <p:nvPr/>
        </p:nvPicPr>
        <p:blipFill rotWithShape="1">
          <a:blip r:embed="rId3">
            <a:alphaModFix amt="80000"/>
          </a:blip>
          <a:stretch/>
        </p:blipFill>
        <p:spPr bwMode="auto">
          <a:xfrm>
            <a:off x="8092440" y="91440"/>
            <a:ext cx="822960" cy="822960"/>
          </a:xfrm>
          <a:prstGeom prst="rect">
            <a:avLst/>
          </a:prstGeom>
        </p:spPr>
      </p:pic>
      <p:sp>
        <p:nvSpPr>
          <p:cNvPr id="915691520" name="Shape 5"/>
          <p:cNvSpPr/>
          <p:nvPr/>
        </p:nvSpPr>
        <p:spPr bwMode="auto">
          <a:xfrm>
            <a:off x="256032" y="1298448"/>
            <a:ext cx="4187952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666932" name="Shape 6"/>
          <p:cNvSpPr/>
          <p:nvPr/>
        </p:nvSpPr>
        <p:spPr bwMode="auto">
          <a:xfrm>
            <a:off x="256032" y="1298448"/>
            <a:ext cx="64008" cy="19202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59757191" name="Text 7"/>
          <p:cNvSpPr/>
          <p:nvPr/>
        </p:nvSpPr>
        <p:spPr bwMode="auto">
          <a:xfrm>
            <a:off x="420624" y="1389888"/>
            <a:ext cx="39136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F59E0B"/>
                </a:solidFill>
                <a:latin typeface="Calibri"/>
                <a:ea typeface="Calibri"/>
                <a:cs typeface="Calibri"/>
              </a:rPr>
              <a:t>Sistema Operativo y Dependencias</a:t>
            </a:r>
            <a:endParaRPr lang="en-US" sz="1200"/>
          </a:p>
        </p:txBody>
      </p:sp>
      <p:sp>
        <p:nvSpPr>
          <p:cNvPr id="638897957" name="Text 8"/>
          <p:cNvSpPr/>
          <p:nvPr/>
        </p:nvSpPr>
        <p:spPr bwMode="auto">
          <a:xfrm>
            <a:off x="420624" y="1773936"/>
            <a:ext cx="3931920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  <a:defRPr/>
            </a:pPr>
            <a:r>
              <a:rPr lang="en-US" sz="1150">
                <a:solidFill>
                  <a:srgbClr val="0F2A47"/>
                </a:solidFill>
                <a:latin typeface="Calibri"/>
                <a:ea typeface="Calibri"/>
                <a:cs typeface="Calibri"/>
              </a:rPr>
              <a:t>SO soportado: RHEL/Oracle Linux 7–9, Ubuntu Server 20–22 LTS, Windows Server 2016+.</a:t>
            </a:r>
            <a:endParaRPr lang="en-US" sz="1150"/>
          </a:p>
          <a:p>
            <a:pPr marL="342900" indent="-342900">
              <a:spcAft>
                <a:spcPts val="600"/>
              </a:spcAft>
              <a:buSzPct val="100000"/>
              <a:buChar char="•"/>
              <a:defRPr/>
            </a:pPr>
            <a:r>
              <a:rPr lang="en-US" sz="1150">
                <a:solidFill>
                  <a:srgbClr val="0F2A47"/>
                </a:solidFill>
                <a:latin typeface="Calibri"/>
                <a:ea typeface="Calibri"/>
                <a:cs typeface="Calibri"/>
              </a:rPr>
              <a:t>Paquetes requeridos (Linux): glibc, libaio, libgcc, libstdc++, binutils, compat-libstdc++.</a:t>
            </a:r>
            <a:endParaRPr lang="en-US" sz="1150"/>
          </a:p>
          <a:p>
            <a:pPr marL="342900" indent="-342900">
              <a:spcAft>
                <a:spcPts val="600"/>
              </a:spcAft>
              <a:buSzPct val="100000"/>
              <a:buChar char="•"/>
              <a:defRPr/>
            </a:pPr>
            <a:r>
              <a:rPr lang="en-US" sz="1150">
                <a:solidFill>
                  <a:srgbClr val="0F2A47"/>
                </a:solidFill>
                <a:latin typeface="Calibri"/>
                <a:ea typeface="Calibri"/>
                <a:cs typeface="Calibri"/>
              </a:rPr>
              <a:t>En Oracle: ajustar parámetros del kernel (shmmax, semaphores) en /etc/sysctl.conf.</a:t>
            </a:r>
            <a:endParaRPr lang="en-US" sz="1150"/>
          </a:p>
        </p:txBody>
      </p:sp>
      <p:sp>
        <p:nvSpPr>
          <p:cNvPr id="301781120" name="Shape 9"/>
          <p:cNvSpPr/>
          <p:nvPr/>
        </p:nvSpPr>
        <p:spPr bwMode="auto">
          <a:xfrm>
            <a:off x="4700016" y="1298448"/>
            <a:ext cx="4187952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76763142" name="Shape 10"/>
          <p:cNvSpPr/>
          <p:nvPr/>
        </p:nvSpPr>
        <p:spPr bwMode="auto">
          <a:xfrm>
            <a:off x="4700016" y="1298448"/>
            <a:ext cx="64008" cy="1920240"/>
          </a:xfrm>
          <a:prstGeom prst="rect">
            <a:avLst/>
          </a:prstGeom>
          <a:solidFill>
            <a:srgbClr val="1A4A7A"/>
          </a:solidFill>
          <a:ln w="12700">
            <a:solidFill>
              <a:srgbClr val="1A4A7A"/>
            </a:solidFill>
            <a:prstDash val="solid"/>
          </a:ln>
        </p:spPr>
      </p:sp>
      <p:sp>
        <p:nvSpPr>
          <p:cNvPr id="1440232755" name="Text 11"/>
          <p:cNvSpPr/>
          <p:nvPr/>
        </p:nvSpPr>
        <p:spPr bwMode="auto">
          <a:xfrm>
            <a:off x="4864607" y="1389888"/>
            <a:ext cx="39136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1A4A7A"/>
                </a:solidFill>
                <a:latin typeface="Calibri"/>
                <a:ea typeface="Calibri"/>
                <a:cs typeface="Calibri"/>
              </a:rPr>
              <a:t>Red y Cuentas del Sistema</a:t>
            </a:r>
            <a:endParaRPr lang="en-US" sz="1200"/>
          </a:p>
        </p:txBody>
      </p:sp>
      <p:sp>
        <p:nvSpPr>
          <p:cNvPr id="1431066002" name="Text 12"/>
          <p:cNvSpPr/>
          <p:nvPr/>
        </p:nvSpPr>
        <p:spPr bwMode="auto">
          <a:xfrm>
            <a:off x="4864607" y="1773936"/>
            <a:ext cx="3931920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  <a:defRPr/>
            </a:pPr>
            <a:r>
              <a:rPr lang="en-US" sz="1150">
                <a:solidFill>
                  <a:srgbClr val="0F2A47"/>
                </a:solidFill>
                <a:latin typeface="Calibri"/>
                <a:ea typeface="Calibri"/>
                <a:cs typeface="Calibri"/>
              </a:rPr>
              <a:t>Hostname y resolución DNS correctamente configurados (fqdn).</a:t>
            </a:r>
            <a:endParaRPr lang="en-US" sz="1150"/>
          </a:p>
          <a:p>
            <a:pPr marL="342900" indent="-342900">
              <a:spcAft>
                <a:spcPts val="600"/>
              </a:spcAft>
              <a:buSzPct val="100000"/>
              <a:buChar char="•"/>
              <a:defRPr/>
            </a:pPr>
            <a:r>
              <a:rPr lang="en-US" sz="1150">
                <a:solidFill>
                  <a:srgbClr val="0F2A47"/>
                </a:solidFill>
                <a:latin typeface="Calibri"/>
                <a:ea typeface="Calibri"/>
                <a:cs typeface="Calibri"/>
              </a:rPr>
              <a:t>Puertos habilitados: Oracle 1521, MySQL 3306, PostgreSQL 5432.</a:t>
            </a:r>
            <a:endParaRPr lang="en-US" sz="1150"/>
          </a:p>
          <a:p>
            <a:pPr marL="342900" indent="-342900">
              <a:spcAft>
                <a:spcPts val="600"/>
              </a:spcAft>
              <a:buSzPct val="100000"/>
              <a:buChar char="•"/>
              <a:defRPr/>
            </a:pPr>
            <a:r>
              <a:rPr lang="en-US" sz="1150">
                <a:solidFill>
                  <a:srgbClr val="0F2A47"/>
                </a:solidFill>
                <a:latin typeface="Calibri"/>
                <a:ea typeface="Calibri"/>
                <a:cs typeface="Calibri"/>
              </a:rPr>
              <a:t>Usuario dedicado del SO: oracle, mysql, postgres — sin shell de login directo.</a:t>
            </a:r>
            <a:endParaRPr lang="en-US" sz="1150"/>
          </a:p>
          <a:p>
            <a:pPr marL="342900" indent="-342900">
              <a:spcAft>
                <a:spcPts val="600"/>
              </a:spcAft>
              <a:buSzPct val="100000"/>
              <a:buChar char="•"/>
              <a:defRPr/>
            </a:pPr>
            <a:r>
              <a:rPr lang="en-US" sz="1150">
                <a:solidFill>
                  <a:srgbClr val="0F2A47"/>
                </a:solidFill>
                <a:latin typeface="Calibri"/>
                <a:ea typeface="Calibri"/>
                <a:cs typeface="Calibri"/>
              </a:rPr>
              <a:t>Grupos del SO: dba, oinstall (Oracle); mysql, postgres según el SGBD.</a:t>
            </a:r>
            <a:endParaRPr lang="en-US" sz="1150"/>
          </a:p>
        </p:txBody>
      </p:sp>
      <p:sp>
        <p:nvSpPr>
          <p:cNvPr id="123475078" name="Shape 13"/>
          <p:cNvSpPr/>
          <p:nvPr/>
        </p:nvSpPr>
        <p:spPr bwMode="auto">
          <a:xfrm>
            <a:off x="256032" y="3401568"/>
            <a:ext cx="8631936" cy="14447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83417332" name="Shape 14"/>
          <p:cNvSpPr/>
          <p:nvPr/>
        </p:nvSpPr>
        <p:spPr bwMode="auto">
          <a:xfrm>
            <a:off x="256032" y="3401568"/>
            <a:ext cx="64008" cy="14447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25370681" name="Text 15"/>
          <p:cNvSpPr/>
          <p:nvPr/>
        </p:nvSpPr>
        <p:spPr bwMode="auto">
          <a:xfrm>
            <a:off x="420624" y="3493008"/>
            <a:ext cx="83576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10B981"/>
                </a:solidFill>
                <a:latin typeface="Calibri"/>
                <a:ea typeface="Calibri"/>
                <a:cs typeface="Calibri"/>
              </a:rPr>
              <a:t>Seguridad y Preparativos Previos</a:t>
            </a:r>
            <a:endParaRPr lang="en-US" sz="1200"/>
          </a:p>
        </p:txBody>
      </p:sp>
      <p:sp>
        <p:nvSpPr>
          <p:cNvPr id="1793193362" name="Text 16"/>
          <p:cNvSpPr/>
          <p:nvPr/>
        </p:nvSpPr>
        <p:spPr bwMode="auto">
          <a:xfrm>
            <a:off x="420624" y="3877056"/>
            <a:ext cx="837590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  <a:defRPr/>
            </a:pPr>
            <a:r>
              <a:rPr lang="en-US" sz="1150">
                <a:solidFill>
                  <a:srgbClr val="0F2A47"/>
                </a:solidFill>
                <a:latin typeface="Calibri"/>
                <a:ea typeface="Calibri"/>
                <a:cs typeface="Calibri"/>
              </a:rPr>
              <a:t>Deshabilitar SELinux o configurar políticas permisivas durante la instalación; reactivar luego.</a:t>
            </a:r>
            <a:endParaRPr lang="en-US" sz="1150"/>
          </a:p>
          <a:p>
            <a:pPr marL="342900" indent="-342900">
              <a:spcAft>
                <a:spcPts val="600"/>
              </a:spcAft>
              <a:buSzPct val="100000"/>
              <a:buChar char="•"/>
              <a:defRPr/>
            </a:pPr>
            <a:r>
              <a:rPr lang="en-US" sz="1150">
                <a:solidFill>
                  <a:srgbClr val="0F2A47"/>
                </a:solidFill>
                <a:latin typeface="Calibri"/>
                <a:ea typeface="Calibri"/>
                <a:cs typeface="Calibri"/>
              </a:rPr>
              <a:t>Firewall: abrir solo los puertos necesarios con reglas firewalld / iptables.</a:t>
            </a:r>
            <a:endParaRPr lang="en-US" sz="1150"/>
          </a:p>
          <a:p>
            <a:pPr marL="342900" indent="-342900">
              <a:spcAft>
                <a:spcPts val="600"/>
              </a:spcAft>
              <a:buSzPct val="100000"/>
              <a:buChar char="•"/>
              <a:defRPr/>
            </a:pPr>
            <a:r>
              <a:rPr lang="en-US" sz="1150">
                <a:solidFill>
                  <a:srgbClr val="0F2A47"/>
                </a:solidFill>
                <a:latin typeface="Calibri"/>
                <a:ea typeface="Calibri"/>
                <a:cs typeface="Calibri"/>
              </a:rPr>
              <a:t>Swap: igual o el doble de la RAM (mínimo 2 GB); requerido por Oracle Universal Installer.</a:t>
            </a:r>
            <a:endParaRPr lang="en-US" sz="1150"/>
          </a:p>
          <a:p>
            <a:pPr marL="342900" indent="-342900">
              <a:spcAft>
                <a:spcPts val="600"/>
              </a:spcAft>
              <a:buSzPct val="100000"/>
              <a:buChar char="•"/>
              <a:defRPr/>
            </a:pPr>
            <a:r>
              <a:rPr lang="en-US" sz="1150">
                <a:solidFill>
                  <a:srgbClr val="0F2A47"/>
                </a:solidFill>
                <a:latin typeface="Calibri"/>
                <a:ea typeface="Calibri"/>
                <a:cs typeface="Calibri"/>
              </a:rPr>
              <a:t>Verificar umask (022) y límites del sistema (ulimit -n 65536, ulimit -u 16384).</a:t>
            </a:r>
            <a:endParaRPr lang="en-US" sz="1150"/>
          </a:p>
        </p:txBody>
      </p:sp>
      <p:sp>
        <p:nvSpPr>
          <p:cNvPr id="600635013" name="Shape 17"/>
          <p:cNvSpPr/>
          <p:nvPr/>
        </p:nvSpPr>
        <p:spPr bwMode="auto">
          <a:xfrm>
            <a:off x="0" y="4892039"/>
            <a:ext cx="9144000" cy="25603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473896810" name="Text 18"/>
          <p:cNvSpPr/>
          <p:nvPr/>
        </p:nvSpPr>
        <p:spPr bwMode="auto">
          <a:xfrm>
            <a:off x="274320" y="4901184"/>
            <a:ext cx="8686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75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Fuentes: Nicole Rodríguez Blog · Scribd ABD · StudoCu · UNEZ 2023</a:t>
            </a:r>
            <a:endParaRPr lang="en-US" sz="75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 name="Slide 9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6941007" name="Shape 0"/>
          <p:cNvSpPr/>
          <p:nvPr/>
        </p:nvSpPr>
        <p:spPr bwMode="auto"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27275856" name="Text 1"/>
          <p:cNvSpPr/>
          <p:nvPr/>
        </p:nvSpPr>
        <p:spPr bwMode="auto">
          <a:xfrm>
            <a:off x="292608" y="164592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14B8A6"/>
                </a:solidFill>
                <a:latin typeface="Calibri"/>
                <a:ea typeface="Calibri"/>
                <a:cs typeface="Calibri"/>
              </a:rPr>
              <a:t>2.4</a:t>
            </a:r>
            <a:endParaRPr lang="en-US" sz="1300"/>
          </a:p>
        </p:txBody>
      </p:sp>
      <p:sp>
        <p:nvSpPr>
          <p:cNvPr id="837536598" name="Text 2"/>
          <p:cNvSpPr/>
          <p:nvPr/>
        </p:nvSpPr>
        <p:spPr bwMode="auto">
          <a:xfrm>
            <a:off x="292608" y="502920"/>
            <a:ext cx="8595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Instalación del SGBD en Modo Transaccional</a:t>
            </a:r>
            <a:endParaRPr lang="en-US" sz="2100"/>
          </a:p>
        </p:txBody>
      </p:sp>
      <p:pic>
        <p:nvPicPr>
          <p:cNvPr id="7845190" name="Image 0" descr="preencoded.png"/>
          <p:cNvPicPr>
            <a:picLocks noChangeAspect="1"/>
          </p:cNvPicPr>
          <p:nvPr/>
        </p:nvPicPr>
        <p:blipFill rotWithShape="1">
          <a:blip r:embed="rId3">
            <a:alphaModFix amt="85000"/>
          </a:blip>
          <a:stretch/>
        </p:blipFill>
        <p:spPr bwMode="auto">
          <a:xfrm>
            <a:off x="8046720" y="137160"/>
            <a:ext cx="822960" cy="822960"/>
          </a:xfrm>
          <a:prstGeom prst="rect">
            <a:avLst/>
          </a:prstGeom>
        </p:spPr>
      </p:pic>
      <p:sp>
        <p:nvSpPr>
          <p:cNvPr id="1664330033" name="Shape 3"/>
          <p:cNvSpPr/>
          <p:nvPr/>
        </p:nvSpPr>
        <p:spPr bwMode="auto">
          <a:xfrm>
            <a:off x="256032" y="1234440"/>
            <a:ext cx="8631936" cy="960120"/>
          </a:xfrm>
          <a:prstGeom prst="rect">
            <a:avLst/>
          </a:prstGeom>
          <a:solidFill>
            <a:srgbClr val="0F2A47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83968002" name="Text 4"/>
          <p:cNvSpPr/>
          <p:nvPr/>
        </p:nvSpPr>
        <p:spPr bwMode="auto">
          <a:xfrm>
            <a:off x="411480" y="1298448"/>
            <a:ext cx="8321039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50" i="1">
                <a:solidFill>
                  <a:srgbClr val="14B8A6"/>
                </a:solidFill>
                <a:latin typeface="Calibri"/>
                <a:ea typeface="Calibri"/>
                <a:cs typeface="Calibri"/>
              </a:rPr>
              <a:t>El modo transaccional habilita el registro completo de transacciones (WAL/Redo Logs), garantizando las propiedades ACID desde el primer arranque del SGBD. La mayoría de SGBD modernos lo activan por defecto para bases OLTP.</a:t>
            </a:r>
            <a:endParaRPr lang="en-US" sz="1250"/>
          </a:p>
        </p:txBody>
      </p:sp>
      <p:sp>
        <p:nvSpPr>
          <p:cNvPr id="238140351" name="Shape 5"/>
          <p:cNvSpPr/>
          <p:nvPr/>
        </p:nvSpPr>
        <p:spPr bwMode="auto">
          <a:xfrm>
            <a:off x="256032" y="2359152"/>
            <a:ext cx="2084832" cy="2505456"/>
          </a:xfrm>
          <a:prstGeom prst="rect">
            <a:avLst/>
          </a:prstGeom>
          <a:solidFill>
            <a:srgbClr val="0F2A47"/>
          </a:solidFill>
          <a:ln w="12700">
            <a:solidFill>
              <a:srgbClr val="0D9488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73821221" name="Shape 6"/>
          <p:cNvSpPr/>
          <p:nvPr/>
        </p:nvSpPr>
        <p:spPr bwMode="auto">
          <a:xfrm>
            <a:off x="1033272" y="2468880"/>
            <a:ext cx="530352" cy="5303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02691150" name="Text 7"/>
          <p:cNvSpPr/>
          <p:nvPr/>
        </p:nvSpPr>
        <p:spPr bwMode="auto">
          <a:xfrm>
            <a:off x="1033272" y="246888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2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</a:t>
            </a:r>
            <a:endParaRPr lang="en-US" sz="2000"/>
          </a:p>
        </p:txBody>
      </p:sp>
      <p:sp>
        <p:nvSpPr>
          <p:cNvPr id="2124668901" name="Text 8"/>
          <p:cNvSpPr/>
          <p:nvPr/>
        </p:nvSpPr>
        <p:spPr bwMode="auto">
          <a:xfrm>
            <a:off x="347472" y="3090672"/>
            <a:ext cx="19019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0D9488"/>
                </a:solidFill>
                <a:latin typeface="Calibri"/>
                <a:ea typeface="Calibri"/>
                <a:cs typeface="Calibri"/>
              </a:rPr>
              <a:t>Atomicidad</a:t>
            </a:r>
            <a:endParaRPr lang="en-US" sz="1200"/>
          </a:p>
        </p:txBody>
      </p:sp>
      <p:sp>
        <p:nvSpPr>
          <p:cNvPr id="357320303" name="Text 9"/>
          <p:cNvSpPr/>
          <p:nvPr/>
        </p:nvSpPr>
        <p:spPr bwMode="auto">
          <a:xfrm>
            <a:off x="365760" y="3520440"/>
            <a:ext cx="1865376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Cada transacción se ejecuta completa o se revierte. El instalador aplica este principio: si falla, deshace los cambios.</a:t>
            </a:r>
            <a:endParaRPr lang="en-US" sz="1000"/>
          </a:p>
        </p:txBody>
      </p:sp>
      <p:sp>
        <p:nvSpPr>
          <p:cNvPr id="93365782" name="Shape 10"/>
          <p:cNvSpPr/>
          <p:nvPr/>
        </p:nvSpPr>
        <p:spPr bwMode="auto">
          <a:xfrm>
            <a:off x="2432303" y="2359152"/>
            <a:ext cx="2084832" cy="2505456"/>
          </a:xfrm>
          <a:prstGeom prst="rect">
            <a:avLst/>
          </a:prstGeom>
          <a:solidFill>
            <a:srgbClr val="0F2A47"/>
          </a:solidFill>
          <a:ln w="12700">
            <a:solidFill>
              <a:srgbClr val="38BDF8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97407543" name="Shape 11"/>
          <p:cNvSpPr/>
          <p:nvPr/>
        </p:nvSpPr>
        <p:spPr bwMode="auto">
          <a:xfrm>
            <a:off x="3209544" y="2468880"/>
            <a:ext cx="530352" cy="53035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010095457" name="Text 12"/>
          <p:cNvSpPr/>
          <p:nvPr/>
        </p:nvSpPr>
        <p:spPr bwMode="auto">
          <a:xfrm>
            <a:off x="3209544" y="246888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2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</a:t>
            </a:r>
            <a:endParaRPr lang="en-US" sz="2000"/>
          </a:p>
        </p:txBody>
      </p:sp>
      <p:sp>
        <p:nvSpPr>
          <p:cNvPr id="1512356808" name="Text 13"/>
          <p:cNvSpPr/>
          <p:nvPr/>
        </p:nvSpPr>
        <p:spPr bwMode="auto">
          <a:xfrm>
            <a:off x="2523744" y="3090672"/>
            <a:ext cx="19019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38BDF8"/>
                </a:solidFill>
                <a:latin typeface="Calibri"/>
                <a:ea typeface="Calibri"/>
                <a:cs typeface="Calibri"/>
              </a:rPr>
              <a:t>Consistencia</a:t>
            </a:r>
            <a:endParaRPr lang="en-US" sz="1200"/>
          </a:p>
        </p:txBody>
      </p:sp>
      <p:sp>
        <p:nvSpPr>
          <p:cNvPr id="952096614" name="Text 14"/>
          <p:cNvSpPr/>
          <p:nvPr/>
        </p:nvSpPr>
        <p:spPr bwMode="auto">
          <a:xfrm>
            <a:off x="2542032" y="3520440"/>
            <a:ext cx="1865376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La BD pasa de un estado válido a otro. La instalación crea las estructuras internas (catálogos, rollback, diccionario) de forma coherente.</a:t>
            </a:r>
            <a:endParaRPr lang="en-US" sz="1000"/>
          </a:p>
        </p:txBody>
      </p:sp>
      <p:sp>
        <p:nvSpPr>
          <p:cNvPr id="1946103241" name="Shape 15"/>
          <p:cNvSpPr/>
          <p:nvPr/>
        </p:nvSpPr>
        <p:spPr bwMode="auto">
          <a:xfrm>
            <a:off x="4608576" y="2359152"/>
            <a:ext cx="2084832" cy="2505456"/>
          </a:xfrm>
          <a:prstGeom prst="rect">
            <a:avLst/>
          </a:prstGeom>
          <a:solidFill>
            <a:srgbClr val="0F2A47"/>
          </a:solidFill>
          <a:ln w="12700">
            <a:solidFill>
              <a:srgbClr val="6366F1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806499890" name="Shape 16"/>
          <p:cNvSpPr/>
          <p:nvPr/>
        </p:nvSpPr>
        <p:spPr bwMode="auto">
          <a:xfrm>
            <a:off x="5385816" y="2468880"/>
            <a:ext cx="530352" cy="53035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6117855" name="Text 17"/>
          <p:cNvSpPr/>
          <p:nvPr/>
        </p:nvSpPr>
        <p:spPr bwMode="auto">
          <a:xfrm>
            <a:off x="5385816" y="246888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2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</a:t>
            </a:r>
            <a:endParaRPr lang="en-US" sz="2000"/>
          </a:p>
        </p:txBody>
      </p:sp>
      <p:sp>
        <p:nvSpPr>
          <p:cNvPr id="869009826" name="Text 18"/>
          <p:cNvSpPr/>
          <p:nvPr/>
        </p:nvSpPr>
        <p:spPr bwMode="auto">
          <a:xfrm>
            <a:off x="4700016" y="3090672"/>
            <a:ext cx="19019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6366F1"/>
                </a:solidFill>
                <a:latin typeface="Calibri"/>
                <a:ea typeface="Calibri"/>
                <a:cs typeface="Calibri"/>
              </a:rPr>
              <a:t>Aislamiento</a:t>
            </a:r>
            <a:endParaRPr lang="en-US" sz="1200"/>
          </a:p>
        </p:txBody>
      </p:sp>
      <p:sp>
        <p:nvSpPr>
          <p:cNvPr id="1858749991" name="Text 19"/>
          <p:cNvSpPr/>
          <p:nvPr/>
        </p:nvSpPr>
        <p:spPr bwMode="auto">
          <a:xfrm>
            <a:off x="4718304" y="3520440"/>
            <a:ext cx="1865376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Las transacciones concurrentes no interfieren entre sí. Los redo logs y undo tablespace hacen posible este aislamiento.</a:t>
            </a:r>
            <a:endParaRPr lang="en-US" sz="1000"/>
          </a:p>
        </p:txBody>
      </p:sp>
      <p:sp>
        <p:nvSpPr>
          <p:cNvPr id="1707936509" name="Shape 20"/>
          <p:cNvSpPr/>
          <p:nvPr/>
        </p:nvSpPr>
        <p:spPr bwMode="auto">
          <a:xfrm>
            <a:off x="6784848" y="2359152"/>
            <a:ext cx="2084832" cy="2505456"/>
          </a:xfrm>
          <a:prstGeom prst="rect">
            <a:avLst/>
          </a:prstGeom>
          <a:solidFill>
            <a:srgbClr val="0F2A47"/>
          </a:solidFill>
          <a:ln w="12700">
            <a:solidFill>
              <a:srgbClr val="10B981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905448016" name="Shape 21"/>
          <p:cNvSpPr/>
          <p:nvPr/>
        </p:nvSpPr>
        <p:spPr bwMode="auto">
          <a:xfrm>
            <a:off x="7562088" y="2468880"/>
            <a:ext cx="530352" cy="5303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25354944" name="Text 22"/>
          <p:cNvSpPr/>
          <p:nvPr/>
        </p:nvSpPr>
        <p:spPr bwMode="auto">
          <a:xfrm>
            <a:off x="7562088" y="246888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2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</a:t>
            </a:r>
            <a:endParaRPr lang="en-US" sz="2000"/>
          </a:p>
        </p:txBody>
      </p:sp>
      <p:sp>
        <p:nvSpPr>
          <p:cNvPr id="828339216" name="Text 23"/>
          <p:cNvSpPr/>
          <p:nvPr/>
        </p:nvSpPr>
        <p:spPr bwMode="auto">
          <a:xfrm>
            <a:off x="6876288" y="3090672"/>
            <a:ext cx="19019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10B981"/>
                </a:solidFill>
                <a:latin typeface="Calibri"/>
                <a:ea typeface="Calibri"/>
                <a:cs typeface="Calibri"/>
              </a:rPr>
              <a:t>Durabilidad</a:t>
            </a:r>
            <a:endParaRPr lang="en-US" sz="1200"/>
          </a:p>
        </p:txBody>
      </p:sp>
      <p:sp>
        <p:nvSpPr>
          <p:cNvPr id="734561197" name="Text 24"/>
          <p:cNvSpPr/>
          <p:nvPr/>
        </p:nvSpPr>
        <p:spPr bwMode="auto">
          <a:xfrm>
            <a:off x="6894576" y="3520440"/>
            <a:ext cx="1865376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Los cambios confirmados se preservan ante fallos. El LGWR escribe al redo log antes de confirmar el commit al cliente.</a:t>
            </a:r>
            <a:endParaRPr lang="en-US" sz="1000"/>
          </a:p>
        </p:txBody>
      </p:sp>
      <p:sp>
        <p:nvSpPr>
          <p:cNvPr id="87367183" name="Shape 25"/>
          <p:cNvSpPr/>
          <p:nvPr/>
        </p:nvSpPr>
        <p:spPr bwMode="auto">
          <a:xfrm>
            <a:off x="0" y="4892039"/>
            <a:ext cx="9144000" cy="25603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028479976" name="Text 26"/>
          <p:cNvSpPr/>
          <p:nvPr/>
        </p:nvSpPr>
        <p:spPr bwMode="auto">
          <a:xfrm>
            <a:off x="274320" y="4901184"/>
            <a:ext cx="8686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75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Fuente: Nicole Rodríguez Blog (2020) · UNEZ ISC 2023 — Administración de BD</a:t>
            </a:r>
            <a:endParaRPr lang="en-US" sz="75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 name="Slide 10"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7115653" name="Shape 0"/>
          <p:cNvSpPr/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61620008" name="Shape 1"/>
          <p:cNvSpPr/>
          <p:nvPr/>
        </p:nvSpPr>
        <p:spPr bwMode="auto">
          <a:xfrm>
            <a:off x="0" y="114300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15836180" name="Shape 2"/>
          <p:cNvSpPr/>
          <p:nvPr/>
        </p:nvSpPr>
        <p:spPr bwMode="auto">
          <a:xfrm>
            <a:off x="274320" y="182880"/>
            <a:ext cx="658368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56806048" name="Text 3"/>
          <p:cNvSpPr/>
          <p:nvPr/>
        </p:nvSpPr>
        <p:spPr bwMode="auto">
          <a:xfrm>
            <a:off x="274320" y="18288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2.4</a:t>
            </a:r>
            <a:endParaRPr lang="en-US" sz="1500"/>
          </a:p>
        </p:txBody>
      </p:sp>
      <p:sp>
        <p:nvSpPr>
          <p:cNvPr id="1152603714" name="Text 4"/>
          <p:cNvSpPr/>
          <p:nvPr/>
        </p:nvSpPr>
        <p:spPr bwMode="auto">
          <a:xfrm>
            <a:off x="1078992" y="237744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Pasos Clave para la Instalación en Modo Transaccional</a:t>
            </a:r>
            <a:endParaRPr lang="en-US" sz="2100"/>
          </a:p>
        </p:txBody>
      </p:sp>
      <p:sp>
        <p:nvSpPr>
          <p:cNvPr id="505202066" name="Shape 5"/>
          <p:cNvSpPr/>
          <p:nvPr/>
        </p:nvSpPr>
        <p:spPr bwMode="auto">
          <a:xfrm>
            <a:off x="256032" y="1298448"/>
            <a:ext cx="283464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94902065" name="Shape 6"/>
          <p:cNvSpPr/>
          <p:nvPr/>
        </p:nvSpPr>
        <p:spPr bwMode="auto">
          <a:xfrm>
            <a:off x="365760" y="1426464"/>
            <a:ext cx="438912" cy="4389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40820552" name="Text 7"/>
          <p:cNvSpPr/>
          <p:nvPr/>
        </p:nvSpPr>
        <p:spPr bwMode="auto">
          <a:xfrm>
            <a:off x="365760" y="142646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lang="en-US" sz="1400"/>
          </a:p>
        </p:txBody>
      </p:sp>
      <p:sp>
        <p:nvSpPr>
          <p:cNvPr id="2069977855" name="Text 8"/>
          <p:cNvSpPr/>
          <p:nvPr/>
        </p:nvSpPr>
        <p:spPr bwMode="auto">
          <a:xfrm>
            <a:off x="896112" y="1453896"/>
            <a:ext cx="20848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0D9488"/>
                </a:solidFill>
                <a:latin typeface="Calibri"/>
                <a:ea typeface="Calibri"/>
                <a:cs typeface="Calibri"/>
              </a:rPr>
              <a:t>Preparar directorios</a:t>
            </a:r>
            <a:endParaRPr lang="en-US" sz="1100"/>
          </a:p>
        </p:txBody>
      </p:sp>
      <p:sp>
        <p:nvSpPr>
          <p:cNvPr id="126963675" name="Text 9"/>
          <p:cNvSpPr/>
          <p:nvPr/>
        </p:nvSpPr>
        <p:spPr bwMode="auto">
          <a:xfrm>
            <a:off x="365760" y="1956816"/>
            <a:ext cx="261518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0F2A47"/>
                </a:solidFill>
                <a:latin typeface="Calibri"/>
                <a:ea typeface="Calibri"/>
                <a:cs typeface="Calibri"/>
              </a:rPr>
              <a:t>Crear rutas para datafiles, redo logs y archivos de control con permisos correctos del usuario del SO.</a:t>
            </a:r>
            <a:endParaRPr lang="en-US" sz="1050"/>
          </a:p>
        </p:txBody>
      </p:sp>
      <p:sp>
        <p:nvSpPr>
          <p:cNvPr id="1485658152" name="Shape 10"/>
          <p:cNvSpPr/>
          <p:nvPr/>
        </p:nvSpPr>
        <p:spPr bwMode="auto">
          <a:xfrm>
            <a:off x="3200400" y="1298448"/>
            <a:ext cx="283464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71212509" name="Shape 11"/>
          <p:cNvSpPr/>
          <p:nvPr/>
        </p:nvSpPr>
        <p:spPr bwMode="auto">
          <a:xfrm>
            <a:off x="3310127" y="1426464"/>
            <a:ext cx="438912" cy="438912"/>
          </a:xfrm>
          <a:prstGeom prst="rect">
            <a:avLst/>
          </a:prstGeom>
          <a:solidFill>
            <a:srgbClr val="1A4A7A"/>
          </a:solidFill>
          <a:ln w="12700">
            <a:solidFill>
              <a:srgbClr val="1A4A7A"/>
            </a:solidFill>
            <a:prstDash val="solid"/>
          </a:ln>
        </p:spPr>
      </p:sp>
      <p:sp>
        <p:nvSpPr>
          <p:cNvPr id="77663358" name="Text 12"/>
          <p:cNvSpPr/>
          <p:nvPr/>
        </p:nvSpPr>
        <p:spPr bwMode="auto">
          <a:xfrm>
            <a:off x="3310127" y="142646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lang="en-US" sz="1400"/>
          </a:p>
        </p:txBody>
      </p:sp>
      <p:sp>
        <p:nvSpPr>
          <p:cNvPr id="751574476" name="Text 13"/>
          <p:cNvSpPr/>
          <p:nvPr/>
        </p:nvSpPr>
        <p:spPr bwMode="auto">
          <a:xfrm>
            <a:off x="3840480" y="1453896"/>
            <a:ext cx="20848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1A4A7A"/>
                </a:solidFill>
                <a:latin typeface="Calibri"/>
                <a:ea typeface="Calibri"/>
                <a:cs typeface="Calibri"/>
              </a:rPr>
              <a:t>Configurar parámetros init.</a:t>
            </a:r>
            <a:endParaRPr lang="en-US" sz="1100"/>
          </a:p>
        </p:txBody>
      </p:sp>
      <p:sp>
        <p:nvSpPr>
          <p:cNvPr id="1559406140" name="Text 14"/>
          <p:cNvSpPr/>
          <p:nvPr/>
        </p:nvSpPr>
        <p:spPr bwMode="auto">
          <a:xfrm>
            <a:off x="3310127" y="1956816"/>
            <a:ext cx="261518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0F2A47"/>
                </a:solidFill>
                <a:latin typeface="Calibri"/>
                <a:ea typeface="Calibri"/>
                <a:cs typeface="Calibri"/>
              </a:rPr>
              <a:t>Definir tamaño de redo log buffer, política de commit, ruta del ORACLE_BASE / MYSQL_HOME / PGDATA.</a:t>
            </a:r>
            <a:endParaRPr lang="en-US" sz="1050"/>
          </a:p>
        </p:txBody>
      </p:sp>
      <p:sp>
        <p:nvSpPr>
          <p:cNvPr id="1393634031" name="Shape 15"/>
          <p:cNvSpPr/>
          <p:nvPr/>
        </p:nvSpPr>
        <p:spPr bwMode="auto">
          <a:xfrm>
            <a:off x="6144768" y="1298448"/>
            <a:ext cx="283464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12778311" name="Shape 16"/>
          <p:cNvSpPr/>
          <p:nvPr/>
        </p:nvSpPr>
        <p:spPr bwMode="auto">
          <a:xfrm>
            <a:off x="6254496" y="1426464"/>
            <a:ext cx="438912" cy="43891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91563747" name="Text 17"/>
          <p:cNvSpPr/>
          <p:nvPr/>
        </p:nvSpPr>
        <p:spPr bwMode="auto">
          <a:xfrm>
            <a:off x="6254496" y="142646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lang="en-US" sz="1400"/>
          </a:p>
        </p:txBody>
      </p:sp>
      <p:sp>
        <p:nvSpPr>
          <p:cNvPr id="1395760471" name="Text 18"/>
          <p:cNvSpPr/>
          <p:nvPr/>
        </p:nvSpPr>
        <p:spPr bwMode="auto">
          <a:xfrm>
            <a:off x="6784848" y="1453896"/>
            <a:ext cx="20848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6366F1"/>
                </a:solidFill>
                <a:latin typeface="Calibri"/>
                <a:ea typeface="Calibri"/>
                <a:cs typeface="Calibri"/>
              </a:rPr>
              <a:t>Ejecutar el instalador</a:t>
            </a:r>
            <a:endParaRPr lang="en-US" sz="1100"/>
          </a:p>
        </p:txBody>
      </p:sp>
      <p:sp>
        <p:nvSpPr>
          <p:cNvPr id="62447597" name="Text 19"/>
          <p:cNvSpPr/>
          <p:nvPr/>
        </p:nvSpPr>
        <p:spPr bwMode="auto">
          <a:xfrm>
            <a:off x="6254496" y="1956816"/>
            <a:ext cx="261518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0F2A47"/>
                </a:solidFill>
                <a:latin typeface="Calibri"/>
                <a:ea typeface="Calibri"/>
                <a:cs typeface="Calibri"/>
              </a:rPr>
              <a:t>Lanzar OUI (Oracle), paquete RPM/DEB (MySQL/PostgreSQL) o instalador gráfico; elegir modo transaccional.</a:t>
            </a:r>
            <a:endParaRPr lang="en-US" sz="1050"/>
          </a:p>
        </p:txBody>
      </p:sp>
      <p:sp>
        <p:nvSpPr>
          <p:cNvPr id="942641397" name="Shape 20"/>
          <p:cNvSpPr/>
          <p:nvPr/>
        </p:nvSpPr>
        <p:spPr bwMode="auto">
          <a:xfrm>
            <a:off x="256032" y="3081528"/>
            <a:ext cx="283464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21901231" name="Shape 21"/>
          <p:cNvSpPr/>
          <p:nvPr/>
        </p:nvSpPr>
        <p:spPr bwMode="auto">
          <a:xfrm>
            <a:off x="365760" y="3209544"/>
            <a:ext cx="438912" cy="43891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2388603" name="Text 22"/>
          <p:cNvSpPr/>
          <p:nvPr/>
        </p:nvSpPr>
        <p:spPr bwMode="auto">
          <a:xfrm>
            <a:off x="365760" y="320954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  <a:endParaRPr lang="en-US" sz="1400"/>
          </a:p>
        </p:txBody>
      </p:sp>
      <p:sp>
        <p:nvSpPr>
          <p:cNvPr id="874707801" name="Text 23"/>
          <p:cNvSpPr/>
          <p:nvPr/>
        </p:nvSpPr>
        <p:spPr bwMode="auto">
          <a:xfrm>
            <a:off x="896112" y="3236976"/>
            <a:ext cx="20848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10B981"/>
                </a:solidFill>
                <a:latin typeface="Calibri"/>
                <a:ea typeface="Calibri"/>
                <a:cs typeface="Calibri"/>
              </a:rPr>
              <a:t>Inicializar la instancia</a:t>
            </a:r>
            <a:endParaRPr lang="en-US" sz="1100"/>
          </a:p>
        </p:txBody>
      </p:sp>
      <p:sp>
        <p:nvSpPr>
          <p:cNvPr id="43102896" name="Text 24"/>
          <p:cNvSpPr/>
          <p:nvPr/>
        </p:nvSpPr>
        <p:spPr bwMode="auto">
          <a:xfrm>
            <a:off x="365760" y="3739896"/>
            <a:ext cx="261518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0F2A47"/>
                </a:solidFill>
                <a:latin typeface="Calibri"/>
                <a:ea typeface="Calibri"/>
                <a:cs typeface="Calibri"/>
              </a:rPr>
              <a:t>Usar DBCA / mysql_install_db / initdb para crear la instancia con redo logs, undo tablespace y catálogos.</a:t>
            </a:r>
            <a:endParaRPr lang="en-US" sz="1050"/>
          </a:p>
        </p:txBody>
      </p:sp>
      <p:sp>
        <p:nvSpPr>
          <p:cNvPr id="716707131" name="Shape 25"/>
          <p:cNvSpPr/>
          <p:nvPr/>
        </p:nvSpPr>
        <p:spPr bwMode="auto">
          <a:xfrm>
            <a:off x="3200400" y="3081528"/>
            <a:ext cx="283464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6120656" name="Shape 26"/>
          <p:cNvSpPr/>
          <p:nvPr/>
        </p:nvSpPr>
        <p:spPr bwMode="auto">
          <a:xfrm>
            <a:off x="3310127" y="3209544"/>
            <a:ext cx="438912" cy="43891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98820245" name="Text 27"/>
          <p:cNvSpPr/>
          <p:nvPr/>
        </p:nvSpPr>
        <p:spPr bwMode="auto">
          <a:xfrm>
            <a:off x="3310127" y="320954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  <a:endParaRPr lang="en-US" sz="1400"/>
          </a:p>
        </p:txBody>
      </p:sp>
      <p:sp>
        <p:nvSpPr>
          <p:cNvPr id="1165578020" name="Text 28"/>
          <p:cNvSpPr/>
          <p:nvPr/>
        </p:nvSpPr>
        <p:spPr bwMode="auto">
          <a:xfrm>
            <a:off x="3840480" y="3236976"/>
            <a:ext cx="20848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F59E0B"/>
                </a:solidFill>
                <a:latin typeface="Calibri"/>
                <a:ea typeface="Calibri"/>
                <a:cs typeface="Calibri"/>
              </a:rPr>
              <a:t>Verificar redo logs activos</a:t>
            </a:r>
            <a:endParaRPr lang="en-US" sz="1100"/>
          </a:p>
        </p:txBody>
      </p:sp>
      <p:sp>
        <p:nvSpPr>
          <p:cNvPr id="200977302" name="Text 29"/>
          <p:cNvSpPr/>
          <p:nvPr/>
        </p:nvSpPr>
        <p:spPr bwMode="auto">
          <a:xfrm>
            <a:off x="3310127" y="3739896"/>
            <a:ext cx="261518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0F2A47"/>
                </a:solidFill>
                <a:latin typeface="Calibri"/>
                <a:ea typeface="Calibri"/>
                <a:cs typeface="Calibri"/>
              </a:rPr>
              <a:t>Confirmar que al menos 2 grupos de redo log están CURRENT/INACTIVE con V$LOG (Oracle) o SHOW VARIABLES (MySQL).</a:t>
            </a:r>
            <a:endParaRPr lang="en-US" sz="1050"/>
          </a:p>
        </p:txBody>
      </p:sp>
      <p:sp>
        <p:nvSpPr>
          <p:cNvPr id="2044045514" name="Shape 30"/>
          <p:cNvSpPr/>
          <p:nvPr/>
        </p:nvSpPr>
        <p:spPr bwMode="auto">
          <a:xfrm>
            <a:off x="6144768" y="3081528"/>
            <a:ext cx="283464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55078139" name="Shape 31"/>
          <p:cNvSpPr/>
          <p:nvPr/>
        </p:nvSpPr>
        <p:spPr bwMode="auto">
          <a:xfrm>
            <a:off x="6254496" y="3209544"/>
            <a:ext cx="438912" cy="4389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25275697" name="Text 32"/>
          <p:cNvSpPr/>
          <p:nvPr/>
        </p:nvSpPr>
        <p:spPr bwMode="auto">
          <a:xfrm>
            <a:off x="6254496" y="320954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6</a:t>
            </a:r>
            <a:endParaRPr lang="en-US" sz="1400"/>
          </a:p>
        </p:txBody>
      </p:sp>
      <p:sp>
        <p:nvSpPr>
          <p:cNvPr id="337914936" name="Text 33"/>
          <p:cNvSpPr/>
          <p:nvPr/>
        </p:nvSpPr>
        <p:spPr bwMode="auto">
          <a:xfrm>
            <a:off x="6784848" y="3236976"/>
            <a:ext cx="20848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0D9488"/>
                </a:solidFill>
                <a:latin typeface="Calibri"/>
                <a:ea typeface="Calibri"/>
                <a:cs typeface="Calibri"/>
              </a:rPr>
              <a:t>Prueba de transacción</a:t>
            </a:r>
            <a:endParaRPr lang="en-US" sz="1100"/>
          </a:p>
        </p:txBody>
      </p:sp>
      <p:sp>
        <p:nvSpPr>
          <p:cNvPr id="1598781925" name="Text 34"/>
          <p:cNvSpPr/>
          <p:nvPr/>
        </p:nvSpPr>
        <p:spPr bwMode="auto">
          <a:xfrm>
            <a:off x="6254496" y="3739896"/>
            <a:ext cx="261518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0F2A47"/>
                </a:solidFill>
                <a:latin typeface="Calibri"/>
                <a:ea typeface="Calibri"/>
                <a:cs typeface="Calibri"/>
              </a:rPr>
              <a:t>Ejecutar INSERT-COMMIT y ROLLBACK de prueba; verificar persistencia y reversión correctas en logs.</a:t>
            </a:r>
            <a:endParaRPr lang="en-US" sz="1050"/>
          </a:p>
        </p:txBody>
      </p:sp>
      <p:sp>
        <p:nvSpPr>
          <p:cNvPr id="1526446918" name="Shape 35"/>
          <p:cNvSpPr/>
          <p:nvPr/>
        </p:nvSpPr>
        <p:spPr bwMode="auto">
          <a:xfrm>
            <a:off x="0" y="4892039"/>
            <a:ext cx="9144000" cy="25603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541416265" name="Text 36"/>
          <p:cNvSpPr/>
          <p:nvPr/>
        </p:nvSpPr>
        <p:spPr bwMode="auto">
          <a:xfrm>
            <a:off x="274320" y="4901184"/>
            <a:ext cx="8686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75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Fuentes: Nicole Rodríguez Blog · Scribd ABD · StudoCu · UNEZ 2023</a:t>
            </a:r>
            <a:endParaRPr lang="en-US" sz="75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 name="Slide 1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7559748" name="Shape 0"/>
          <p:cNvSpPr/>
          <p:nvPr/>
        </p:nvSpPr>
        <p:spPr bwMode="auto">
          <a:xfrm>
            <a:off x="0" y="0"/>
            <a:ext cx="109728" cy="51435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883965531" name="Text 1"/>
          <p:cNvSpPr/>
          <p:nvPr/>
        </p:nvSpPr>
        <p:spPr bwMode="auto">
          <a:xfrm>
            <a:off x="292608" y="164592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38BDF8"/>
                </a:solidFill>
                <a:latin typeface="Calibri"/>
                <a:ea typeface="Calibri"/>
                <a:cs typeface="Calibri"/>
              </a:rPr>
              <a:t>2.5</a:t>
            </a:r>
            <a:endParaRPr lang="en-US" sz="1300"/>
          </a:p>
        </p:txBody>
      </p:sp>
      <p:sp>
        <p:nvSpPr>
          <p:cNvPr id="1663566883" name="Text 2"/>
          <p:cNvSpPr/>
          <p:nvPr/>
        </p:nvSpPr>
        <p:spPr bwMode="auto">
          <a:xfrm>
            <a:off x="292608" y="502920"/>
            <a:ext cx="8595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Variables de Ambiente Importantes</a:t>
            </a:r>
            <a:endParaRPr lang="en-US" sz="2200"/>
          </a:p>
        </p:txBody>
      </p:sp>
      <p:pic>
        <p:nvPicPr>
          <p:cNvPr id="66453468" name="Image 0" descr="preencoded.png"/>
          <p:cNvPicPr>
            <a:picLocks noChangeAspect="1"/>
          </p:cNvPicPr>
          <p:nvPr/>
        </p:nvPicPr>
        <p:blipFill rotWithShape="1">
          <a:blip r:embed="rId3">
            <a:alphaModFix amt="85000"/>
          </a:blip>
          <a:stretch/>
        </p:blipFill>
        <p:spPr bwMode="auto">
          <a:xfrm>
            <a:off x="8046720" y="137160"/>
            <a:ext cx="822960" cy="822960"/>
          </a:xfrm>
          <a:prstGeom prst="rect">
            <a:avLst/>
          </a:prstGeom>
        </p:spPr>
      </p:pic>
      <p:graphicFrame>
        <p:nvGraphicFramePr>
          <p:cNvPr id="2129719202" name="Table 0"/>
          <p:cNvGraphicFramePr>
            <a:graphicFrameLocks noGrp="1"/>
          </p:cNvGraphicFramePr>
          <p:nvPr/>
        </p:nvGraphicFramePr>
        <p:xfrm>
          <a:off x="256032" y="1261872"/>
          <a:ext cx="8631936" cy="3493008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1401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6626">
                <a:tc>
                  <a:txBody>
                    <a:bodyPr/>
                    <a:lstStyle/>
                    <a:p>
                      <a:pPr marL="0" indent="0" algn="ctr">
                        <a:buNone/>
                        <a:defRPr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Variable</a:t>
                      </a:r>
                      <a:endParaRPr lang="en-US" sz="10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6350" algn="ctr">
                      <a:solidFill>
                        <a:srgbClr val="1B3A5C"/>
                      </a:solidFill>
                    </a:lnL>
                    <a:lnR w="6350" algn="ctr">
                      <a:solidFill>
                        <a:srgbClr val="1B3A5C"/>
                      </a:solidFill>
                    </a:lnR>
                    <a:lnT w="6350" algn="ctr">
                      <a:solidFill>
                        <a:srgbClr val="1B3A5C"/>
                      </a:solidFill>
                    </a:lnT>
                    <a:lnB w="6350" algn="ctr">
                      <a:solidFill>
                        <a:srgbClr val="1B3A5C"/>
                      </a:solidFill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  <a:defRPr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SGBD</a:t>
                      </a:r>
                      <a:endParaRPr lang="en-US" sz="10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6350" algn="ctr">
                      <a:solidFill>
                        <a:srgbClr val="1B3A5C"/>
                      </a:solidFill>
                    </a:lnL>
                    <a:lnR w="6350" algn="ctr">
                      <a:solidFill>
                        <a:srgbClr val="1B3A5C"/>
                      </a:solidFill>
                    </a:lnR>
                    <a:lnT w="6350" algn="ctr">
                      <a:solidFill>
                        <a:srgbClr val="1B3A5C"/>
                      </a:solidFill>
                    </a:lnT>
                    <a:lnB w="6350" algn="ctr">
                      <a:solidFill>
                        <a:srgbClr val="1B3A5C"/>
                      </a:solidFill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  <a:defRPr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Descripción</a:t>
                      </a:r>
                      <a:endParaRPr lang="en-US" sz="10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6350" algn="ctr">
                      <a:solidFill>
                        <a:srgbClr val="1B3A5C"/>
                      </a:solidFill>
                    </a:lnL>
                    <a:lnR w="6350" algn="ctr">
                      <a:solidFill>
                        <a:srgbClr val="1B3A5C"/>
                      </a:solidFill>
                    </a:lnR>
                    <a:lnT w="6350" algn="ctr">
                      <a:solidFill>
                        <a:srgbClr val="1B3A5C"/>
                      </a:solidFill>
                    </a:lnT>
                    <a:lnB w="6350" algn="ctr">
                      <a:solidFill>
                        <a:srgbClr val="1B3A5C"/>
                      </a:solidFill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  <a:defRPr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Ejemplo de valor</a:t>
                      </a:r>
                      <a:endParaRPr lang="en-US" sz="10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6350" algn="ctr">
                      <a:solidFill>
                        <a:srgbClr val="1B3A5C"/>
                      </a:solidFill>
                    </a:lnL>
                    <a:lnR w="6350" algn="ctr">
                      <a:solidFill>
                        <a:srgbClr val="1B3A5C"/>
                      </a:solidFill>
                    </a:lnR>
                    <a:lnT w="6350" algn="ctr">
                      <a:solidFill>
                        <a:srgbClr val="1B3A5C"/>
                      </a:solidFill>
                    </a:lnT>
                    <a:lnB w="6350" algn="ctr">
                      <a:solidFill>
                        <a:srgbClr val="1B3A5C"/>
                      </a:solidFill>
                    </a:lnB>
                    <a:solidFill>
                      <a:srgbClr val="1A4A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6626">
                <a:tc>
                  <a:txBody>
                    <a:bodyPr/>
                    <a:lstStyle/>
                    <a:p>
                      <a:pPr marL="0" indent="0">
                        <a:buNone/>
                        <a:defRPr/>
                      </a:pPr>
                      <a:r>
                        <a:rPr lang="en-US" sz="1050">
                          <a:solidFill>
                            <a:srgbClr val="EFF6FF"/>
                          </a:solidFill>
                          <a:latin typeface="Calibri"/>
                          <a:ea typeface="Calibri"/>
                          <a:cs typeface="Calibri"/>
                        </a:rPr>
                        <a:t>ORACLE_HOME</a:t>
                      </a:r>
                      <a:endParaRPr lang="en-US" sz="10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6350" algn="ctr">
                      <a:solidFill>
                        <a:srgbClr val="1B3A5C"/>
                      </a:solidFill>
                    </a:lnL>
                    <a:lnR w="6350" algn="ctr">
                      <a:solidFill>
                        <a:srgbClr val="1B3A5C"/>
                      </a:solidFill>
                    </a:lnR>
                    <a:lnT w="6350" algn="ctr">
                      <a:solidFill>
                        <a:srgbClr val="1B3A5C"/>
                      </a:solidFill>
                    </a:lnT>
                    <a:lnB w="6350" algn="ctr">
                      <a:solidFill>
                        <a:srgbClr val="1B3A5C"/>
                      </a:solidFill>
                    </a:lnB>
                    <a:solidFill>
                      <a:srgbClr val="0F2A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  <a:defRPr/>
                      </a:pPr>
                      <a:r>
                        <a:rPr lang="en-US" sz="1050">
                          <a:solidFill>
                            <a:srgbClr val="EFF6FF"/>
                          </a:solidFill>
                          <a:latin typeface="Calibri"/>
                          <a:ea typeface="Calibri"/>
                          <a:cs typeface="Calibri"/>
                        </a:rPr>
                        <a:t>Oracle</a:t>
                      </a:r>
                      <a:endParaRPr lang="en-US" sz="10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6350" algn="ctr">
                      <a:solidFill>
                        <a:srgbClr val="1B3A5C"/>
                      </a:solidFill>
                    </a:lnL>
                    <a:lnR w="6350" algn="ctr">
                      <a:solidFill>
                        <a:srgbClr val="1B3A5C"/>
                      </a:solidFill>
                    </a:lnR>
                    <a:lnT w="6350" algn="ctr">
                      <a:solidFill>
                        <a:srgbClr val="1B3A5C"/>
                      </a:solidFill>
                    </a:lnT>
                    <a:lnB w="6350" algn="ctr">
                      <a:solidFill>
                        <a:srgbClr val="1B3A5C"/>
                      </a:solidFill>
                    </a:lnB>
                    <a:solidFill>
                      <a:srgbClr val="0F2A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  <a:defRPr/>
                      </a:pPr>
                      <a:r>
                        <a:rPr lang="en-US" sz="1050">
                          <a:solidFill>
                            <a:srgbClr val="EFF6FF"/>
                          </a:solidFill>
                          <a:latin typeface="Calibri"/>
                          <a:ea typeface="Calibri"/>
                          <a:cs typeface="Calibri"/>
                        </a:rPr>
                        <a:t>Directorio raíz de la instalación de Oracle</a:t>
                      </a:r>
                      <a:endParaRPr lang="en-US" sz="10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6350" algn="ctr">
                      <a:solidFill>
                        <a:srgbClr val="1B3A5C"/>
                      </a:solidFill>
                    </a:lnL>
                    <a:lnR w="6350" algn="ctr">
                      <a:solidFill>
                        <a:srgbClr val="1B3A5C"/>
                      </a:solidFill>
                    </a:lnR>
                    <a:lnT w="6350" algn="ctr">
                      <a:solidFill>
                        <a:srgbClr val="1B3A5C"/>
                      </a:solidFill>
                    </a:lnT>
                    <a:lnB w="6350" algn="ctr">
                      <a:solidFill>
                        <a:srgbClr val="1B3A5C"/>
                      </a:solidFill>
                    </a:lnB>
                    <a:solidFill>
                      <a:srgbClr val="0F2A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  <a:defRPr/>
                      </a:pPr>
                      <a:r>
                        <a:rPr lang="en-US" sz="1050">
                          <a:solidFill>
                            <a:srgbClr val="EFF6FF"/>
                          </a:solidFill>
                          <a:latin typeface="Calibri"/>
                          <a:ea typeface="Calibri"/>
                          <a:cs typeface="Calibri"/>
                        </a:rPr>
                        <a:t>/u01/app/oracle/product/19c/dbhome_1</a:t>
                      </a:r>
                      <a:endParaRPr lang="en-US" sz="10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6350" algn="ctr">
                      <a:solidFill>
                        <a:srgbClr val="1B3A5C"/>
                      </a:solidFill>
                    </a:lnL>
                    <a:lnR w="6350" algn="ctr">
                      <a:solidFill>
                        <a:srgbClr val="1B3A5C"/>
                      </a:solidFill>
                    </a:lnR>
                    <a:lnT w="6350" algn="ctr">
                      <a:solidFill>
                        <a:srgbClr val="1B3A5C"/>
                      </a:solidFill>
                    </a:lnT>
                    <a:lnB w="6350" algn="ctr">
                      <a:solidFill>
                        <a:srgbClr val="1B3A5C"/>
                      </a:solidFill>
                    </a:lnB>
                    <a:solidFill>
                      <a:srgbClr val="0F2A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6626">
                <a:tc>
                  <a:txBody>
                    <a:bodyPr/>
                    <a:lstStyle/>
                    <a:p>
                      <a:pPr marL="0" indent="0">
                        <a:buNone/>
                        <a:defRPr/>
                      </a:pPr>
                      <a:r>
                        <a:rPr lang="en-US" sz="1050">
                          <a:solidFill>
                            <a:srgbClr val="EFF6FF"/>
                          </a:solidFill>
                          <a:latin typeface="Calibri"/>
                          <a:ea typeface="Calibri"/>
                          <a:cs typeface="Calibri"/>
                        </a:rPr>
                        <a:t>ORACLE_SID</a:t>
                      </a:r>
                      <a:endParaRPr lang="en-US" sz="10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6350" algn="ctr">
                      <a:solidFill>
                        <a:srgbClr val="1B3A5C"/>
                      </a:solidFill>
                    </a:lnL>
                    <a:lnR w="6350" algn="ctr">
                      <a:solidFill>
                        <a:srgbClr val="1B3A5C"/>
                      </a:solidFill>
                    </a:lnR>
                    <a:lnT w="6350" algn="ctr">
                      <a:solidFill>
                        <a:srgbClr val="1B3A5C"/>
                      </a:solidFill>
                    </a:lnT>
                    <a:lnB w="6350" algn="ctr">
                      <a:solidFill>
                        <a:srgbClr val="1B3A5C"/>
                      </a:solidFill>
                    </a:lnB>
                    <a:solidFill>
                      <a:srgbClr val="0F2A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  <a:defRPr/>
                      </a:pPr>
                      <a:r>
                        <a:rPr lang="en-US" sz="1050">
                          <a:solidFill>
                            <a:srgbClr val="EFF6FF"/>
                          </a:solidFill>
                          <a:latin typeface="Calibri"/>
                          <a:ea typeface="Calibri"/>
                          <a:cs typeface="Calibri"/>
                        </a:rPr>
                        <a:t>Oracle</a:t>
                      </a:r>
                      <a:endParaRPr lang="en-US" sz="10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6350" algn="ctr">
                      <a:solidFill>
                        <a:srgbClr val="1B3A5C"/>
                      </a:solidFill>
                    </a:lnL>
                    <a:lnR w="6350" algn="ctr">
                      <a:solidFill>
                        <a:srgbClr val="1B3A5C"/>
                      </a:solidFill>
                    </a:lnR>
                    <a:lnT w="6350" algn="ctr">
                      <a:solidFill>
                        <a:srgbClr val="1B3A5C"/>
                      </a:solidFill>
                    </a:lnT>
                    <a:lnB w="6350" algn="ctr">
                      <a:solidFill>
                        <a:srgbClr val="1B3A5C"/>
                      </a:solidFill>
                    </a:lnB>
                    <a:solidFill>
                      <a:srgbClr val="0F2A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  <a:defRPr/>
                      </a:pPr>
                      <a:r>
                        <a:rPr lang="en-US" sz="1050">
                          <a:solidFill>
                            <a:srgbClr val="EFF6FF"/>
                          </a:solidFill>
                          <a:latin typeface="Calibri"/>
                          <a:ea typeface="Calibri"/>
                          <a:cs typeface="Calibri"/>
                        </a:rPr>
                        <a:t>Identificador de la instancia activa</a:t>
                      </a:r>
                      <a:endParaRPr lang="en-US" sz="10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6350" algn="ctr">
                      <a:solidFill>
                        <a:srgbClr val="1B3A5C"/>
                      </a:solidFill>
                    </a:lnL>
                    <a:lnR w="6350" algn="ctr">
                      <a:solidFill>
                        <a:srgbClr val="1B3A5C"/>
                      </a:solidFill>
                    </a:lnR>
                    <a:lnT w="6350" algn="ctr">
                      <a:solidFill>
                        <a:srgbClr val="1B3A5C"/>
                      </a:solidFill>
                    </a:lnT>
                    <a:lnB w="6350" algn="ctr">
                      <a:solidFill>
                        <a:srgbClr val="1B3A5C"/>
                      </a:solidFill>
                    </a:lnB>
                    <a:solidFill>
                      <a:srgbClr val="0F2A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  <a:defRPr/>
                      </a:pPr>
                      <a:r>
                        <a:rPr lang="en-US" sz="1050">
                          <a:solidFill>
                            <a:srgbClr val="EFF6FF"/>
                          </a:solidFill>
                          <a:latin typeface="Calibri"/>
                          <a:ea typeface="Calibri"/>
                          <a:cs typeface="Calibri"/>
                        </a:rPr>
                        <a:t>ORCL</a:t>
                      </a:r>
                      <a:endParaRPr lang="en-US" sz="10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6350" algn="ctr">
                      <a:solidFill>
                        <a:srgbClr val="1B3A5C"/>
                      </a:solidFill>
                    </a:lnL>
                    <a:lnR w="6350" algn="ctr">
                      <a:solidFill>
                        <a:srgbClr val="1B3A5C"/>
                      </a:solidFill>
                    </a:lnR>
                    <a:lnT w="6350" algn="ctr">
                      <a:solidFill>
                        <a:srgbClr val="1B3A5C"/>
                      </a:solidFill>
                    </a:lnT>
                    <a:lnB w="6350" algn="ctr">
                      <a:solidFill>
                        <a:srgbClr val="1B3A5C"/>
                      </a:solidFill>
                    </a:lnB>
                    <a:solidFill>
                      <a:srgbClr val="0F2A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6626">
                <a:tc>
                  <a:txBody>
                    <a:bodyPr/>
                    <a:lstStyle/>
                    <a:p>
                      <a:pPr marL="0" indent="0">
                        <a:buNone/>
                        <a:defRPr/>
                      </a:pPr>
                      <a:r>
                        <a:rPr lang="en-US" sz="1050">
                          <a:solidFill>
                            <a:srgbClr val="EFF6FF"/>
                          </a:solidFill>
                          <a:latin typeface="Calibri"/>
                          <a:ea typeface="Calibri"/>
                          <a:cs typeface="Calibri"/>
                        </a:rPr>
                        <a:t>ORACLE_BASE</a:t>
                      </a:r>
                      <a:endParaRPr lang="en-US" sz="10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6350" algn="ctr">
                      <a:solidFill>
                        <a:srgbClr val="1B3A5C"/>
                      </a:solidFill>
                    </a:lnL>
                    <a:lnR w="6350" algn="ctr">
                      <a:solidFill>
                        <a:srgbClr val="1B3A5C"/>
                      </a:solidFill>
                    </a:lnR>
                    <a:lnT w="6350" algn="ctr">
                      <a:solidFill>
                        <a:srgbClr val="1B3A5C"/>
                      </a:solidFill>
                    </a:lnT>
                    <a:lnB w="6350" algn="ctr">
                      <a:solidFill>
                        <a:srgbClr val="1B3A5C"/>
                      </a:solidFill>
                    </a:lnB>
                    <a:solidFill>
                      <a:srgbClr val="0F2A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  <a:defRPr/>
                      </a:pPr>
                      <a:r>
                        <a:rPr lang="en-US" sz="1050">
                          <a:solidFill>
                            <a:srgbClr val="EFF6FF"/>
                          </a:solidFill>
                          <a:latin typeface="Calibri"/>
                          <a:ea typeface="Calibri"/>
                          <a:cs typeface="Calibri"/>
                        </a:rPr>
                        <a:t>Oracle</a:t>
                      </a:r>
                      <a:endParaRPr lang="en-US" sz="10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6350" algn="ctr">
                      <a:solidFill>
                        <a:srgbClr val="1B3A5C"/>
                      </a:solidFill>
                    </a:lnL>
                    <a:lnR w="6350" algn="ctr">
                      <a:solidFill>
                        <a:srgbClr val="1B3A5C"/>
                      </a:solidFill>
                    </a:lnR>
                    <a:lnT w="6350" algn="ctr">
                      <a:solidFill>
                        <a:srgbClr val="1B3A5C"/>
                      </a:solidFill>
                    </a:lnT>
                    <a:lnB w="6350" algn="ctr">
                      <a:solidFill>
                        <a:srgbClr val="1B3A5C"/>
                      </a:solidFill>
                    </a:lnB>
                    <a:solidFill>
                      <a:srgbClr val="0F2A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  <a:defRPr/>
                      </a:pPr>
                      <a:r>
                        <a:rPr lang="en-US" sz="1050">
                          <a:solidFill>
                            <a:srgbClr val="EFF6FF"/>
                          </a:solidFill>
                          <a:latin typeface="Calibri"/>
                          <a:ea typeface="Calibri"/>
                          <a:cs typeface="Calibri"/>
                        </a:rPr>
                        <a:t>Base de todos los productos Oracle</a:t>
                      </a:r>
                      <a:endParaRPr lang="en-US" sz="10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6350" algn="ctr">
                      <a:solidFill>
                        <a:srgbClr val="1B3A5C"/>
                      </a:solidFill>
                    </a:lnL>
                    <a:lnR w="6350" algn="ctr">
                      <a:solidFill>
                        <a:srgbClr val="1B3A5C"/>
                      </a:solidFill>
                    </a:lnR>
                    <a:lnT w="6350" algn="ctr">
                      <a:solidFill>
                        <a:srgbClr val="1B3A5C"/>
                      </a:solidFill>
                    </a:lnT>
                    <a:lnB w="6350" algn="ctr">
                      <a:solidFill>
                        <a:srgbClr val="1B3A5C"/>
                      </a:solidFill>
                    </a:lnB>
                    <a:solidFill>
                      <a:srgbClr val="0F2A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  <a:defRPr/>
                      </a:pPr>
                      <a:r>
                        <a:rPr lang="en-US" sz="1050">
                          <a:solidFill>
                            <a:srgbClr val="EFF6FF"/>
                          </a:solidFill>
                          <a:latin typeface="Calibri"/>
                          <a:ea typeface="Calibri"/>
                          <a:cs typeface="Calibri"/>
                        </a:rPr>
                        <a:t>/u01/app/oracle</a:t>
                      </a:r>
                      <a:endParaRPr lang="en-US" sz="10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6350" algn="ctr">
                      <a:solidFill>
                        <a:srgbClr val="1B3A5C"/>
                      </a:solidFill>
                    </a:lnL>
                    <a:lnR w="6350" algn="ctr">
                      <a:solidFill>
                        <a:srgbClr val="1B3A5C"/>
                      </a:solidFill>
                    </a:lnR>
                    <a:lnT w="6350" algn="ctr">
                      <a:solidFill>
                        <a:srgbClr val="1B3A5C"/>
                      </a:solidFill>
                    </a:lnT>
                    <a:lnB w="6350" algn="ctr">
                      <a:solidFill>
                        <a:srgbClr val="1B3A5C"/>
                      </a:solidFill>
                    </a:lnB>
                    <a:solidFill>
                      <a:srgbClr val="0F2A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6626">
                <a:tc>
                  <a:txBody>
                    <a:bodyPr/>
                    <a:lstStyle/>
                    <a:p>
                      <a:pPr marL="0" indent="0">
                        <a:buNone/>
                        <a:defRPr/>
                      </a:pPr>
                      <a:r>
                        <a:rPr lang="en-US" sz="1050">
                          <a:solidFill>
                            <a:srgbClr val="EFF6FF"/>
                          </a:solidFill>
                          <a:latin typeface="Calibri"/>
                          <a:ea typeface="Calibri"/>
                          <a:cs typeface="Calibri"/>
                        </a:rPr>
                        <a:t>PATH</a:t>
                      </a:r>
                      <a:endParaRPr lang="en-US" sz="10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6350" algn="ctr">
                      <a:solidFill>
                        <a:srgbClr val="1B3A5C"/>
                      </a:solidFill>
                    </a:lnL>
                    <a:lnR w="6350" algn="ctr">
                      <a:solidFill>
                        <a:srgbClr val="1B3A5C"/>
                      </a:solidFill>
                    </a:lnR>
                    <a:lnT w="6350" algn="ctr">
                      <a:solidFill>
                        <a:srgbClr val="1B3A5C"/>
                      </a:solidFill>
                    </a:lnT>
                    <a:lnB w="6350" algn="ctr">
                      <a:solidFill>
                        <a:srgbClr val="1B3A5C"/>
                      </a:solidFill>
                    </a:lnB>
                    <a:solidFill>
                      <a:srgbClr val="0F2A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  <a:defRPr/>
                      </a:pPr>
                      <a:r>
                        <a:rPr lang="en-US" sz="1050">
                          <a:solidFill>
                            <a:srgbClr val="EFF6FF"/>
                          </a:solidFill>
                          <a:latin typeface="Calibri"/>
                          <a:ea typeface="Calibri"/>
                          <a:cs typeface="Calibri"/>
                        </a:rPr>
                        <a:t>Todos</a:t>
                      </a:r>
                      <a:endParaRPr lang="en-US" sz="10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6350" algn="ctr">
                      <a:solidFill>
                        <a:srgbClr val="1B3A5C"/>
                      </a:solidFill>
                    </a:lnL>
                    <a:lnR w="6350" algn="ctr">
                      <a:solidFill>
                        <a:srgbClr val="1B3A5C"/>
                      </a:solidFill>
                    </a:lnR>
                    <a:lnT w="6350" algn="ctr">
                      <a:solidFill>
                        <a:srgbClr val="1B3A5C"/>
                      </a:solidFill>
                    </a:lnT>
                    <a:lnB w="6350" algn="ctr">
                      <a:solidFill>
                        <a:srgbClr val="1B3A5C"/>
                      </a:solidFill>
                    </a:lnB>
                    <a:solidFill>
                      <a:srgbClr val="0F2A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  <a:defRPr/>
                      </a:pPr>
                      <a:r>
                        <a:rPr lang="en-US" sz="1050">
                          <a:solidFill>
                            <a:srgbClr val="EFF6FF"/>
                          </a:solidFill>
                          <a:latin typeface="Calibri"/>
                          <a:ea typeface="Calibri"/>
                          <a:cs typeface="Calibri"/>
                        </a:rPr>
                        <a:t>Debe incluir $ORACLE_HOME/bin, mysql/bin o pg/bin</a:t>
                      </a:r>
                      <a:endParaRPr lang="en-US" sz="10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6350" algn="ctr">
                      <a:solidFill>
                        <a:srgbClr val="1B3A5C"/>
                      </a:solidFill>
                    </a:lnL>
                    <a:lnR w="6350" algn="ctr">
                      <a:solidFill>
                        <a:srgbClr val="1B3A5C"/>
                      </a:solidFill>
                    </a:lnR>
                    <a:lnT w="6350" algn="ctr">
                      <a:solidFill>
                        <a:srgbClr val="1B3A5C"/>
                      </a:solidFill>
                    </a:lnT>
                    <a:lnB w="6350" algn="ctr">
                      <a:solidFill>
                        <a:srgbClr val="1B3A5C"/>
                      </a:solidFill>
                    </a:lnB>
                    <a:solidFill>
                      <a:srgbClr val="0F2A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  <a:defRPr/>
                      </a:pPr>
                      <a:r>
                        <a:rPr lang="en-US" sz="1050">
                          <a:solidFill>
                            <a:srgbClr val="EFF6FF"/>
                          </a:solidFill>
                          <a:latin typeface="Calibri"/>
                          <a:ea typeface="Calibri"/>
                          <a:cs typeface="Calibri"/>
                        </a:rPr>
                        <a:t>$PATH:/u01/.../bin</a:t>
                      </a:r>
                      <a:endParaRPr lang="en-US" sz="10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6350" algn="ctr">
                      <a:solidFill>
                        <a:srgbClr val="1B3A5C"/>
                      </a:solidFill>
                    </a:lnL>
                    <a:lnR w="6350" algn="ctr">
                      <a:solidFill>
                        <a:srgbClr val="1B3A5C"/>
                      </a:solidFill>
                    </a:lnR>
                    <a:lnT w="6350" algn="ctr">
                      <a:solidFill>
                        <a:srgbClr val="1B3A5C"/>
                      </a:solidFill>
                    </a:lnT>
                    <a:lnB w="6350" algn="ctr">
                      <a:solidFill>
                        <a:srgbClr val="1B3A5C"/>
                      </a:solidFill>
                    </a:lnB>
                    <a:solidFill>
                      <a:srgbClr val="0F2A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6626">
                <a:tc>
                  <a:txBody>
                    <a:bodyPr/>
                    <a:lstStyle/>
                    <a:p>
                      <a:pPr marL="0" indent="0">
                        <a:buNone/>
                        <a:defRPr/>
                      </a:pPr>
                      <a:r>
                        <a:rPr lang="en-US" sz="1050">
                          <a:solidFill>
                            <a:srgbClr val="EFF6FF"/>
                          </a:solidFill>
                          <a:latin typeface="Calibri"/>
                          <a:ea typeface="Calibri"/>
                          <a:cs typeface="Calibri"/>
                        </a:rPr>
                        <a:t>MYSQL_HOME</a:t>
                      </a:r>
                      <a:endParaRPr lang="en-US" sz="10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6350" algn="ctr">
                      <a:solidFill>
                        <a:srgbClr val="1B3A5C"/>
                      </a:solidFill>
                    </a:lnL>
                    <a:lnR w="6350" algn="ctr">
                      <a:solidFill>
                        <a:srgbClr val="1B3A5C"/>
                      </a:solidFill>
                    </a:lnR>
                    <a:lnT w="6350" algn="ctr">
                      <a:solidFill>
                        <a:srgbClr val="1B3A5C"/>
                      </a:solidFill>
                    </a:lnT>
                    <a:lnB w="6350" algn="ctr">
                      <a:solidFill>
                        <a:srgbClr val="1B3A5C"/>
                      </a:solidFill>
                    </a:lnB>
                    <a:solidFill>
                      <a:srgbClr val="0F2A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  <a:defRPr/>
                      </a:pPr>
                      <a:r>
                        <a:rPr lang="en-US" sz="1050">
                          <a:solidFill>
                            <a:srgbClr val="EFF6FF"/>
                          </a:solidFill>
                          <a:latin typeface="Calibri"/>
                          <a:ea typeface="Calibri"/>
                          <a:cs typeface="Calibri"/>
                        </a:rPr>
                        <a:t>MySQL</a:t>
                      </a:r>
                      <a:endParaRPr lang="en-US" sz="10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6350" algn="ctr">
                      <a:solidFill>
                        <a:srgbClr val="1B3A5C"/>
                      </a:solidFill>
                    </a:lnL>
                    <a:lnR w="6350" algn="ctr">
                      <a:solidFill>
                        <a:srgbClr val="1B3A5C"/>
                      </a:solidFill>
                    </a:lnR>
                    <a:lnT w="6350" algn="ctr">
                      <a:solidFill>
                        <a:srgbClr val="1B3A5C"/>
                      </a:solidFill>
                    </a:lnT>
                    <a:lnB w="6350" algn="ctr">
                      <a:solidFill>
                        <a:srgbClr val="1B3A5C"/>
                      </a:solidFill>
                    </a:lnB>
                    <a:solidFill>
                      <a:srgbClr val="0F2A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  <a:defRPr/>
                      </a:pPr>
                      <a:r>
                        <a:rPr lang="en-US" sz="1050">
                          <a:solidFill>
                            <a:srgbClr val="EFF6FF"/>
                          </a:solidFill>
                          <a:latin typeface="Calibri"/>
                          <a:ea typeface="Calibri"/>
                          <a:cs typeface="Calibri"/>
                        </a:rPr>
                        <a:t>Ruta al directorio de instalación de MySQL</a:t>
                      </a:r>
                      <a:endParaRPr lang="en-US" sz="10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6350" algn="ctr">
                      <a:solidFill>
                        <a:srgbClr val="1B3A5C"/>
                      </a:solidFill>
                    </a:lnL>
                    <a:lnR w="6350" algn="ctr">
                      <a:solidFill>
                        <a:srgbClr val="1B3A5C"/>
                      </a:solidFill>
                    </a:lnR>
                    <a:lnT w="6350" algn="ctr">
                      <a:solidFill>
                        <a:srgbClr val="1B3A5C"/>
                      </a:solidFill>
                    </a:lnT>
                    <a:lnB w="6350" algn="ctr">
                      <a:solidFill>
                        <a:srgbClr val="1B3A5C"/>
                      </a:solidFill>
                    </a:lnB>
                    <a:solidFill>
                      <a:srgbClr val="0F2A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  <a:defRPr/>
                      </a:pPr>
                      <a:r>
                        <a:rPr lang="en-US" sz="1050">
                          <a:solidFill>
                            <a:srgbClr val="EFF6FF"/>
                          </a:solidFill>
                          <a:latin typeface="Calibri"/>
                          <a:ea typeface="Calibri"/>
                          <a:cs typeface="Calibri"/>
                        </a:rPr>
                        <a:t>/usr/local/mysql</a:t>
                      </a:r>
                      <a:endParaRPr lang="en-US" sz="10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6350" algn="ctr">
                      <a:solidFill>
                        <a:srgbClr val="1B3A5C"/>
                      </a:solidFill>
                    </a:lnL>
                    <a:lnR w="6350" algn="ctr">
                      <a:solidFill>
                        <a:srgbClr val="1B3A5C"/>
                      </a:solidFill>
                    </a:lnR>
                    <a:lnT w="6350" algn="ctr">
                      <a:solidFill>
                        <a:srgbClr val="1B3A5C"/>
                      </a:solidFill>
                    </a:lnT>
                    <a:lnB w="6350" algn="ctr">
                      <a:solidFill>
                        <a:srgbClr val="1B3A5C"/>
                      </a:solidFill>
                    </a:lnB>
                    <a:solidFill>
                      <a:srgbClr val="0F2A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6626">
                <a:tc>
                  <a:txBody>
                    <a:bodyPr/>
                    <a:lstStyle/>
                    <a:p>
                      <a:pPr marL="0" indent="0">
                        <a:buNone/>
                        <a:defRPr/>
                      </a:pPr>
                      <a:r>
                        <a:rPr lang="en-US" sz="1050">
                          <a:solidFill>
                            <a:srgbClr val="EFF6FF"/>
                          </a:solidFill>
                          <a:latin typeface="Calibri"/>
                          <a:ea typeface="Calibri"/>
                          <a:cs typeface="Calibri"/>
                        </a:rPr>
                        <a:t>PGDATA</a:t>
                      </a:r>
                      <a:endParaRPr lang="en-US" sz="10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6350" algn="ctr">
                      <a:solidFill>
                        <a:srgbClr val="1B3A5C"/>
                      </a:solidFill>
                    </a:lnL>
                    <a:lnR w="6350" algn="ctr">
                      <a:solidFill>
                        <a:srgbClr val="1B3A5C"/>
                      </a:solidFill>
                    </a:lnR>
                    <a:lnT w="6350" algn="ctr">
                      <a:solidFill>
                        <a:srgbClr val="1B3A5C"/>
                      </a:solidFill>
                    </a:lnT>
                    <a:lnB w="6350" algn="ctr">
                      <a:solidFill>
                        <a:srgbClr val="1B3A5C"/>
                      </a:solidFill>
                    </a:lnB>
                    <a:solidFill>
                      <a:srgbClr val="0F2A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  <a:defRPr/>
                      </a:pPr>
                      <a:r>
                        <a:rPr lang="en-US" sz="1050">
                          <a:solidFill>
                            <a:srgbClr val="EFF6FF"/>
                          </a:solidFill>
                          <a:latin typeface="Calibri"/>
                          <a:ea typeface="Calibri"/>
                          <a:cs typeface="Calibri"/>
                        </a:rPr>
                        <a:t>PostgreSQL</a:t>
                      </a:r>
                      <a:endParaRPr lang="en-US" sz="10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6350" algn="ctr">
                      <a:solidFill>
                        <a:srgbClr val="1B3A5C"/>
                      </a:solidFill>
                    </a:lnL>
                    <a:lnR w="6350" algn="ctr">
                      <a:solidFill>
                        <a:srgbClr val="1B3A5C"/>
                      </a:solidFill>
                    </a:lnR>
                    <a:lnT w="6350" algn="ctr">
                      <a:solidFill>
                        <a:srgbClr val="1B3A5C"/>
                      </a:solidFill>
                    </a:lnT>
                    <a:lnB w="6350" algn="ctr">
                      <a:solidFill>
                        <a:srgbClr val="1B3A5C"/>
                      </a:solidFill>
                    </a:lnB>
                    <a:solidFill>
                      <a:srgbClr val="0F2A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  <a:defRPr/>
                      </a:pPr>
                      <a:r>
                        <a:rPr lang="en-US" sz="1050">
                          <a:solidFill>
                            <a:srgbClr val="EFF6FF"/>
                          </a:solidFill>
                          <a:latin typeface="Calibri"/>
                          <a:ea typeface="Calibri"/>
                          <a:cs typeface="Calibri"/>
                        </a:rPr>
                        <a:t>Ruta al directorio del cluster de datos (initdb aquí)</a:t>
                      </a:r>
                      <a:endParaRPr lang="en-US" sz="10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6350" algn="ctr">
                      <a:solidFill>
                        <a:srgbClr val="1B3A5C"/>
                      </a:solidFill>
                    </a:lnL>
                    <a:lnR w="6350" algn="ctr">
                      <a:solidFill>
                        <a:srgbClr val="1B3A5C"/>
                      </a:solidFill>
                    </a:lnR>
                    <a:lnT w="6350" algn="ctr">
                      <a:solidFill>
                        <a:srgbClr val="1B3A5C"/>
                      </a:solidFill>
                    </a:lnT>
                    <a:lnB w="6350" algn="ctr">
                      <a:solidFill>
                        <a:srgbClr val="1B3A5C"/>
                      </a:solidFill>
                    </a:lnB>
                    <a:solidFill>
                      <a:srgbClr val="0F2A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  <a:defRPr/>
                      </a:pPr>
                      <a:r>
                        <a:rPr lang="en-US" sz="1050">
                          <a:solidFill>
                            <a:srgbClr val="EFF6FF"/>
                          </a:solidFill>
                          <a:latin typeface="Calibri"/>
                          <a:ea typeface="Calibri"/>
                          <a:cs typeface="Calibri"/>
                        </a:rPr>
                        <a:t>/var/lib/pgsql/data</a:t>
                      </a:r>
                      <a:endParaRPr lang="en-US" sz="10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6350" algn="ctr">
                      <a:solidFill>
                        <a:srgbClr val="1B3A5C"/>
                      </a:solidFill>
                    </a:lnL>
                    <a:lnR w="6350" algn="ctr">
                      <a:solidFill>
                        <a:srgbClr val="1B3A5C"/>
                      </a:solidFill>
                    </a:lnR>
                    <a:lnT w="6350" algn="ctr">
                      <a:solidFill>
                        <a:srgbClr val="1B3A5C"/>
                      </a:solidFill>
                    </a:lnT>
                    <a:lnB w="6350" algn="ctr">
                      <a:solidFill>
                        <a:srgbClr val="1B3A5C"/>
                      </a:solidFill>
                    </a:lnB>
                    <a:solidFill>
                      <a:srgbClr val="0F2A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6626">
                <a:tc>
                  <a:txBody>
                    <a:bodyPr/>
                    <a:lstStyle/>
                    <a:p>
                      <a:pPr marL="0" indent="0">
                        <a:buNone/>
                        <a:defRPr/>
                      </a:pPr>
                      <a:r>
                        <a:rPr lang="en-US" sz="1050">
                          <a:solidFill>
                            <a:srgbClr val="EFF6FF"/>
                          </a:solidFill>
                          <a:latin typeface="Calibri"/>
                          <a:ea typeface="Calibri"/>
                          <a:cs typeface="Calibri"/>
                        </a:rPr>
                        <a:t>LD_LIBRARY_PATH</a:t>
                      </a:r>
                      <a:endParaRPr lang="en-US" sz="10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6350" algn="ctr">
                      <a:solidFill>
                        <a:srgbClr val="1B3A5C"/>
                      </a:solidFill>
                    </a:lnL>
                    <a:lnR w="6350" algn="ctr">
                      <a:solidFill>
                        <a:srgbClr val="1B3A5C"/>
                      </a:solidFill>
                    </a:lnR>
                    <a:lnT w="6350" algn="ctr">
                      <a:solidFill>
                        <a:srgbClr val="1B3A5C"/>
                      </a:solidFill>
                    </a:lnT>
                    <a:lnB w="6350" algn="ctr">
                      <a:solidFill>
                        <a:srgbClr val="1B3A5C"/>
                      </a:solidFill>
                    </a:lnB>
                    <a:solidFill>
                      <a:srgbClr val="0F2A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  <a:defRPr/>
                      </a:pPr>
                      <a:r>
                        <a:rPr lang="en-US" sz="1050">
                          <a:solidFill>
                            <a:srgbClr val="EFF6FF"/>
                          </a:solidFill>
                          <a:latin typeface="Calibri"/>
                          <a:ea typeface="Calibri"/>
                          <a:cs typeface="Calibri"/>
                        </a:rPr>
                        <a:t>Linux</a:t>
                      </a:r>
                      <a:endParaRPr lang="en-US" sz="10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6350" algn="ctr">
                      <a:solidFill>
                        <a:srgbClr val="1B3A5C"/>
                      </a:solidFill>
                    </a:lnL>
                    <a:lnR w="6350" algn="ctr">
                      <a:solidFill>
                        <a:srgbClr val="1B3A5C"/>
                      </a:solidFill>
                    </a:lnR>
                    <a:lnT w="6350" algn="ctr">
                      <a:solidFill>
                        <a:srgbClr val="1B3A5C"/>
                      </a:solidFill>
                    </a:lnT>
                    <a:lnB w="6350" algn="ctr">
                      <a:solidFill>
                        <a:srgbClr val="1B3A5C"/>
                      </a:solidFill>
                    </a:lnB>
                    <a:solidFill>
                      <a:srgbClr val="0F2A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  <a:defRPr/>
                      </a:pPr>
                      <a:r>
                        <a:rPr lang="en-US" sz="1050">
                          <a:solidFill>
                            <a:srgbClr val="EFF6FF"/>
                          </a:solidFill>
                          <a:latin typeface="Calibri"/>
                          <a:ea typeface="Calibri"/>
                          <a:cs typeface="Calibri"/>
                        </a:rPr>
                        <a:t>Rutas a bibliotecas compartidas del SGBD</a:t>
                      </a:r>
                      <a:endParaRPr lang="en-US" sz="10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6350" algn="ctr">
                      <a:solidFill>
                        <a:srgbClr val="1B3A5C"/>
                      </a:solidFill>
                    </a:lnL>
                    <a:lnR w="6350" algn="ctr">
                      <a:solidFill>
                        <a:srgbClr val="1B3A5C"/>
                      </a:solidFill>
                    </a:lnR>
                    <a:lnT w="6350" algn="ctr">
                      <a:solidFill>
                        <a:srgbClr val="1B3A5C"/>
                      </a:solidFill>
                    </a:lnT>
                    <a:lnB w="6350" algn="ctr">
                      <a:solidFill>
                        <a:srgbClr val="1B3A5C"/>
                      </a:solidFill>
                    </a:lnB>
                    <a:solidFill>
                      <a:srgbClr val="0F2A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  <a:defRPr/>
                      </a:pPr>
                      <a:r>
                        <a:rPr lang="en-US" sz="1050">
                          <a:solidFill>
                            <a:srgbClr val="EFF6FF"/>
                          </a:solidFill>
                          <a:latin typeface="Calibri"/>
                          <a:ea typeface="Calibri"/>
                          <a:cs typeface="Calibri"/>
                        </a:rPr>
                        <a:t>$ORACLE_HOME/lib</a:t>
                      </a:r>
                      <a:endParaRPr lang="en-US" sz="10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6350" algn="ctr">
                      <a:solidFill>
                        <a:srgbClr val="1B3A5C"/>
                      </a:solidFill>
                    </a:lnL>
                    <a:lnR w="6350" algn="ctr">
                      <a:solidFill>
                        <a:srgbClr val="1B3A5C"/>
                      </a:solidFill>
                    </a:lnR>
                    <a:lnT w="6350" algn="ctr">
                      <a:solidFill>
                        <a:srgbClr val="1B3A5C"/>
                      </a:solidFill>
                    </a:lnT>
                    <a:lnB w="6350" algn="ctr">
                      <a:solidFill>
                        <a:srgbClr val="1B3A5C"/>
                      </a:solidFill>
                    </a:lnB>
                    <a:solidFill>
                      <a:srgbClr val="0F2A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04206368" name="Shape 3"/>
          <p:cNvSpPr/>
          <p:nvPr/>
        </p:nvSpPr>
        <p:spPr bwMode="auto">
          <a:xfrm>
            <a:off x="0" y="4892039"/>
            <a:ext cx="9144000" cy="25603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457802576" name="Text 4"/>
          <p:cNvSpPr/>
          <p:nvPr/>
        </p:nvSpPr>
        <p:spPr bwMode="auto">
          <a:xfrm>
            <a:off x="274320" y="4901184"/>
            <a:ext cx="8686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75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Fuente: Nicole Rodríguez Blog (2020) · Scribd ABD Unidad 2 · UNEZ ISC 2023</a:t>
            </a:r>
            <a:endParaRPr lang="en-US" sz="75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 name="Slide 12"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8870581" name="Shape 0"/>
          <p:cNvSpPr/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510417176" name="Shape 1"/>
          <p:cNvSpPr/>
          <p:nvPr/>
        </p:nvSpPr>
        <p:spPr bwMode="auto">
          <a:xfrm>
            <a:off x="0" y="1143000"/>
            <a:ext cx="9144000" cy="5486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661982596" name="Shape 2"/>
          <p:cNvSpPr/>
          <p:nvPr/>
        </p:nvSpPr>
        <p:spPr bwMode="auto">
          <a:xfrm>
            <a:off x="274320" y="182880"/>
            <a:ext cx="658368" cy="65836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721249650" name="Text 3"/>
          <p:cNvSpPr/>
          <p:nvPr/>
        </p:nvSpPr>
        <p:spPr bwMode="auto">
          <a:xfrm>
            <a:off x="274320" y="18288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2.5</a:t>
            </a:r>
            <a:endParaRPr lang="en-US" sz="1500"/>
          </a:p>
        </p:txBody>
      </p:sp>
      <p:sp>
        <p:nvSpPr>
          <p:cNvPr id="573297409" name="Text 4"/>
          <p:cNvSpPr/>
          <p:nvPr/>
        </p:nvSpPr>
        <p:spPr bwMode="auto">
          <a:xfrm>
            <a:off x="1078992" y="237744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Archivos Importantes para la Instalación y Operación</a:t>
            </a:r>
            <a:endParaRPr lang="en-US" sz="2100"/>
          </a:p>
        </p:txBody>
      </p:sp>
      <p:pic>
        <p:nvPicPr>
          <p:cNvPr id="1270782855" name="Image 0" descr="preencoded.png"/>
          <p:cNvPicPr>
            <a:picLocks noChangeAspect="1"/>
          </p:cNvPicPr>
          <p:nvPr/>
        </p:nvPicPr>
        <p:blipFill rotWithShape="1">
          <a:blip r:embed="rId3">
            <a:alphaModFix amt="80000"/>
          </a:blip>
          <a:stretch/>
        </p:blipFill>
        <p:spPr bwMode="auto">
          <a:xfrm>
            <a:off x="8092440" y="91440"/>
            <a:ext cx="822960" cy="822960"/>
          </a:xfrm>
          <a:prstGeom prst="rect">
            <a:avLst/>
          </a:prstGeom>
        </p:spPr>
      </p:pic>
      <p:sp>
        <p:nvSpPr>
          <p:cNvPr id="337545173" name="Shape 5"/>
          <p:cNvSpPr/>
          <p:nvPr/>
        </p:nvSpPr>
        <p:spPr bwMode="auto">
          <a:xfrm>
            <a:off x="256032" y="1298448"/>
            <a:ext cx="283464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08982719" name="Shape 6"/>
          <p:cNvSpPr/>
          <p:nvPr/>
        </p:nvSpPr>
        <p:spPr bwMode="auto">
          <a:xfrm>
            <a:off x="256032" y="1298448"/>
            <a:ext cx="64008" cy="3474720"/>
          </a:xfrm>
          <a:prstGeom prst="rect">
            <a:avLst/>
          </a:prstGeom>
          <a:solidFill>
            <a:srgbClr val="1A4A7A"/>
          </a:solidFill>
          <a:ln w="12700">
            <a:solidFill>
              <a:srgbClr val="1A4A7A"/>
            </a:solidFill>
            <a:prstDash val="solid"/>
          </a:ln>
        </p:spPr>
      </p:sp>
      <p:sp>
        <p:nvSpPr>
          <p:cNvPr id="538047091" name="Text 7"/>
          <p:cNvSpPr/>
          <p:nvPr/>
        </p:nvSpPr>
        <p:spPr bwMode="auto">
          <a:xfrm>
            <a:off x="420624" y="138988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1A4A7A"/>
                </a:solidFill>
                <a:latin typeface="Calibri"/>
                <a:ea typeface="Calibri"/>
                <a:cs typeface="Calibri"/>
              </a:rPr>
              <a:t>Oracle</a:t>
            </a:r>
            <a:endParaRPr lang="en-US" sz="1200"/>
          </a:p>
        </p:txBody>
      </p:sp>
      <p:sp>
        <p:nvSpPr>
          <p:cNvPr id="1913964606" name="Text 8"/>
          <p:cNvSpPr/>
          <p:nvPr/>
        </p:nvSpPr>
        <p:spPr bwMode="auto">
          <a:xfrm>
            <a:off x="420624" y="1773936"/>
            <a:ext cx="2578608" cy="2944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  <a:defRPr/>
            </a:pPr>
            <a:r>
              <a:rPr lang="en-US" sz="1150">
                <a:solidFill>
                  <a:srgbClr val="0F2A47"/>
                </a:solidFill>
                <a:latin typeface="Calibri"/>
                <a:ea typeface="Calibri"/>
                <a:cs typeface="Calibri"/>
              </a:rPr>
              <a:t>init.ora / spfile.ora: parámetros de inicialización de la instancia.</a:t>
            </a:r>
            <a:endParaRPr lang="en-US" sz="1150"/>
          </a:p>
          <a:p>
            <a:pPr marL="342900" indent="-342900">
              <a:spcAft>
                <a:spcPts val="600"/>
              </a:spcAft>
              <a:buSzPct val="100000"/>
              <a:buChar char="•"/>
              <a:defRPr/>
            </a:pPr>
            <a:r>
              <a:rPr lang="en-US" sz="1150">
                <a:solidFill>
                  <a:srgbClr val="0F2A47"/>
                </a:solidFill>
                <a:latin typeface="Calibri"/>
                <a:ea typeface="Calibri"/>
                <a:cs typeface="Calibri"/>
              </a:rPr>
              <a:t>tnsnames.ora: alias de conexión de red (nombre → host:puerto/servicio).</a:t>
            </a:r>
            <a:endParaRPr lang="en-US" sz="1150"/>
          </a:p>
          <a:p>
            <a:pPr marL="342900" indent="-342900">
              <a:spcAft>
                <a:spcPts val="600"/>
              </a:spcAft>
              <a:buSzPct val="100000"/>
              <a:buChar char="•"/>
              <a:defRPr/>
            </a:pPr>
            <a:r>
              <a:rPr lang="en-US" sz="1150">
                <a:solidFill>
                  <a:srgbClr val="0F2A47"/>
                </a:solidFill>
                <a:latin typeface="Calibri"/>
                <a:ea typeface="Calibri"/>
                <a:cs typeface="Calibri"/>
              </a:rPr>
              <a:t>listener.ora: configuración del proceso listener (puerto 1521 por defecto).</a:t>
            </a:r>
            <a:endParaRPr lang="en-US" sz="1150"/>
          </a:p>
          <a:p>
            <a:pPr marL="342900" indent="-342900">
              <a:spcAft>
                <a:spcPts val="600"/>
              </a:spcAft>
              <a:buSzPct val="100000"/>
              <a:buChar char="•"/>
              <a:defRPr/>
            </a:pPr>
            <a:r>
              <a:rPr lang="en-US" sz="1150">
                <a:solidFill>
                  <a:srgbClr val="0F2A47"/>
                </a:solidFill>
                <a:latin typeface="Calibri"/>
                <a:ea typeface="Calibri"/>
                <a:cs typeface="Calibri"/>
              </a:rPr>
              <a:t>control01.ctl: metadatos de la BD; mantener 2–3 copias en discos distintos.</a:t>
            </a:r>
            <a:endParaRPr lang="en-US" sz="1150"/>
          </a:p>
        </p:txBody>
      </p:sp>
      <p:sp>
        <p:nvSpPr>
          <p:cNvPr id="558189944" name="Shape 9"/>
          <p:cNvSpPr/>
          <p:nvPr/>
        </p:nvSpPr>
        <p:spPr bwMode="auto">
          <a:xfrm>
            <a:off x="3200400" y="1298448"/>
            <a:ext cx="283464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51004313" name="Shape 10"/>
          <p:cNvSpPr/>
          <p:nvPr/>
        </p:nvSpPr>
        <p:spPr bwMode="auto">
          <a:xfrm>
            <a:off x="3200400" y="1298448"/>
            <a:ext cx="64008" cy="3474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37146287" name="Text 11"/>
          <p:cNvSpPr/>
          <p:nvPr/>
        </p:nvSpPr>
        <p:spPr bwMode="auto">
          <a:xfrm>
            <a:off x="3364992" y="138988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0D9488"/>
                </a:solidFill>
                <a:latin typeface="Calibri"/>
                <a:ea typeface="Calibri"/>
                <a:cs typeface="Calibri"/>
              </a:rPr>
              <a:t>MySQL / MariaDB</a:t>
            </a:r>
            <a:endParaRPr lang="en-US" sz="1200"/>
          </a:p>
        </p:txBody>
      </p:sp>
      <p:sp>
        <p:nvSpPr>
          <p:cNvPr id="146962345" name="Text 12"/>
          <p:cNvSpPr/>
          <p:nvPr/>
        </p:nvSpPr>
        <p:spPr bwMode="auto">
          <a:xfrm>
            <a:off x="3364992" y="1773936"/>
            <a:ext cx="2578608" cy="2944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  <a:defRPr/>
            </a:pPr>
            <a:r>
              <a:rPr lang="en-US" sz="1150">
                <a:solidFill>
                  <a:srgbClr val="0F2A47"/>
                </a:solidFill>
                <a:latin typeface="Calibri"/>
                <a:ea typeface="Calibri"/>
                <a:cs typeface="Calibri"/>
              </a:rPr>
              <a:t>my.cnf (Linux) / my.ini (Windows): configuración principal del servidor.</a:t>
            </a:r>
            <a:endParaRPr lang="en-US" sz="1150"/>
          </a:p>
          <a:p>
            <a:pPr marL="342900" indent="-342900">
              <a:spcAft>
                <a:spcPts val="600"/>
              </a:spcAft>
              <a:buSzPct val="100000"/>
              <a:buChar char="•"/>
              <a:defRPr/>
            </a:pPr>
            <a:r>
              <a:rPr lang="en-US" sz="1150">
                <a:solidFill>
                  <a:srgbClr val="0F2A47"/>
                </a:solidFill>
                <a:latin typeface="Calibri"/>
                <a:ea typeface="Calibri"/>
                <a:cs typeface="Calibri"/>
              </a:rPr>
              <a:t>mysql/user.MYD: tabla de usuarios y privilegios del sistema.</a:t>
            </a:r>
            <a:endParaRPr lang="en-US" sz="1150"/>
          </a:p>
          <a:p>
            <a:pPr marL="342900" indent="-342900">
              <a:spcAft>
                <a:spcPts val="600"/>
              </a:spcAft>
              <a:buSzPct val="100000"/>
              <a:buChar char="•"/>
              <a:defRPr/>
            </a:pPr>
            <a:r>
              <a:rPr lang="en-US" sz="1150">
                <a:solidFill>
                  <a:srgbClr val="0F2A47"/>
                </a:solidFill>
                <a:latin typeface="Calibri"/>
                <a:ea typeface="Calibri"/>
                <a:cs typeface="Calibri"/>
              </a:rPr>
              <a:t>error.log: registro de errores de inicio, consultas lentas y eventos del servidor.</a:t>
            </a:r>
            <a:endParaRPr lang="en-US" sz="1150"/>
          </a:p>
          <a:p>
            <a:pPr marL="342900" indent="-342900">
              <a:spcAft>
                <a:spcPts val="600"/>
              </a:spcAft>
              <a:buSzPct val="100000"/>
              <a:buChar char="•"/>
              <a:defRPr/>
            </a:pPr>
            <a:r>
              <a:rPr lang="en-US" sz="1150">
                <a:solidFill>
                  <a:srgbClr val="0F2A47"/>
                </a:solidFill>
                <a:latin typeface="Calibri"/>
                <a:ea typeface="Calibri"/>
                <a:cs typeface="Calibri"/>
              </a:rPr>
              <a:t>ibdata1 / ib_logfile0-1: tablespace compartido e InnoDB redo logs.</a:t>
            </a:r>
            <a:endParaRPr lang="en-US" sz="1150"/>
          </a:p>
        </p:txBody>
      </p:sp>
      <p:sp>
        <p:nvSpPr>
          <p:cNvPr id="1810651277" name="Shape 13"/>
          <p:cNvSpPr/>
          <p:nvPr/>
        </p:nvSpPr>
        <p:spPr bwMode="auto">
          <a:xfrm>
            <a:off x="6144768" y="1298448"/>
            <a:ext cx="283464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69529808" name="Shape 14"/>
          <p:cNvSpPr/>
          <p:nvPr/>
        </p:nvSpPr>
        <p:spPr bwMode="auto">
          <a:xfrm>
            <a:off x="6144768" y="1298448"/>
            <a:ext cx="64008" cy="347472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824174805" name="Text 15"/>
          <p:cNvSpPr/>
          <p:nvPr/>
        </p:nvSpPr>
        <p:spPr bwMode="auto">
          <a:xfrm>
            <a:off x="6309360" y="138988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6366F1"/>
                </a:solidFill>
                <a:latin typeface="Calibri"/>
                <a:ea typeface="Calibri"/>
                <a:cs typeface="Calibri"/>
              </a:rPr>
              <a:t>PostgreSQL</a:t>
            </a:r>
            <a:endParaRPr lang="en-US" sz="1200"/>
          </a:p>
        </p:txBody>
      </p:sp>
      <p:sp>
        <p:nvSpPr>
          <p:cNvPr id="313129841" name="Text 16"/>
          <p:cNvSpPr/>
          <p:nvPr/>
        </p:nvSpPr>
        <p:spPr bwMode="auto">
          <a:xfrm>
            <a:off x="6309360" y="1773936"/>
            <a:ext cx="2578608" cy="2944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  <a:defRPr/>
            </a:pPr>
            <a:r>
              <a:rPr lang="en-US" sz="1150">
                <a:solidFill>
                  <a:srgbClr val="0F2A47"/>
                </a:solidFill>
                <a:latin typeface="Calibri"/>
                <a:ea typeface="Calibri"/>
                <a:cs typeface="Calibri"/>
              </a:rPr>
              <a:t>postgresql.conf: parámetros globales (memoria, conexiones, rutas de logs).</a:t>
            </a:r>
            <a:endParaRPr lang="en-US" sz="1150"/>
          </a:p>
          <a:p>
            <a:pPr marL="342900" indent="-342900">
              <a:spcAft>
                <a:spcPts val="600"/>
              </a:spcAft>
              <a:buSzPct val="100000"/>
              <a:buChar char="•"/>
              <a:defRPr/>
            </a:pPr>
            <a:r>
              <a:rPr lang="en-US" sz="1150">
                <a:solidFill>
                  <a:srgbClr val="0F2A47"/>
                </a:solidFill>
                <a:latin typeface="Calibri"/>
                <a:ea typeface="Calibri"/>
                <a:cs typeface="Calibri"/>
              </a:rPr>
              <a:t>pg_hba.conf: Host-Based Authentication — define quién puede conectarse y cómo.</a:t>
            </a:r>
            <a:endParaRPr lang="en-US" sz="1150"/>
          </a:p>
          <a:p>
            <a:pPr marL="342900" indent="-342900">
              <a:spcAft>
                <a:spcPts val="600"/>
              </a:spcAft>
              <a:buSzPct val="100000"/>
              <a:buChar char="•"/>
              <a:defRPr/>
            </a:pPr>
            <a:r>
              <a:rPr lang="en-US" sz="1150">
                <a:solidFill>
                  <a:srgbClr val="0F2A47"/>
                </a:solidFill>
                <a:latin typeface="Calibri"/>
                <a:ea typeface="Calibri"/>
                <a:cs typeface="Calibri"/>
              </a:rPr>
              <a:t>pg_ident.conf: mapeo de usuarios del SO a usuarios de base de datos.</a:t>
            </a:r>
            <a:endParaRPr lang="en-US" sz="1150"/>
          </a:p>
          <a:p>
            <a:pPr marL="342900" indent="-342900">
              <a:spcAft>
                <a:spcPts val="600"/>
              </a:spcAft>
              <a:buSzPct val="100000"/>
              <a:buChar char="•"/>
              <a:defRPr/>
            </a:pPr>
            <a:r>
              <a:rPr lang="en-US" sz="1150">
                <a:solidFill>
                  <a:srgbClr val="0F2A47"/>
                </a:solidFill>
                <a:latin typeface="Calibri"/>
                <a:ea typeface="Calibri"/>
                <a:cs typeface="Calibri"/>
              </a:rPr>
              <a:t>PG_VERSION, global/pg_control: metadatos del cluster de PostgreSQL.</a:t>
            </a:r>
            <a:endParaRPr lang="en-US" sz="1150"/>
          </a:p>
        </p:txBody>
      </p:sp>
      <p:sp>
        <p:nvSpPr>
          <p:cNvPr id="402851503" name="Shape 17"/>
          <p:cNvSpPr/>
          <p:nvPr/>
        </p:nvSpPr>
        <p:spPr bwMode="auto">
          <a:xfrm>
            <a:off x="0" y="4892039"/>
            <a:ext cx="9144000" cy="25603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614672796" name="Text 18"/>
          <p:cNvSpPr/>
          <p:nvPr/>
        </p:nvSpPr>
        <p:spPr bwMode="auto">
          <a:xfrm>
            <a:off x="274320" y="4901184"/>
            <a:ext cx="8686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75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Fuentes: Nicole Rodríguez Blog · Scribd ABD · StudoCu · UNEZ 2023</a:t>
            </a:r>
            <a:endParaRPr lang="en-US" sz="75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 name="Slide 13"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3878379" name="Shape 0"/>
          <p:cNvSpPr/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89232514" name="Shape 1"/>
          <p:cNvSpPr/>
          <p:nvPr/>
        </p:nvSpPr>
        <p:spPr bwMode="auto">
          <a:xfrm>
            <a:off x="0" y="1143000"/>
            <a:ext cx="9144000" cy="5486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4181578" name="Shape 2"/>
          <p:cNvSpPr/>
          <p:nvPr/>
        </p:nvSpPr>
        <p:spPr bwMode="auto">
          <a:xfrm>
            <a:off x="274320" y="182880"/>
            <a:ext cx="658368" cy="65836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385508876" name="Text 3"/>
          <p:cNvSpPr/>
          <p:nvPr/>
        </p:nvSpPr>
        <p:spPr bwMode="auto">
          <a:xfrm>
            <a:off x="274320" y="18288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2.6</a:t>
            </a:r>
            <a:endParaRPr lang="en-US" sz="1500"/>
          </a:p>
        </p:txBody>
      </p:sp>
      <p:sp>
        <p:nvSpPr>
          <p:cNvPr id="172683446" name="Text 4"/>
          <p:cNvSpPr/>
          <p:nvPr/>
        </p:nvSpPr>
        <p:spPr bwMode="auto">
          <a:xfrm>
            <a:off x="1078992" y="237744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Procedimiento General de Instalación</a:t>
            </a:r>
            <a:endParaRPr lang="en-US" sz="2100"/>
          </a:p>
        </p:txBody>
      </p:sp>
      <p:pic>
        <p:nvPicPr>
          <p:cNvPr id="1098089390" name="Image 0" descr="preencoded.png"/>
          <p:cNvPicPr>
            <a:picLocks noChangeAspect="1"/>
          </p:cNvPicPr>
          <p:nvPr/>
        </p:nvPicPr>
        <p:blipFill rotWithShape="1">
          <a:blip r:embed="rId3">
            <a:alphaModFix amt="80000"/>
          </a:blip>
          <a:stretch/>
        </p:blipFill>
        <p:spPr bwMode="auto">
          <a:xfrm>
            <a:off x="8092440" y="91440"/>
            <a:ext cx="822960" cy="822960"/>
          </a:xfrm>
          <a:prstGeom prst="rect">
            <a:avLst/>
          </a:prstGeom>
        </p:spPr>
      </p:pic>
      <p:sp>
        <p:nvSpPr>
          <p:cNvPr id="122066340" name="Shape 5"/>
          <p:cNvSpPr/>
          <p:nvPr/>
        </p:nvSpPr>
        <p:spPr bwMode="auto">
          <a:xfrm>
            <a:off x="256032" y="1298448"/>
            <a:ext cx="283464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41313143" name="Shape 6"/>
          <p:cNvSpPr/>
          <p:nvPr/>
        </p:nvSpPr>
        <p:spPr bwMode="auto">
          <a:xfrm>
            <a:off x="365760" y="1426464"/>
            <a:ext cx="438912" cy="43891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53382766" name="Text 7"/>
          <p:cNvSpPr/>
          <p:nvPr/>
        </p:nvSpPr>
        <p:spPr bwMode="auto">
          <a:xfrm>
            <a:off x="365760" y="142646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lang="en-US" sz="1400"/>
          </a:p>
        </p:txBody>
      </p:sp>
      <p:sp>
        <p:nvSpPr>
          <p:cNvPr id="704201369" name="Text 8"/>
          <p:cNvSpPr/>
          <p:nvPr/>
        </p:nvSpPr>
        <p:spPr bwMode="auto">
          <a:xfrm>
            <a:off x="896112" y="1453896"/>
            <a:ext cx="20848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6366F1"/>
                </a:solidFill>
                <a:latin typeface="Calibri"/>
                <a:ea typeface="Calibri"/>
                <a:cs typeface="Calibri"/>
              </a:rPr>
              <a:t>Verificar requisitos</a:t>
            </a:r>
            <a:endParaRPr lang="en-US" sz="1100"/>
          </a:p>
        </p:txBody>
      </p:sp>
      <p:sp>
        <p:nvSpPr>
          <p:cNvPr id="604749842" name="Text 9"/>
          <p:cNvSpPr/>
          <p:nvPr/>
        </p:nvSpPr>
        <p:spPr bwMode="auto">
          <a:xfrm>
            <a:off x="365760" y="1956816"/>
            <a:ext cx="261518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0F2A47"/>
                </a:solidFill>
                <a:latin typeface="Calibri"/>
                <a:ea typeface="Calibri"/>
                <a:cs typeface="Calibri"/>
              </a:rPr>
              <a:t>Revisar hardware (CPU, RAM, disco, swap), SO soportado, librerías y espacio en /tmp; documentar resultado.</a:t>
            </a:r>
            <a:endParaRPr lang="en-US" sz="1050"/>
          </a:p>
        </p:txBody>
      </p:sp>
      <p:sp>
        <p:nvSpPr>
          <p:cNvPr id="1620203586" name="Shape 10"/>
          <p:cNvSpPr/>
          <p:nvPr/>
        </p:nvSpPr>
        <p:spPr bwMode="auto">
          <a:xfrm>
            <a:off x="3200400" y="1298448"/>
            <a:ext cx="283464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23580894" name="Shape 11"/>
          <p:cNvSpPr/>
          <p:nvPr/>
        </p:nvSpPr>
        <p:spPr bwMode="auto">
          <a:xfrm>
            <a:off x="3310127" y="1426464"/>
            <a:ext cx="438912" cy="438912"/>
          </a:xfrm>
          <a:prstGeom prst="rect">
            <a:avLst/>
          </a:prstGeom>
          <a:solidFill>
            <a:srgbClr val="1A4A7A"/>
          </a:solidFill>
          <a:ln w="12700">
            <a:solidFill>
              <a:srgbClr val="1A4A7A"/>
            </a:solidFill>
            <a:prstDash val="solid"/>
          </a:ln>
        </p:spPr>
      </p:sp>
      <p:sp>
        <p:nvSpPr>
          <p:cNvPr id="668510287" name="Text 12"/>
          <p:cNvSpPr/>
          <p:nvPr/>
        </p:nvSpPr>
        <p:spPr bwMode="auto">
          <a:xfrm>
            <a:off x="3310127" y="142646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lang="en-US" sz="1400"/>
          </a:p>
        </p:txBody>
      </p:sp>
      <p:sp>
        <p:nvSpPr>
          <p:cNvPr id="1998032191" name="Text 13"/>
          <p:cNvSpPr/>
          <p:nvPr/>
        </p:nvSpPr>
        <p:spPr bwMode="auto">
          <a:xfrm>
            <a:off x="3840480" y="1453896"/>
            <a:ext cx="20848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1A4A7A"/>
                </a:solidFill>
                <a:latin typeface="Calibri"/>
                <a:ea typeface="Calibri"/>
                <a:cs typeface="Calibri"/>
              </a:rPr>
              <a:t>Preparar el entorno del SO</a:t>
            </a:r>
            <a:endParaRPr lang="en-US" sz="1100"/>
          </a:p>
        </p:txBody>
      </p:sp>
      <p:sp>
        <p:nvSpPr>
          <p:cNvPr id="1374746493" name="Text 14"/>
          <p:cNvSpPr/>
          <p:nvPr/>
        </p:nvSpPr>
        <p:spPr bwMode="auto">
          <a:xfrm>
            <a:off x="3310127" y="1956816"/>
            <a:ext cx="261518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0F2A47"/>
                </a:solidFill>
                <a:latin typeface="Calibri"/>
                <a:ea typeface="Calibri"/>
                <a:cs typeface="Calibri"/>
              </a:rPr>
              <a:t>Crear usuarios/grupos del SO, directorios de instalación y datos, configurar variables de ambiente en .bash_profile.</a:t>
            </a:r>
            <a:endParaRPr lang="en-US" sz="1050"/>
          </a:p>
        </p:txBody>
      </p:sp>
      <p:sp>
        <p:nvSpPr>
          <p:cNvPr id="839780102" name="Shape 15"/>
          <p:cNvSpPr/>
          <p:nvPr/>
        </p:nvSpPr>
        <p:spPr bwMode="auto">
          <a:xfrm>
            <a:off x="6144768" y="1298448"/>
            <a:ext cx="283464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29862354" name="Shape 16"/>
          <p:cNvSpPr/>
          <p:nvPr/>
        </p:nvSpPr>
        <p:spPr bwMode="auto">
          <a:xfrm>
            <a:off x="6254496" y="1426464"/>
            <a:ext cx="438912" cy="4389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50723204" name="Text 17"/>
          <p:cNvSpPr/>
          <p:nvPr/>
        </p:nvSpPr>
        <p:spPr bwMode="auto">
          <a:xfrm>
            <a:off x="6254496" y="142646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lang="en-US" sz="1400"/>
          </a:p>
        </p:txBody>
      </p:sp>
      <p:sp>
        <p:nvSpPr>
          <p:cNvPr id="1946996532" name="Text 18"/>
          <p:cNvSpPr/>
          <p:nvPr/>
        </p:nvSpPr>
        <p:spPr bwMode="auto">
          <a:xfrm>
            <a:off x="6784848" y="1453896"/>
            <a:ext cx="20848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0D9488"/>
                </a:solidFill>
                <a:latin typeface="Calibri"/>
                <a:ea typeface="Calibri"/>
                <a:cs typeface="Calibri"/>
              </a:rPr>
              <a:t>Descargar el instalador</a:t>
            </a:r>
            <a:endParaRPr lang="en-US" sz="1100"/>
          </a:p>
        </p:txBody>
      </p:sp>
      <p:sp>
        <p:nvSpPr>
          <p:cNvPr id="1338657521" name="Text 19"/>
          <p:cNvSpPr/>
          <p:nvPr/>
        </p:nvSpPr>
        <p:spPr bwMode="auto">
          <a:xfrm>
            <a:off x="6254496" y="1956816"/>
            <a:ext cx="261518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0F2A47"/>
                </a:solidFill>
                <a:latin typeface="Calibri"/>
                <a:ea typeface="Calibri"/>
                <a:cs typeface="Calibri"/>
              </a:rPr>
              <a:t>Obtener medios oficiales del fabricante; verificar checksum SHA-256/MD5 antes de ejecutar.</a:t>
            </a:r>
            <a:endParaRPr lang="en-US" sz="1050"/>
          </a:p>
        </p:txBody>
      </p:sp>
      <p:sp>
        <p:nvSpPr>
          <p:cNvPr id="1206786699" name="Shape 20"/>
          <p:cNvSpPr/>
          <p:nvPr/>
        </p:nvSpPr>
        <p:spPr bwMode="auto">
          <a:xfrm>
            <a:off x="256032" y="3081528"/>
            <a:ext cx="283464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38908966" name="Shape 21"/>
          <p:cNvSpPr/>
          <p:nvPr/>
        </p:nvSpPr>
        <p:spPr bwMode="auto">
          <a:xfrm>
            <a:off x="365760" y="3209544"/>
            <a:ext cx="438912" cy="43891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30092690" name="Text 22"/>
          <p:cNvSpPr/>
          <p:nvPr/>
        </p:nvSpPr>
        <p:spPr bwMode="auto">
          <a:xfrm>
            <a:off x="365760" y="320954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  <a:endParaRPr lang="en-US" sz="1400"/>
          </a:p>
        </p:txBody>
      </p:sp>
      <p:sp>
        <p:nvSpPr>
          <p:cNvPr id="305232253" name="Text 23"/>
          <p:cNvSpPr/>
          <p:nvPr/>
        </p:nvSpPr>
        <p:spPr bwMode="auto">
          <a:xfrm>
            <a:off x="896112" y="3236976"/>
            <a:ext cx="20848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F59E0B"/>
                </a:solidFill>
                <a:latin typeface="Calibri"/>
                <a:ea typeface="Calibri"/>
                <a:cs typeface="Calibri"/>
              </a:rPr>
              <a:t>Ejecutar instalador</a:t>
            </a:r>
            <a:endParaRPr lang="en-US" sz="1100"/>
          </a:p>
        </p:txBody>
      </p:sp>
      <p:sp>
        <p:nvSpPr>
          <p:cNvPr id="802554687" name="Text 24"/>
          <p:cNvSpPr/>
          <p:nvPr/>
        </p:nvSpPr>
        <p:spPr bwMode="auto">
          <a:xfrm>
            <a:off x="365760" y="3739896"/>
            <a:ext cx="261518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0F2A47"/>
                </a:solidFill>
                <a:latin typeface="Calibri"/>
                <a:ea typeface="Calibri"/>
                <a:cs typeface="Calibri"/>
              </a:rPr>
              <a:t>Modo gráfico (OUI) o silencioso (-silent -responseFile) para entornos sin GUI; seguir guía oficial de instalación.</a:t>
            </a:r>
            <a:endParaRPr lang="en-US" sz="1050"/>
          </a:p>
        </p:txBody>
      </p:sp>
      <p:sp>
        <p:nvSpPr>
          <p:cNvPr id="172220786" name="Shape 25"/>
          <p:cNvSpPr/>
          <p:nvPr/>
        </p:nvSpPr>
        <p:spPr bwMode="auto">
          <a:xfrm>
            <a:off x="3200400" y="3081528"/>
            <a:ext cx="283464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48657600" name="Shape 26"/>
          <p:cNvSpPr/>
          <p:nvPr/>
        </p:nvSpPr>
        <p:spPr bwMode="auto">
          <a:xfrm>
            <a:off x="3310127" y="3209544"/>
            <a:ext cx="438912" cy="43891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53692761" name="Text 27"/>
          <p:cNvSpPr/>
          <p:nvPr/>
        </p:nvSpPr>
        <p:spPr bwMode="auto">
          <a:xfrm>
            <a:off x="3310127" y="320954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  <a:endParaRPr lang="en-US" sz="1400"/>
          </a:p>
        </p:txBody>
      </p:sp>
      <p:sp>
        <p:nvSpPr>
          <p:cNvPr id="1747140830" name="Text 28"/>
          <p:cNvSpPr/>
          <p:nvPr/>
        </p:nvSpPr>
        <p:spPr bwMode="auto">
          <a:xfrm>
            <a:off x="3840480" y="3236976"/>
            <a:ext cx="20848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10B981"/>
                </a:solidFill>
                <a:latin typeface="Calibri"/>
                <a:ea typeface="Calibri"/>
                <a:cs typeface="Calibri"/>
              </a:rPr>
              <a:t>Crear instancia y BD inicial</a:t>
            </a:r>
            <a:endParaRPr lang="en-US" sz="1100"/>
          </a:p>
        </p:txBody>
      </p:sp>
      <p:sp>
        <p:nvSpPr>
          <p:cNvPr id="865578594" name="Text 29"/>
          <p:cNvSpPr/>
          <p:nvPr/>
        </p:nvSpPr>
        <p:spPr bwMode="auto">
          <a:xfrm>
            <a:off x="3310127" y="3739896"/>
            <a:ext cx="261518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0F2A47"/>
                </a:solidFill>
                <a:latin typeface="Calibri"/>
                <a:ea typeface="Calibri"/>
                <a:cs typeface="Calibri"/>
              </a:rPr>
              <a:t>DBCA (Oracle), mysql_install_db --user=mysql (MySQL), initdb -D /pgdata (PostgreSQL); definir charset y collation.</a:t>
            </a:r>
            <a:endParaRPr lang="en-US" sz="1050"/>
          </a:p>
        </p:txBody>
      </p:sp>
      <p:sp>
        <p:nvSpPr>
          <p:cNvPr id="452550773" name="Shape 30"/>
          <p:cNvSpPr/>
          <p:nvPr/>
        </p:nvSpPr>
        <p:spPr bwMode="auto">
          <a:xfrm>
            <a:off x="6144768" y="3081528"/>
            <a:ext cx="283464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58779199" name="Shape 31"/>
          <p:cNvSpPr/>
          <p:nvPr/>
        </p:nvSpPr>
        <p:spPr bwMode="auto">
          <a:xfrm>
            <a:off x="6254496" y="3209544"/>
            <a:ext cx="438912" cy="43891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917269271" name="Text 32"/>
          <p:cNvSpPr/>
          <p:nvPr/>
        </p:nvSpPr>
        <p:spPr bwMode="auto">
          <a:xfrm>
            <a:off x="6254496" y="320954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6</a:t>
            </a:r>
            <a:endParaRPr lang="en-US" sz="1400"/>
          </a:p>
        </p:txBody>
      </p:sp>
      <p:sp>
        <p:nvSpPr>
          <p:cNvPr id="1658476991" name="Text 33"/>
          <p:cNvSpPr/>
          <p:nvPr/>
        </p:nvSpPr>
        <p:spPr bwMode="auto">
          <a:xfrm>
            <a:off x="6784848" y="3236976"/>
            <a:ext cx="20848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6366F1"/>
                </a:solidFill>
                <a:latin typeface="Calibri"/>
                <a:ea typeface="Calibri"/>
                <a:cs typeface="Calibri"/>
              </a:rPr>
              <a:t>Validar y documentar</a:t>
            </a:r>
            <a:endParaRPr lang="en-US" sz="1100"/>
          </a:p>
        </p:txBody>
      </p:sp>
      <p:sp>
        <p:nvSpPr>
          <p:cNvPr id="517755671" name="Text 34"/>
          <p:cNvSpPr/>
          <p:nvPr/>
        </p:nvSpPr>
        <p:spPr bwMode="auto">
          <a:xfrm>
            <a:off x="6254496" y="3739896"/>
            <a:ext cx="261518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0F2A47"/>
                </a:solidFill>
                <a:latin typeface="Calibri"/>
                <a:ea typeface="Calibri"/>
                <a:cs typeface="Calibri"/>
              </a:rPr>
              <a:t>Conectar con cliente, ejecutar consultas básicas, revisar logs de errores y registrar la configuración final.</a:t>
            </a:r>
            <a:endParaRPr lang="en-US" sz="1050"/>
          </a:p>
        </p:txBody>
      </p:sp>
      <p:sp>
        <p:nvSpPr>
          <p:cNvPr id="66872623" name="Shape 35"/>
          <p:cNvSpPr/>
          <p:nvPr/>
        </p:nvSpPr>
        <p:spPr bwMode="auto">
          <a:xfrm>
            <a:off x="0" y="4892039"/>
            <a:ext cx="9144000" cy="25603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61484559" name="Text 36"/>
          <p:cNvSpPr/>
          <p:nvPr/>
        </p:nvSpPr>
        <p:spPr bwMode="auto">
          <a:xfrm>
            <a:off x="274320" y="4901184"/>
            <a:ext cx="8686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75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Fuente: Scribd ABD Unidad 2 · StudoCu ITI Taller BD · UNEZ ISC 2023</a:t>
            </a:r>
            <a:endParaRPr lang="en-US" sz="75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 name="Slide 14"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3771953" name="Shape 0"/>
          <p:cNvSpPr/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456772326" name="Shape 1"/>
          <p:cNvSpPr/>
          <p:nvPr/>
        </p:nvSpPr>
        <p:spPr bwMode="auto">
          <a:xfrm>
            <a:off x="0" y="114300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56596565" name="Shape 2"/>
          <p:cNvSpPr/>
          <p:nvPr/>
        </p:nvSpPr>
        <p:spPr bwMode="auto">
          <a:xfrm>
            <a:off x="274320" y="182880"/>
            <a:ext cx="658368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5004530" name="Text 3"/>
          <p:cNvSpPr/>
          <p:nvPr/>
        </p:nvSpPr>
        <p:spPr bwMode="auto">
          <a:xfrm>
            <a:off x="274320" y="18288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2.7</a:t>
            </a:r>
            <a:endParaRPr lang="en-US" sz="1500"/>
          </a:p>
        </p:txBody>
      </p:sp>
      <p:sp>
        <p:nvSpPr>
          <p:cNvPr id="351893590" name="Text 4"/>
          <p:cNvSpPr/>
          <p:nvPr/>
        </p:nvSpPr>
        <p:spPr bwMode="auto">
          <a:xfrm>
            <a:off x="1078992" y="237744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Procedimiento para Configuración del SGBD</a:t>
            </a:r>
            <a:endParaRPr lang="en-US" sz="2100"/>
          </a:p>
        </p:txBody>
      </p:sp>
      <p:pic>
        <p:nvPicPr>
          <p:cNvPr id="349358241" name="Image 0" descr="preencoded.png"/>
          <p:cNvPicPr>
            <a:picLocks noChangeAspect="1"/>
          </p:cNvPicPr>
          <p:nvPr/>
        </p:nvPicPr>
        <p:blipFill rotWithShape="1">
          <a:blip r:embed="rId3">
            <a:alphaModFix amt="80000"/>
          </a:blip>
          <a:stretch/>
        </p:blipFill>
        <p:spPr bwMode="auto">
          <a:xfrm>
            <a:off x="8092440" y="91440"/>
            <a:ext cx="822960" cy="822960"/>
          </a:xfrm>
          <a:prstGeom prst="rect">
            <a:avLst/>
          </a:prstGeom>
        </p:spPr>
      </p:pic>
      <p:sp>
        <p:nvSpPr>
          <p:cNvPr id="1310790006" name="Shape 5"/>
          <p:cNvSpPr/>
          <p:nvPr/>
        </p:nvSpPr>
        <p:spPr bwMode="auto">
          <a:xfrm>
            <a:off x="256032" y="1298448"/>
            <a:ext cx="4187952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36170648" name="Shape 6"/>
          <p:cNvSpPr/>
          <p:nvPr/>
        </p:nvSpPr>
        <p:spPr bwMode="auto">
          <a:xfrm>
            <a:off x="256032" y="1298448"/>
            <a:ext cx="64008" cy="17190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9548116" name="Text 7"/>
          <p:cNvSpPr/>
          <p:nvPr/>
        </p:nvSpPr>
        <p:spPr bwMode="auto">
          <a:xfrm>
            <a:off x="420624" y="1389888"/>
            <a:ext cx="39136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0D9488"/>
                </a:solidFill>
                <a:latin typeface="Calibri"/>
                <a:ea typeface="Calibri"/>
                <a:cs typeface="Calibri"/>
              </a:rPr>
              <a:t>Parámetros de Memoria y Conexiones</a:t>
            </a:r>
            <a:endParaRPr lang="en-US" sz="1200"/>
          </a:p>
        </p:txBody>
      </p:sp>
      <p:sp>
        <p:nvSpPr>
          <p:cNvPr id="292973488" name="Text 8"/>
          <p:cNvSpPr/>
          <p:nvPr/>
        </p:nvSpPr>
        <p:spPr bwMode="auto">
          <a:xfrm>
            <a:off x="420624" y="1773936"/>
            <a:ext cx="39319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  <a:defRPr/>
            </a:pPr>
            <a:r>
              <a:rPr lang="en-US" sz="1150">
                <a:solidFill>
                  <a:srgbClr val="0F2A47"/>
                </a:solidFill>
                <a:latin typeface="Calibri"/>
                <a:ea typeface="Calibri"/>
                <a:cs typeface="Calibri"/>
              </a:rPr>
              <a:t>Ajustar SGA_TARGET / PGA_AGGREGATE_TARGET (Oracle), innodb_buffer_pool_size (MySQL) o shared_buffers (PostgreSQL).</a:t>
            </a:r>
            <a:endParaRPr lang="en-US" sz="1150"/>
          </a:p>
          <a:p>
            <a:pPr marL="342900" indent="-342900">
              <a:spcAft>
                <a:spcPts val="600"/>
              </a:spcAft>
              <a:buSzPct val="100000"/>
              <a:buChar char="•"/>
              <a:defRPr/>
            </a:pPr>
            <a:r>
              <a:rPr lang="en-US" sz="1150">
                <a:solidFill>
                  <a:srgbClr val="0F2A47"/>
                </a:solidFill>
                <a:latin typeface="Calibri"/>
                <a:ea typeface="Calibri"/>
                <a:cs typeface="Calibri"/>
              </a:rPr>
              <a:t>Configurar max_connections / processes; empezar conservador y escalar con monitoreo.</a:t>
            </a:r>
            <a:endParaRPr lang="en-US" sz="1150"/>
          </a:p>
          <a:p>
            <a:pPr marL="342900" indent="-342900">
              <a:spcAft>
                <a:spcPts val="600"/>
              </a:spcAft>
              <a:buSzPct val="100000"/>
              <a:buChar char="•"/>
              <a:defRPr/>
            </a:pPr>
            <a:r>
              <a:rPr lang="en-US" sz="1150">
                <a:solidFill>
                  <a:srgbClr val="0F2A47"/>
                </a:solidFill>
                <a:latin typeface="Calibri"/>
                <a:ea typeface="Calibri"/>
                <a:cs typeface="Calibri"/>
              </a:rPr>
              <a:t>Definir tamaño de redo log groups y frecuencia de archivado para equilibrar rendimiento y recuperación.</a:t>
            </a:r>
            <a:endParaRPr lang="en-US" sz="1150"/>
          </a:p>
        </p:txBody>
      </p:sp>
      <p:sp>
        <p:nvSpPr>
          <p:cNvPr id="1294844311" name="Shape 9"/>
          <p:cNvSpPr/>
          <p:nvPr/>
        </p:nvSpPr>
        <p:spPr bwMode="auto">
          <a:xfrm>
            <a:off x="4700016" y="1298448"/>
            <a:ext cx="4187952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37116520" name="Shape 10"/>
          <p:cNvSpPr/>
          <p:nvPr/>
        </p:nvSpPr>
        <p:spPr bwMode="auto">
          <a:xfrm>
            <a:off x="4700016" y="1298448"/>
            <a:ext cx="64008" cy="1719072"/>
          </a:xfrm>
          <a:prstGeom prst="rect">
            <a:avLst/>
          </a:prstGeom>
          <a:solidFill>
            <a:srgbClr val="1A4A7A"/>
          </a:solidFill>
          <a:ln w="12700">
            <a:solidFill>
              <a:srgbClr val="1A4A7A"/>
            </a:solidFill>
            <a:prstDash val="solid"/>
          </a:ln>
        </p:spPr>
      </p:sp>
      <p:sp>
        <p:nvSpPr>
          <p:cNvPr id="1071648347" name="Text 11"/>
          <p:cNvSpPr/>
          <p:nvPr/>
        </p:nvSpPr>
        <p:spPr bwMode="auto">
          <a:xfrm>
            <a:off x="4864607" y="1389888"/>
            <a:ext cx="39136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1A4A7A"/>
                </a:solidFill>
                <a:latin typeface="Calibri"/>
                <a:ea typeface="Calibri"/>
                <a:cs typeface="Calibri"/>
              </a:rPr>
              <a:t>Seguridad y Autenticación</a:t>
            </a:r>
            <a:endParaRPr lang="en-US" sz="1200"/>
          </a:p>
        </p:txBody>
      </p:sp>
      <p:sp>
        <p:nvSpPr>
          <p:cNvPr id="320926927" name="Text 12"/>
          <p:cNvSpPr/>
          <p:nvPr/>
        </p:nvSpPr>
        <p:spPr bwMode="auto">
          <a:xfrm>
            <a:off x="4864607" y="1773936"/>
            <a:ext cx="39319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  <a:defRPr/>
            </a:pPr>
            <a:r>
              <a:rPr lang="en-US" sz="1150">
                <a:solidFill>
                  <a:srgbClr val="0F2A47"/>
                </a:solidFill>
                <a:latin typeface="Calibri"/>
                <a:ea typeface="Calibri"/>
                <a:cs typeface="Calibri"/>
              </a:rPr>
              <a:t>Crear usuario administrador con contraseña fuerte; eliminar cuentas anónimas.</a:t>
            </a:r>
            <a:endParaRPr lang="en-US" sz="1150"/>
          </a:p>
          <a:p>
            <a:pPr marL="342900" indent="-342900">
              <a:spcAft>
                <a:spcPts val="600"/>
              </a:spcAft>
              <a:buSzPct val="100000"/>
              <a:buChar char="•"/>
              <a:defRPr/>
            </a:pPr>
            <a:r>
              <a:rPr lang="en-US" sz="1150">
                <a:solidFill>
                  <a:srgbClr val="0F2A47"/>
                </a:solidFill>
                <a:latin typeface="Calibri"/>
                <a:ea typeface="Calibri"/>
                <a:cs typeface="Calibri"/>
              </a:rPr>
              <a:t>Configurar pg_hba.conf (PostgreSQL) o GRANT/REVOKE con host restricto (MySQL).</a:t>
            </a:r>
            <a:endParaRPr lang="en-US" sz="1150"/>
          </a:p>
          <a:p>
            <a:pPr marL="342900" indent="-342900">
              <a:spcAft>
                <a:spcPts val="600"/>
              </a:spcAft>
              <a:buSzPct val="100000"/>
              <a:buChar char="•"/>
              <a:defRPr/>
            </a:pPr>
            <a:r>
              <a:rPr lang="en-US" sz="1150">
                <a:solidFill>
                  <a:srgbClr val="0F2A47"/>
                </a:solidFill>
                <a:latin typeface="Calibri"/>
                <a:ea typeface="Calibri"/>
                <a:cs typeface="Calibri"/>
              </a:rPr>
              <a:t>Habilitar SSL/TLS para conexiones remotas; definir políticas de contraseña (validate_password en MySQL).</a:t>
            </a:r>
            <a:endParaRPr lang="en-US" sz="1150"/>
          </a:p>
        </p:txBody>
      </p:sp>
      <p:sp>
        <p:nvSpPr>
          <p:cNvPr id="202531198" name="Shape 13"/>
          <p:cNvSpPr/>
          <p:nvPr/>
        </p:nvSpPr>
        <p:spPr bwMode="auto">
          <a:xfrm>
            <a:off x="256032" y="3182112"/>
            <a:ext cx="4187952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02491511" name="Shape 14"/>
          <p:cNvSpPr/>
          <p:nvPr/>
        </p:nvSpPr>
        <p:spPr bwMode="auto">
          <a:xfrm>
            <a:off x="256032" y="3182112"/>
            <a:ext cx="64008" cy="166420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9021587" name="Text 15"/>
          <p:cNvSpPr/>
          <p:nvPr/>
        </p:nvSpPr>
        <p:spPr bwMode="auto">
          <a:xfrm>
            <a:off x="420624" y="3273552"/>
            <a:ext cx="39136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6366F1"/>
                </a:solidFill>
                <a:latin typeface="Calibri"/>
                <a:ea typeface="Calibri"/>
                <a:cs typeface="Calibri"/>
              </a:rPr>
              <a:t>Red y Listener</a:t>
            </a:r>
            <a:endParaRPr lang="en-US" sz="1200"/>
          </a:p>
        </p:txBody>
      </p:sp>
      <p:sp>
        <p:nvSpPr>
          <p:cNvPr id="1832523325" name="Text 16"/>
          <p:cNvSpPr/>
          <p:nvPr/>
        </p:nvSpPr>
        <p:spPr bwMode="auto">
          <a:xfrm>
            <a:off x="420624" y="3657600"/>
            <a:ext cx="3931920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  <a:defRPr/>
            </a:pPr>
            <a:r>
              <a:rPr lang="en-US" sz="1150">
                <a:solidFill>
                  <a:srgbClr val="0F2A47"/>
                </a:solidFill>
                <a:latin typeface="Calibri"/>
                <a:ea typeface="Calibri"/>
                <a:cs typeface="Calibri"/>
              </a:rPr>
              <a:t>Configurar listener.ora (Oracle) con HOST, PORT y SID/SERVICE; lsnrctl start.</a:t>
            </a:r>
            <a:endParaRPr lang="en-US" sz="1150"/>
          </a:p>
          <a:p>
            <a:pPr marL="342900" indent="-342900">
              <a:spcAft>
                <a:spcPts val="600"/>
              </a:spcAft>
              <a:buSzPct val="100000"/>
              <a:buChar char="•"/>
              <a:defRPr/>
            </a:pPr>
            <a:r>
              <a:rPr lang="en-US" sz="1150">
                <a:solidFill>
                  <a:srgbClr val="0F2A47"/>
                </a:solidFill>
                <a:latin typeface="Calibri"/>
                <a:ea typeface="Calibri"/>
                <a:cs typeface="Calibri"/>
              </a:rPr>
              <a:t>En MySQL/PostgreSQL: ajustar bind-address a la IP del servidor (no 127.0.0.1 si acepta remotas).</a:t>
            </a:r>
            <a:endParaRPr lang="en-US" sz="1150"/>
          </a:p>
          <a:p>
            <a:pPr marL="342900" indent="-342900">
              <a:spcAft>
                <a:spcPts val="600"/>
              </a:spcAft>
              <a:buSzPct val="100000"/>
              <a:buChar char="•"/>
              <a:defRPr/>
            </a:pPr>
            <a:r>
              <a:rPr lang="en-US" sz="1150">
                <a:solidFill>
                  <a:srgbClr val="0F2A47"/>
                </a:solidFill>
                <a:latin typeface="Calibri"/>
                <a:ea typeface="Calibri"/>
                <a:cs typeface="Calibri"/>
              </a:rPr>
              <a:t>Verificar resolución inversa de nombre desde los clientes para evitar demoras de conexión.</a:t>
            </a:r>
            <a:endParaRPr lang="en-US" sz="1150"/>
          </a:p>
        </p:txBody>
      </p:sp>
      <p:sp>
        <p:nvSpPr>
          <p:cNvPr id="2086671903" name="Shape 17"/>
          <p:cNvSpPr/>
          <p:nvPr/>
        </p:nvSpPr>
        <p:spPr bwMode="auto">
          <a:xfrm>
            <a:off x="4700016" y="3182112"/>
            <a:ext cx="4187952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97546314" name="Shape 18"/>
          <p:cNvSpPr/>
          <p:nvPr/>
        </p:nvSpPr>
        <p:spPr bwMode="auto">
          <a:xfrm>
            <a:off x="4700016" y="3182112"/>
            <a:ext cx="64008" cy="16642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48294647" name="Text 19"/>
          <p:cNvSpPr/>
          <p:nvPr/>
        </p:nvSpPr>
        <p:spPr bwMode="auto">
          <a:xfrm>
            <a:off x="4864607" y="3273552"/>
            <a:ext cx="39136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10B981"/>
                </a:solidFill>
                <a:latin typeface="Calibri"/>
                <a:ea typeface="Calibri"/>
                <a:cs typeface="Calibri"/>
              </a:rPr>
              <a:t>Backup y Auditoría</a:t>
            </a:r>
            <a:endParaRPr lang="en-US" sz="1200"/>
          </a:p>
        </p:txBody>
      </p:sp>
      <p:sp>
        <p:nvSpPr>
          <p:cNvPr id="57589319" name="Text 20"/>
          <p:cNvSpPr/>
          <p:nvPr/>
        </p:nvSpPr>
        <p:spPr bwMode="auto">
          <a:xfrm>
            <a:off x="4864607" y="3657600"/>
            <a:ext cx="3931920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  <a:defRPr/>
            </a:pPr>
            <a:r>
              <a:rPr lang="en-US" sz="1150">
                <a:solidFill>
                  <a:srgbClr val="0F2A47"/>
                </a:solidFill>
                <a:latin typeface="Calibri"/>
                <a:ea typeface="Calibri"/>
                <a:cs typeface="Calibri"/>
              </a:rPr>
              <a:t>Configurar RMAN (Oracle) o mysqldump/pg_dump en cron antes de pasar a producción.</a:t>
            </a:r>
            <a:endParaRPr lang="en-US" sz="1150"/>
          </a:p>
          <a:p>
            <a:pPr marL="342900" indent="-342900">
              <a:spcAft>
                <a:spcPts val="600"/>
              </a:spcAft>
              <a:buSzPct val="100000"/>
              <a:buChar char="•"/>
              <a:defRPr/>
            </a:pPr>
            <a:r>
              <a:rPr lang="en-US" sz="1150">
                <a:solidFill>
                  <a:srgbClr val="0F2A47"/>
                </a:solidFill>
                <a:latin typeface="Calibri"/>
                <a:ea typeface="Calibri"/>
                <a:cs typeface="Calibri"/>
              </a:rPr>
              <a:t>Habilitar logs de auditoría: audit_trail (Oracle), general_log / slow_query_log (MySQL), log_statement (PostgreSQL).</a:t>
            </a:r>
            <a:endParaRPr lang="en-US" sz="1150"/>
          </a:p>
          <a:p>
            <a:pPr marL="342900" indent="-342900">
              <a:spcAft>
                <a:spcPts val="600"/>
              </a:spcAft>
              <a:buSzPct val="100000"/>
              <a:buChar char="•"/>
              <a:defRPr/>
            </a:pPr>
            <a:r>
              <a:rPr lang="en-US" sz="1150">
                <a:solidFill>
                  <a:srgbClr val="0F2A47"/>
                </a:solidFill>
                <a:latin typeface="Calibri"/>
                <a:ea typeface="Calibri"/>
                <a:cs typeface="Calibri"/>
              </a:rPr>
              <a:t>Probar restore completo en ambiente separado; documentar RPO y RTO obtenidos.</a:t>
            </a:r>
            <a:endParaRPr lang="en-US" sz="1150"/>
          </a:p>
        </p:txBody>
      </p:sp>
      <p:sp>
        <p:nvSpPr>
          <p:cNvPr id="1302473799" name="Shape 21"/>
          <p:cNvSpPr/>
          <p:nvPr/>
        </p:nvSpPr>
        <p:spPr bwMode="auto">
          <a:xfrm>
            <a:off x="0" y="4892039"/>
            <a:ext cx="9144000" cy="25603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96070735" name="Text 22"/>
          <p:cNvSpPr/>
          <p:nvPr/>
        </p:nvSpPr>
        <p:spPr bwMode="auto">
          <a:xfrm>
            <a:off x="274320" y="4901184"/>
            <a:ext cx="8686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75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Fuentes: Nicole Rodríguez Blog · Scribd ABD · StudoCu · UNEZ 2023</a:t>
            </a:r>
            <a:endParaRPr lang="en-US" sz="75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 name="Slide 1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4475696" name="Shape 0"/>
          <p:cNvSpPr/>
          <p:nvPr/>
        </p:nvSpPr>
        <p:spPr bwMode="auto"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95969374" name="Text 1"/>
          <p:cNvSpPr/>
          <p:nvPr/>
        </p:nvSpPr>
        <p:spPr bwMode="auto">
          <a:xfrm>
            <a:off x="292608" y="164592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14B8A6"/>
                </a:solidFill>
                <a:latin typeface="Calibri"/>
                <a:ea typeface="Calibri"/>
                <a:cs typeface="Calibri"/>
              </a:rPr>
              <a:t>2.7</a:t>
            </a:r>
            <a:endParaRPr lang="en-US" sz="1300"/>
          </a:p>
        </p:txBody>
      </p:sp>
      <p:sp>
        <p:nvSpPr>
          <p:cNvPr id="150449857" name="Text 2"/>
          <p:cNvSpPr/>
          <p:nvPr/>
        </p:nvSpPr>
        <p:spPr bwMode="auto">
          <a:xfrm>
            <a:off x="292608" y="502920"/>
            <a:ext cx="8595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Parámetros de Configuración — Valores Típicos</a:t>
            </a:r>
            <a:endParaRPr lang="en-US" sz="2100"/>
          </a:p>
        </p:txBody>
      </p:sp>
      <p:graphicFrame>
        <p:nvGraphicFramePr>
          <p:cNvPr id="18029544" name="Table 0"/>
          <p:cNvGraphicFramePr>
            <a:graphicFrameLocks noGrp="1"/>
          </p:cNvGraphicFramePr>
          <p:nvPr/>
        </p:nvGraphicFramePr>
        <p:xfrm>
          <a:off x="256032" y="1207008"/>
          <a:ext cx="8631936" cy="3547872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396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3484">
                <a:tc>
                  <a:txBody>
                    <a:bodyPr/>
                    <a:lstStyle/>
                    <a:p>
                      <a:pPr marL="0" indent="0">
                        <a:buNone/>
                        <a:defRPr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Parámetro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6350" algn="ctr">
                      <a:solidFill>
                        <a:srgbClr val="1B3A5C"/>
                      </a:solidFill>
                    </a:lnL>
                    <a:lnR w="6350" algn="ctr">
                      <a:solidFill>
                        <a:srgbClr val="1B3A5C"/>
                      </a:solidFill>
                    </a:lnR>
                    <a:lnT w="6350" algn="ctr">
                      <a:solidFill>
                        <a:srgbClr val="1B3A5C"/>
                      </a:solidFill>
                    </a:lnT>
                    <a:lnB w="6350" algn="ctr">
                      <a:solidFill>
                        <a:srgbClr val="1B3A5C"/>
                      </a:solidFill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  <a:defRPr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Oracle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6350" algn="ctr">
                      <a:solidFill>
                        <a:srgbClr val="1B3A5C"/>
                      </a:solidFill>
                    </a:lnL>
                    <a:lnR w="6350" algn="ctr">
                      <a:solidFill>
                        <a:srgbClr val="1B3A5C"/>
                      </a:solidFill>
                    </a:lnR>
                    <a:lnT w="6350" algn="ctr">
                      <a:solidFill>
                        <a:srgbClr val="1B3A5C"/>
                      </a:solidFill>
                    </a:lnT>
                    <a:lnB w="6350" algn="ctr">
                      <a:solidFill>
                        <a:srgbClr val="1B3A5C"/>
                      </a:solidFill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  <a:defRPr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MySQL / MariaDB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6350" algn="ctr">
                      <a:solidFill>
                        <a:srgbClr val="1B3A5C"/>
                      </a:solidFill>
                    </a:lnL>
                    <a:lnR w="6350" algn="ctr">
                      <a:solidFill>
                        <a:srgbClr val="1B3A5C"/>
                      </a:solidFill>
                    </a:lnR>
                    <a:lnT w="6350" algn="ctr">
                      <a:solidFill>
                        <a:srgbClr val="1B3A5C"/>
                      </a:solidFill>
                    </a:lnT>
                    <a:lnB w="6350" algn="ctr">
                      <a:solidFill>
                        <a:srgbClr val="1B3A5C"/>
                      </a:solidFill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  <a:defRPr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PostgreSQL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6350" algn="ctr">
                      <a:solidFill>
                        <a:srgbClr val="1B3A5C"/>
                      </a:solidFill>
                    </a:lnL>
                    <a:lnR w="6350" algn="ctr">
                      <a:solidFill>
                        <a:srgbClr val="1B3A5C"/>
                      </a:solidFill>
                    </a:lnR>
                    <a:lnT w="6350" algn="ctr">
                      <a:solidFill>
                        <a:srgbClr val="1B3A5C"/>
                      </a:solidFill>
                    </a:lnT>
                    <a:lnB w="6350" algn="ctr">
                      <a:solidFill>
                        <a:srgbClr val="1B3A5C"/>
                      </a:solidFill>
                    </a:lnB>
                    <a:solidFill>
                      <a:srgbClr val="1A4A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3484">
                <a:tc>
                  <a:txBody>
                    <a:bodyPr/>
                    <a:lstStyle/>
                    <a:p>
                      <a:pPr marL="0" indent="0">
                        <a:buNone/>
                        <a:defRPr/>
                      </a:pPr>
                      <a:r>
                        <a:rPr lang="en-US" sz="1000">
                          <a:solidFill>
                            <a:srgbClr val="EFF6FF"/>
                          </a:solidFill>
                          <a:latin typeface="Calibri"/>
                          <a:ea typeface="Calibri"/>
                          <a:cs typeface="Calibri"/>
                        </a:rPr>
                        <a:t>Buffer / caché principal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6350" algn="ctr">
                      <a:solidFill>
                        <a:srgbClr val="1B3A5C"/>
                      </a:solidFill>
                    </a:lnL>
                    <a:lnR w="6350" algn="ctr">
                      <a:solidFill>
                        <a:srgbClr val="1B3A5C"/>
                      </a:solidFill>
                    </a:lnR>
                    <a:lnT w="6350" algn="ctr">
                      <a:solidFill>
                        <a:srgbClr val="1B3A5C"/>
                      </a:solidFill>
                    </a:lnT>
                    <a:lnB w="6350" algn="ctr">
                      <a:solidFill>
                        <a:srgbClr val="1B3A5C"/>
                      </a:solidFill>
                    </a:lnB>
                    <a:solidFill>
                      <a:srgbClr val="0F2A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  <a:defRPr/>
                      </a:pPr>
                      <a:r>
                        <a:rPr lang="en-US" sz="1000">
                          <a:solidFill>
                            <a:srgbClr val="EFF6FF"/>
                          </a:solidFill>
                          <a:latin typeface="Calibri"/>
                          <a:ea typeface="Calibri"/>
                          <a:cs typeface="Calibri"/>
                        </a:rPr>
                        <a:t>sga_target = 1G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6350" algn="ctr">
                      <a:solidFill>
                        <a:srgbClr val="1B3A5C"/>
                      </a:solidFill>
                    </a:lnL>
                    <a:lnR w="6350" algn="ctr">
                      <a:solidFill>
                        <a:srgbClr val="1B3A5C"/>
                      </a:solidFill>
                    </a:lnR>
                    <a:lnT w="6350" algn="ctr">
                      <a:solidFill>
                        <a:srgbClr val="1B3A5C"/>
                      </a:solidFill>
                    </a:lnT>
                    <a:lnB w="6350" algn="ctr">
                      <a:solidFill>
                        <a:srgbClr val="1B3A5C"/>
                      </a:solidFill>
                    </a:lnB>
                    <a:solidFill>
                      <a:srgbClr val="0F2A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  <a:defRPr/>
                      </a:pPr>
                      <a:r>
                        <a:rPr lang="en-US" sz="1000">
                          <a:solidFill>
                            <a:srgbClr val="EFF6FF"/>
                          </a:solidFill>
                          <a:latin typeface="Calibri"/>
                          <a:ea typeface="Calibri"/>
                          <a:cs typeface="Calibri"/>
                        </a:rPr>
                        <a:t>innodb_buffer_pool_size = 1G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6350" algn="ctr">
                      <a:solidFill>
                        <a:srgbClr val="1B3A5C"/>
                      </a:solidFill>
                    </a:lnL>
                    <a:lnR w="6350" algn="ctr">
                      <a:solidFill>
                        <a:srgbClr val="1B3A5C"/>
                      </a:solidFill>
                    </a:lnR>
                    <a:lnT w="6350" algn="ctr">
                      <a:solidFill>
                        <a:srgbClr val="1B3A5C"/>
                      </a:solidFill>
                    </a:lnT>
                    <a:lnB w="6350" algn="ctr">
                      <a:solidFill>
                        <a:srgbClr val="1B3A5C"/>
                      </a:solidFill>
                    </a:lnB>
                    <a:solidFill>
                      <a:srgbClr val="0F2A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  <a:defRPr/>
                      </a:pPr>
                      <a:r>
                        <a:rPr lang="en-US" sz="1000">
                          <a:solidFill>
                            <a:srgbClr val="EFF6FF"/>
                          </a:solidFill>
                          <a:latin typeface="Calibri"/>
                          <a:ea typeface="Calibri"/>
                          <a:cs typeface="Calibri"/>
                        </a:rPr>
                        <a:t>shared_buffers = 256MB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6350" algn="ctr">
                      <a:solidFill>
                        <a:srgbClr val="1B3A5C"/>
                      </a:solidFill>
                    </a:lnL>
                    <a:lnR w="6350" algn="ctr">
                      <a:solidFill>
                        <a:srgbClr val="1B3A5C"/>
                      </a:solidFill>
                    </a:lnR>
                    <a:lnT w="6350" algn="ctr">
                      <a:solidFill>
                        <a:srgbClr val="1B3A5C"/>
                      </a:solidFill>
                    </a:lnT>
                    <a:lnB w="6350" algn="ctr">
                      <a:solidFill>
                        <a:srgbClr val="1B3A5C"/>
                      </a:solidFill>
                    </a:lnB>
                    <a:solidFill>
                      <a:srgbClr val="0F2A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3484">
                <a:tc>
                  <a:txBody>
                    <a:bodyPr/>
                    <a:lstStyle/>
                    <a:p>
                      <a:pPr marL="0" indent="0">
                        <a:buNone/>
                        <a:defRPr/>
                      </a:pPr>
                      <a:r>
                        <a:rPr lang="en-US" sz="1000">
                          <a:solidFill>
                            <a:srgbClr val="EFF6FF"/>
                          </a:solidFill>
                          <a:latin typeface="Calibri"/>
                          <a:ea typeface="Calibri"/>
                          <a:cs typeface="Calibri"/>
                        </a:rPr>
                        <a:t>Memoria de sesión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6350" algn="ctr">
                      <a:solidFill>
                        <a:srgbClr val="1B3A5C"/>
                      </a:solidFill>
                    </a:lnL>
                    <a:lnR w="6350" algn="ctr">
                      <a:solidFill>
                        <a:srgbClr val="1B3A5C"/>
                      </a:solidFill>
                    </a:lnR>
                    <a:lnT w="6350" algn="ctr">
                      <a:solidFill>
                        <a:srgbClr val="1B3A5C"/>
                      </a:solidFill>
                    </a:lnT>
                    <a:lnB w="6350" algn="ctr">
                      <a:solidFill>
                        <a:srgbClr val="1B3A5C"/>
                      </a:solidFill>
                    </a:lnB>
                    <a:solidFill>
                      <a:srgbClr val="0F2A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  <a:defRPr/>
                      </a:pPr>
                      <a:r>
                        <a:rPr lang="en-US" sz="1000">
                          <a:solidFill>
                            <a:srgbClr val="EFF6FF"/>
                          </a:solidFill>
                          <a:latin typeface="Calibri"/>
                          <a:ea typeface="Calibri"/>
                          <a:cs typeface="Calibri"/>
                        </a:rPr>
                        <a:t>pga_aggregate_target = 512M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6350" algn="ctr">
                      <a:solidFill>
                        <a:srgbClr val="1B3A5C"/>
                      </a:solidFill>
                    </a:lnL>
                    <a:lnR w="6350" algn="ctr">
                      <a:solidFill>
                        <a:srgbClr val="1B3A5C"/>
                      </a:solidFill>
                    </a:lnR>
                    <a:lnT w="6350" algn="ctr">
                      <a:solidFill>
                        <a:srgbClr val="1B3A5C"/>
                      </a:solidFill>
                    </a:lnT>
                    <a:lnB w="6350" algn="ctr">
                      <a:solidFill>
                        <a:srgbClr val="1B3A5C"/>
                      </a:solidFill>
                    </a:lnB>
                    <a:solidFill>
                      <a:srgbClr val="0F2A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  <a:defRPr/>
                      </a:pPr>
                      <a:r>
                        <a:rPr lang="en-US" sz="1000">
                          <a:solidFill>
                            <a:srgbClr val="EFF6FF"/>
                          </a:solidFill>
                          <a:latin typeface="Calibri"/>
                          <a:ea typeface="Calibri"/>
                          <a:cs typeface="Calibri"/>
                        </a:rPr>
                        <a:t>sort_buffer_size = 4M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6350" algn="ctr">
                      <a:solidFill>
                        <a:srgbClr val="1B3A5C"/>
                      </a:solidFill>
                    </a:lnL>
                    <a:lnR w="6350" algn="ctr">
                      <a:solidFill>
                        <a:srgbClr val="1B3A5C"/>
                      </a:solidFill>
                    </a:lnR>
                    <a:lnT w="6350" algn="ctr">
                      <a:solidFill>
                        <a:srgbClr val="1B3A5C"/>
                      </a:solidFill>
                    </a:lnT>
                    <a:lnB w="6350" algn="ctr">
                      <a:solidFill>
                        <a:srgbClr val="1B3A5C"/>
                      </a:solidFill>
                    </a:lnB>
                    <a:solidFill>
                      <a:srgbClr val="0F2A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  <a:defRPr/>
                      </a:pPr>
                      <a:r>
                        <a:rPr lang="en-US" sz="1000">
                          <a:solidFill>
                            <a:srgbClr val="EFF6FF"/>
                          </a:solidFill>
                          <a:latin typeface="Calibri"/>
                          <a:ea typeface="Calibri"/>
                          <a:cs typeface="Calibri"/>
                        </a:rPr>
                        <a:t>work_mem = 64MB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6350" algn="ctr">
                      <a:solidFill>
                        <a:srgbClr val="1B3A5C"/>
                      </a:solidFill>
                    </a:lnL>
                    <a:lnR w="6350" algn="ctr">
                      <a:solidFill>
                        <a:srgbClr val="1B3A5C"/>
                      </a:solidFill>
                    </a:lnR>
                    <a:lnT w="6350" algn="ctr">
                      <a:solidFill>
                        <a:srgbClr val="1B3A5C"/>
                      </a:solidFill>
                    </a:lnT>
                    <a:lnB w="6350" algn="ctr">
                      <a:solidFill>
                        <a:srgbClr val="1B3A5C"/>
                      </a:solidFill>
                    </a:lnB>
                    <a:solidFill>
                      <a:srgbClr val="0F2A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3484">
                <a:tc>
                  <a:txBody>
                    <a:bodyPr/>
                    <a:lstStyle/>
                    <a:p>
                      <a:pPr marL="0" indent="0">
                        <a:buNone/>
                        <a:defRPr/>
                      </a:pPr>
                      <a:r>
                        <a:rPr lang="en-US" sz="1000">
                          <a:solidFill>
                            <a:srgbClr val="EFF6FF"/>
                          </a:solidFill>
                          <a:latin typeface="Calibri"/>
                          <a:ea typeface="Calibri"/>
                          <a:cs typeface="Calibri"/>
                        </a:rPr>
                        <a:t>Conexiones máximas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6350" algn="ctr">
                      <a:solidFill>
                        <a:srgbClr val="1B3A5C"/>
                      </a:solidFill>
                    </a:lnL>
                    <a:lnR w="6350" algn="ctr">
                      <a:solidFill>
                        <a:srgbClr val="1B3A5C"/>
                      </a:solidFill>
                    </a:lnR>
                    <a:lnT w="6350" algn="ctr">
                      <a:solidFill>
                        <a:srgbClr val="1B3A5C"/>
                      </a:solidFill>
                    </a:lnT>
                    <a:lnB w="6350" algn="ctr">
                      <a:solidFill>
                        <a:srgbClr val="1B3A5C"/>
                      </a:solidFill>
                    </a:lnB>
                    <a:solidFill>
                      <a:srgbClr val="0F2A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  <a:defRPr/>
                      </a:pPr>
                      <a:r>
                        <a:rPr lang="en-US" sz="1000">
                          <a:solidFill>
                            <a:srgbClr val="EFF6FF"/>
                          </a:solidFill>
                          <a:latin typeface="Calibri"/>
                          <a:ea typeface="Calibri"/>
                          <a:cs typeface="Calibri"/>
                        </a:rPr>
                        <a:t>processes = 300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6350" algn="ctr">
                      <a:solidFill>
                        <a:srgbClr val="1B3A5C"/>
                      </a:solidFill>
                    </a:lnL>
                    <a:lnR w="6350" algn="ctr">
                      <a:solidFill>
                        <a:srgbClr val="1B3A5C"/>
                      </a:solidFill>
                    </a:lnR>
                    <a:lnT w="6350" algn="ctr">
                      <a:solidFill>
                        <a:srgbClr val="1B3A5C"/>
                      </a:solidFill>
                    </a:lnT>
                    <a:lnB w="6350" algn="ctr">
                      <a:solidFill>
                        <a:srgbClr val="1B3A5C"/>
                      </a:solidFill>
                    </a:lnB>
                    <a:solidFill>
                      <a:srgbClr val="0F2A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  <a:defRPr/>
                      </a:pPr>
                      <a:r>
                        <a:rPr lang="en-US" sz="1000">
                          <a:solidFill>
                            <a:srgbClr val="EFF6FF"/>
                          </a:solidFill>
                          <a:latin typeface="Calibri"/>
                          <a:ea typeface="Calibri"/>
                          <a:cs typeface="Calibri"/>
                        </a:rPr>
                        <a:t>max_connections = 151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6350" algn="ctr">
                      <a:solidFill>
                        <a:srgbClr val="1B3A5C"/>
                      </a:solidFill>
                    </a:lnL>
                    <a:lnR w="6350" algn="ctr">
                      <a:solidFill>
                        <a:srgbClr val="1B3A5C"/>
                      </a:solidFill>
                    </a:lnR>
                    <a:lnT w="6350" algn="ctr">
                      <a:solidFill>
                        <a:srgbClr val="1B3A5C"/>
                      </a:solidFill>
                    </a:lnT>
                    <a:lnB w="6350" algn="ctr">
                      <a:solidFill>
                        <a:srgbClr val="1B3A5C"/>
                      </a:solidFill>
                    </a:lnB>
                    <a:solidFill>
                      <a:srgbClr val="0F2A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  <a:defRPr/>
                      </a:pPr>
                      <a:r>
                        <a:rPr lang="en-US" sz="1000">
                          <a:solidFill>
                            <a:srgbClr val="EFF6FF"/>
                          </a:solidFill>
                          <a:latin typeface="Calibri"/>
                          <a:ea typeface="Calibri"/>
                          <a:cs typeface="Calibri"/>
                        </a:rPr>
                        <a:t>max_connections = 100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6350" algn="ctr">
                      <a:solidFill>
                        <a:srgbClr val="1B3A5C"/>
                      </a:solidFill>
                    </a:lnL>
                    <a:lnR w="6350" algn="ctr">
                      <a:solidFill>
                        <a:srgbClr val="1B3A5C"/>
                      </a:solidFill>
                    </a:lnR>
                    <a:lnT w="6350" algn="ctr">
                      <a:solidFill>
                        <a:srgbClr val="1B3A5C"/>
                      </a:solidFill>
                    </a:lnT>
                    <a:lnB w="6350" algn="ctr">
                      <a:solidFill>
                        <a:srgbClr val="1B3A5C"/>
                      </a:solidFill>
                    </a:lnB>
                    <a:solidFill>
                      <a:srgbClr val="0F2A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3484">
                <a:tc>
                  <a:txBody>
                    <a:bodyPr/>
                    <a:lstStyle/>
                    <a:p>
                      <a:pPr marL="0" indent="0">
                        <a:buNone/>
                        <a:defRPr/>
                      </a:pPr>
                      <a:r>
                        <a:rPr lang="en-US" sz="1000">
                          <a:solidFill>
                            <a:srgbClr val="EFF6FF"/>
                          </a:solidFill>
                          <a:latin typeface="Calibri"/>
                          <a:ea typeface="Calibri"/>
                          <a:cs typeface="Calibri"/>
                        </a:rPr>
                        <a:t>Tamaño de redo / WAL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6350" algn="ctr">
                      <a:solidFill>
                        <a:srgbClr val="1B3A5C"/>
                      </a:solidFill>
                    </a:lnL>
                    <a:lnR w="6350" algn="ctr">
                      <a:solidFill>
                        <a:srgbClr val="1B3A5C"/>
                      </a:solidFill>
                    </a:lnR>
                    <a:lnT w="6350" algn="ctr">
                      <a:solidFill>
                        <a:srgbClr val="1B3A5C"/>
                      </a:solidFill>
                    </a:lnT>
                    <a:lnB w="6350" algn="ctr">
                      <a:solidFill>
                        <a:srgbClr val="1B3A5C"/>
                      </a:solidFill>
                    </a:lnB>
                    <a:solidFill>
                      <a:srgbClr val="0F2A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  <a:defRPr/>
                      </a:pPr>
                      <a:r>
                        <a:rPr lang="en-US" sz="1000">
                          <a:solidFill>
                            <a:srgbClr val="EFF6FF"/>
                          </a:solidFill>
                          <a:latin typeface="Calibri"/>
                          <a:ea typeface="Calibri"/>
                          <a:cs typeface="Calibri"/>
                        </a:rPr>
                        <a:t>redo log size = 200M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6350" algn="ctr">
                      <a:solidFill>
                        <a:srgbClr val="1B3A5C"/>
                      </a:solidFill>
                    </a:lnL>
                    <a:lnR w="6350" algn="ctr">
                      <a:solidFill>
                        <a:srgbClr val="1B3A5C"/>
                      </a:solidFill>
                    </a:lnR>
                    <a:lnT w="6350" algn="ctr">
                      <a:solidFill>
                        <a:srgbClr val="1B3A5C"/>
                      </a:solidFill>
                    </a:lnT>
                    <a:lnB w="6350" algn="ctr">
                      <a:solidFill>
                        <a:srgbClr val="1B3A5C"/>
                      </a:solidFill>
                    </a:lnB>
                    <a:solidFill>
                      <a:srgbClr val="0F2A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  <a:defRPr/>
                      </a:pPr>
                      <a:r>
                        <a:rPr lang="en-US" sz="1000">
                          <a:solidFill>
                            <a:srgbClr val="EFF6FF"/>
                          </a:solidFill>
                          <a:latin typeface="Calibri"/>
                          <a:ea typeface="Calibri"/>
                          <a:cs typeface="Calibri"/>
                        </a:rPr>
                        <a:t>innodb_log_file_size = 128M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6350" algn="ctr">
                      <a:solidFill>
                        <a:srgbClr val="1B3A5C"/>
                      </a:solidFill>
                    </a:lnL>
                    <a:lnR w="6350" algn="ctr">
                      <a:solidFill>
                        <a:srgbClr val="1B3A5C"/>
                      </a:solidFill>
                    </a:lnR>
                    <a:lnT w="6350" algn="ctr">
                      <a:solidFill>
                        <a:srgbClr val="1B3A5C"/>
                      </a:solidFill>
                    </a:lnT>
                    <a:lnB w="6350" algn="ctr">
                      <a:solidFill>
                        <a:srgbClr val="1B3A5C"/>
                      </a:solidFill>
                    </a:lnB>
                    <a:solidFill>
                      <a:srgbClr val="0F2A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  <a:defRPr/>
                      </a:pPr>
                      <a:r>
                        <a:rPr lang="en-US" sz="1000">
                          <a:solidFill>
                            <a:srgbClr val="EFF6FF"/>
                          </a:solidFill>
                          <a:latin typeface="Calibri"/>
                          <a:ea typeface="Calibri"/>
                          <a:cs typeface="Calibri"/>
                        </a:rPr>
                        <a:t>wal_segment_size = 16MB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6350" algn="ctr">
                      <a:solidFill>
                        <a:srgbClr val="1B3A5C"/>
                      </a:solidFill>
                    </a:lnL>
                    <a:lnR w="6350" algn="ctr">
                      <a:solidFill>
                        <a:srgbClr val="1B3A5C"/>
                      </a:solidFill>
                    </a:lnR>
                    <a:lnT w="6350" algn="ctr">
                      <a:solidFill>
                        <a:srgbClr val="1B3A5C"/>
                      </a:solidFill>
                    </a:lnT>
                    <a:lnB w="6350" algn="ctr">
                      <a:solidFill>
                        <a:srgbClr val="1B3A5C"/>
                      </a:solidFill>
                    </a:lnB>
                    <a:solidFill>
                      <a:srgbClr val="0F2A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3484">
                <a:tc>
                  <a:txBody>
                    <a:bodyPr/>
                    <a:lstStyle/>
                    <a:p>
                      <a:pPr marL="0" indent="0">
                        <a:buNone/>
                        <a:defRPr/>
                      </a:pPr>
                      <a:r>
                        <a:rPr lang="en-US" sz="1000">
                          <a:solidFill>
                            <a:srgbClr val="EFF6FF"/>
                          </a:solidFill>
                          <a:latin typeface="Calibri"/>
                          <a:ea typeface="Calibri"/>
                          <a:cs typeface="Calibri"/>
                        </a:rPr>
                        <a:t>Modo de commit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6350" algn="ctr">
                      <a:solidFill>
                        <a:srgbClr val="1B3A5C"/>
                      </a:solidFill>
                    </a:lnL>
                    <a:lnR w="6350" algn="ctr">
                      <a:solidFill>
                        <a:srgbClr val="1B3A5C"/>
                      </a:solidFill>
                    </a:lnR>
                    <a:lnT w="6350" algn="ctr">
                      <a:solidFill>
                        <a:srgbClr val="1B3A5C"/>
                      </a:solidFill>
                    </a:lnT>
                    <a:lnB w="6350" algn="ctr">
                      <a:solidFill>
                        <a:srgbClr val="1B3A5C"/>
                      </a:solidFill>
                    </a:lnB>
                    <a:solidFill>
                      <a:srgbClr val="0F2A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  <a:defRPr/>
                      </a:pPr>
                      <a:r>
                        <a:rPr lang="en-US" sz="1000">
                          <a:solidFill>
                            <a:srgbClr val="EFF6FF"/>
                          </a:solidFill>
                          <a:latin typeface="Calibri"/>
                          <a:ea typeface="Calibri"/>
                          <a:cs typeface="Calibri"/>
                        </a:rPr>
                        <a:t>COMMIT_WAIT = NOWAIT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6350" algn="ctr">
                      <a:solidFill>
                        <a:srgbClr val="1B3A5C"/>
                      </a:solidFill>
                    </a:lnL>
                    <a:lnR w="6350" algn="ctr">
                      <a:solidFill>
                        <a:srgbClr val="1B3A5C"/>
                      </a:solidFill>
                    </a:lnR>
                    <a:lnT w="6350" algn="ctr">
                      <a:solidFill>
                        <a:srgbClr val="1B3A5C"/>
                      </a:solidFill>
                    </a:lnT>
                    <a:lnB w="6350" algn="ctr">
                      <a:solidFill>
                        <a:srgbClr val="1B3A5C"/>
                      </a:solidFill>
                    </a:lnB>
                    <a:solidFill>
                      <a:srgbClr val="0F2A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  <a:defRPr/>
                      </a:pPr>
                      <a:r>
                        <a:rPr lang="en-US" sz="1000">
                          <a:solidFill>
                            <a:srgbClr val="EFF6FF"/>
                          </a:solidFill>
                          <a:latin typeface="Calibri"/>
                          <a:ea typeface="Calibri"/>
                          <a:cs typeface="Calibri"/>
                        </a:rPr>
                        <a:t>innodb_flush_log_at_trx = 1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6350" algn="ctr">
                      <a:solidFill>
                        <a:srgbClr val="1B3A5C"/>
                      </a:solidFill>
                    </a:lnL>
                    <a:lnR w="6350" algn="ctr">
                      <a:solidFill>
                        <a:srgbClr val="1B3A5C"/>
                      </a:solidFill>
                    </a:lnR>
                    <a:lnT w="6350" algn="ctr">
                      <a:solidFill>
                        <a:srgbClr val="1B3A5C"/>
                      </a:solidFill>
                    </a:lnT>
                    <a:lnB w="6350" algn="ctr">
                      <a:solidFill>
                        <a:srgbClr val="1B3A5C"/>
                      </a:solidFill>
                    </a:lnB>
                    <a:solidFill>
                      <a:srgbClr val="0F2A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  <a:defRPr/>
                      </a:pPr>
                      <a:r>
                        <a:rPr lang="en-US" sz="1000">
                          <a:solidFill>
                            <a:srgbClr val="EFF6FF"/>
                          </a:solidFill>
                          <a:latin typeface="Calibri"/>
                          <a:ea typeface="Calibri"/>
                          <a:cs typeface="Calibri"/>
                        </a:rPr>
                        <a:t>synchronous_commit = on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6350" algn="ctr">
                      <a:solidFill>
                        <a:srgbClr val="1B3A5C"/>
                      </a:solidFill>
                    </a:lnL>
                    <a:lnR w="6350" algn="ctr">
                      <a:solidFill>
                        <a:srgbClr val="1B3A5C"/>
                      </a:solidFill>
                    </a:lnR>
                    <a:lnT w="6350" algn="ctr">
                      <a:solidFill>
                        <a:srgbClr val="1B3A5C"/>
                      </a:solidFill>
                    </a:lnT>
                    <a:lnB w="6350" algn="ctr">
                      <a:solidFill>
                        <a:srgbClr val="1B3A5C"/>
                      </a:solidFill>
                    </a:lnB>
                    <a:solidFill>
                      <a:srgbClr val="0F2A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3484">
                <a:tc>
                  <a:txBody>
                    <a:bodyPr/>
                    <a:lstStyle/>
                    <a:p>
                      <a:pPr marL="0" indent="0">
                        <a:buNone/>
                        <a:defRPr/>
                      </a:pPr>
                      <a:r>
                        <a:rPr lang="en-US" sz="1000">
                          <a:solidFill>
                            <a:srgbClr val="EFF6FF"/>
                          </a:solidFill>
                          <a:latin typeface="Calibri"/>
                          <a:ea typeface="Calibri"/>
                          <a:cs typeface="Calibri"/>
                        </a:rPr>
                        <a:t>Log de auditoría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6350" algn="ctr">
                      <a:solidFill>
                        <a:srgbClr val="1B3A5C"/>
                      </a:solidFill>
                    </a:lnL>
                    <a:lnR w="6350" algn="ctr">
                      <a:solidFill>
                        <a:srgbClr val="1B3A5C"/>
                      </a:solidFill>
                    </a:lnR>
                    <a:lnT w="6350" algn="ctr">
                      <a:solidFill>
                        <a:srgbClr val="1B3A5C"/>
                      </a:solidFill>
                    </a:lnT>
                    <a:lnB w="6350" algn="ctr">
                      <a:solidFill>
                        <a:srgbClr val="1B3A5C"/>
                      </a:solidFill>
                    </a:lnB>
                    <a:solidFill>
                      <a:srgbClr val="0F2A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  <a:defRPr/>
                      </a:pPr>
                      <a:r>
                        <a:rPr lang="en-US" sz="1000">
                          <a:solidFill>
                            <a:srgbClr val="EFF6FF"/>
                          </a:solidFill>
                          <a:latin typeface="Calibri"/>
                          <a:ea typeface="Calibri"/>
                          <a:cs typeface="Calibri"/>
                        </a:rPr>
                        <a:t>audit_trail = DB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6350" algn="ctr">
                      <a:solidFill>
                        <a:srgbClr val="1B3A5C"/>
                      </a:solidFill>
                    </a:lnL>
                    <a:lnR w="6350" algn="ctr">
                      <a:solidFill>
                        <a:srgbClr val="1B3A5C"/>
                      </a:solidFill>
                    </a:lnR>
                    <a:lnT w="6350" algn="ctr">
                      <a:solidFill>
                        <a:srgbClr val="1B3A5C"/>
                      </a:solidFill>
                    </a:lnT>
                    <a:lnB w="6350" algn="ctr">
                      <a:solidFill>
                        <a:srgbClr val="1B3A5C"/>
                      </a:solidFill>
                    </a:lnB>
                    <a:solidFill>
                      <a:srgbClr val="0F2A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  <a:defRPr/>
                      </a:pPr>
                      <a:r>
                        <a:rPr lang="en-US" sz="1000">
                          <a:solidFill>
                            <a:srgbClr val="EFF6FF"/>
                          </a:solidFill>
                          <a:latin typeface="Calibri"/>
                          <a:ea typeface="Calibri"/>
                          <a:cs typeface="Calibri"/>
                        </a:rPr>
                        <a:t>general_log = ON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6350" algn="ctr">
                      <a:solidFill>
                        <a:srgbClr val="1B3A5C"/>
                      </a:solidFill>
                    </a:lnL>
                    <a:lnR w="6350" algn="ctr">
                      <a:solidFill>
                        <a:srgbClr val="1B3A5C"/>
                      </a:solidFill>
                    </a:lnR>
                    <a:lnT w="6350" algn="ctr">
                      <a:solidFill>
                        <a:srgbClr val="1B3A5C"/>
                      </a:solidFill>
                    </a:lnT>
                    <a:lnB w="6350" algn="ctr">
                      <a:solidFill>
                        <a:srgbClr val="1B3A5C"/>
                      </a:solidFill>
                    </a:lnB>
                    <a:solidFill>
                      <a:srgbClr val="0F2A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  <a:defRPr/>
                      </a:pPr>
                      <a:r>
                        <a:rPr lang="en-US" sz="1000">
                          <a:solidFill>
                            <a:srgbClr val="EFF6FF"/>
                          </a:solidFill>
                          <a:latin typeface="Calibri"/>
                          <a:ea typeface="Calibri"/>
                          <a:cs typeface="Calibri"/>
                        </a:rPr>
                        <a:t>log_statement = 'ddl'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6350" algn="ctr">
                      <a:solidFill>
                        <a:srgbClr val="1B3A5C"/>
                      </a:solidFill>
                    </a:lnL>
                    <a:lnR w="6350" algn="ctr">
                      <a:solidFill>
                        <a:srgbClr val="1B3A5C"/>
                      </a:solidFill>
                    </a:lnR>
                    <a:lnT w="6350" algn="ctr">
                      <a:solidFill>
                        <a:srgbClr val="1B3A5C"/>
                      </a:solidFill>
                    </a:lnT>
                    <a:lnB w="6350" algn="ctr">
                      <a:solidFill>
                        <a:srgbClr val="1B3A5C"/>
                      </a:solidFill>
                    </a:lnB>
                    <a:solidFill>
                      <a:srgbClr val="0F2A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3484">
                <a:tc>
                  <a:txBody>
                    <a:bodyPr/>
                    <a:lstStyle/>
                    <a:p>
                      <a:pPr marL="0" indent="0">
                        <a:buNone/>
                        <a:defRPr/>
                      </a:pPr>
                      <a:r>
                        <a:rPr lang="en-US" sz="1000">
                          <a:solidFill>
                            <a:srgbClr val="EFF6FF"/>
                          </a:solidFill>
                          <a:latin typeface="Calibri"/>
                          <a:ea typeface="Calibri"/>
                          <a:cs typeface="Calibri"/>
                        </a:rPr>
                        <a:t>Charset / Collation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6350" algn="ctr">
                      <a:solidFill>
                        <a:srgbClr val="1B3A5C"/>
                      </a:solidFill>
                    </a:lnL>
                    <a:lnR w="6350" algn="ctr">
                      <a:solidFill>
                        <a:srgbClr val="1B3A5C"/>
                      </a:solidFill>
                    </a:lnR>
                    <a:lnT w="6350" algn="ctr">
                      <a:solidFill>
                        <a:srgbClr val="1B3A5C"/>
                      </a:solidFill>
                    </a:lnT>
                    <a:lnB w="6350" algn="ctr">
                      <a:solidFill>
                        <a:srgbClr val="1B3A5C"/>
                      </a:solidFill>
                    </a:lnB>
                    <a:solidFill>
                      <a:srgbClr val="0F2A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  <a:defRPr/>
                      </a:pPr>
                      <a:r>
                        <a:rPr lang="en-US" sz="1000">
                          <a:solidFill>
                            <a:srgbClr val="EFF6FF"/>
                          </a:solidFill>
                          <a:latin typeface="Calibri"/>
                          <a:ea typeface="Calibri"/>
                          <a:cs typeface="Calibri"/>
                        </a:rPr>
                        <a:t>NLS_CHARACTERSET = AL32UTF8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6350" algn="ctr">
                      <a:solidFill>
                        <a:srgbClr val="1B3A5C"/>
                      </a:solidFill>
                    </a:lnL>
                    <a:lnR w="6350" algn="ctr">
                      <a:solidFill>
                        <a:srgbClr val="1B3A5C"/>
                      </a:solidFill>
                    </a:lnR>
                    <a:lnT w="6350" algn="ctr">
                      <a:solidFill>
                        <a:srgbClr val="1B3A5C"/>
                      </a:solidFill>
                    </a:lnT>
                    <a:lnB w="6350" algn="ctr">
                      <a:solidFill>
                        <a:srgbClr val="1B3A5C"/>
                      </a:solidFill>
                    </a:lnB>
                    <a:solidFill>
                      <a:srgbClr val="0F2A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  <a:defRPr/>
                      </a:pPr>
                      <a:r>
                        <a:rPr lang="en-US" sz="1000">
                          <a:solidFill>
                            <a:srgbClr val="EFF6FF"/>
                          </a:solidFill>
                          <a:latin typeface="Calibri"/>
                          <a:ea typeface="Calibri"/>
                          <a:cs typeface="Calibri"/>
                        </a:rPr>
                        <a:t>character_set_server = utf8mb4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6350" algn="ctr">
                      <a:solidFill>
                        <a:srgbClr val="1B3A5C"/>
                      </a:solidFill>
                    </a:lnL>
                    <a:lnR w="6350" algn="ctr">
                      <a:solidFill>
                        <a:srgbClr val="1B3A5C"/>
                      </a:solidFill>
                    </a:lnR>
                    <a:lnT w="6350" algn="ctr">
                      <a:solidFill>
                        <a:srgbClr val="1B3A5C"/>
                      </a:solidFill>
                    </a:lnT>
                    <a:lnB w="6350" algn="ctr">
                      <a:solidFill>
                        <a:srgbClr val="1B3A5C"/>
                      </a:solidFill>
                    </a:lnB>
                    <a:solidFill>
                      <a:srgbClr val="0F2A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  <a:defRPr/>
                      </a:pPr>
                      <a:r>
                        <a:rPr lang="en-US" sz="1000">
                          <a:solidFill>
                            <a:srgbClr val="EFF6FF"/>
                          </a:solidFill>
                          <a:latin typeface="Calibri"/>
                          <a:ea typeface="Calibri"/>
                          <a:cs typeface="Calibri"/>
                        </a:rPr>
                        <a:t>lc_collate = 'es_MX.UTF-8'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6350" algn="ctr">
                      <a:solidFill>
                        <a:srgbClr val="1B3A5C"/>
                      </a:solidFill>
                    </a:lnL>
                    <a:lnR w="6350" algn="ctr">
                      <a:solidFill>
                        <a:srgbClr val="1B3A5C"/>
                      </a:solidFill>
                    </a:lnR>
                    <a:lnT w="6350" algn="ctr">
                      <a:solidFill>
                        <a:srgbClr val="1B3A5C"/>
                      </a:solidFill>
                    </a:lnT>
                    <a:lnB w="6350" algn="ctr">
                      <a:solidFill>
                        <a:srgbClr val="1B3A5C"/>
                      </a:solidFill>
                    </a:lnB>
                    <a:solidFill>
                      <a:srgbClr val="0F2A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09993310" name="Shape 3"/>
          <p:cNvSpPr/>
          <p:nvPr/>
        </p:nvSpPr>
        <p:spPr bwMode="auto">
          <a:xfrm>
            <a:off x="0" y="4892039"/>
            <a:ext cx="9144000" cy="25603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616143434" name="Text 4"/>
          <p:cNvSpPr/>
          <p:nvPr/>
        </p:nvSpPr>
        <p:spPr bwMode="auto">
          <a:xfrm>
            <a:off x="274320" y="4901184"/>
            <a:ext cx="8686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75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Fuente: Scribd ABD Unidad 2 · UNEZ ISC 2023 — consultar documentación oficial para rangos exactos</a:t>
            </a:r>
            <a:endParaRPr lang="en-US" sz="75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 name="Slide 1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4077429" name="Shape 0"/>
          <p:cNvSpPr/>
          <p:nvPr/>
        </p:nvSpPr>
        <p:spPr bwMode="auto">
          <a:xfrm>
            <a:off x="0" y="0"/>
            <a:ext cx="109728" cy="51435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808070940" name="Text 1"/>
          <p:cNvSpPr/>
          <p:nvPr/>
        </p:nvSpPr>
        <p:spPr bwMode="auto">
          <a:xfrm>
            <a:off x="292608" y="164592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14B8A6"/>
                </a:solidFill>
                <a:latin typeface="Calibri"/>
                <a:ea typeface="Calibri"/>
                <a:cs typeface="Calibri"/>
              </a:rPr>
              <a:t>2.8</a:t>
            </a:r>
            <a:endParaRPr lang="en-US" sz="1300"/>
          </a:p>
        </p:txBody>
      </p:sp>
      <p:sp>
        <p:nvSpPr>
          <p:cNvPr id="358394955" name="Text 2"/>
          <p:cNvSpPr/>
          <p:nvPr/>
        </p:nvSpPr>
        <p:spPr bwMode="auto">
          <a:xfrm>
            <a:off x="292608" y="502920"/>
            <a:ext cx="8595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Comandos de ALTA — Arranque del SGBD</a:t>
            </a:r>
            <a:endParaRPr lang="en-US" sz="2200"/>
          </a:p>
        </p:txBody>
      </p:sp>
      <p:pic>
        <p:nvPicPr>
          <p:cNvPr id="871365381" name="Image 0" descr="preencoded.png"/>
          <p:cNvPicPr>
            <a:picLocks noChangeAspect="1"/>
          </p:cNvPicPr>
          <p:nvPr/>
        </p:nvPicPr>
        <p:blipFill rotWithShape="1">
          <a:blip r:embed="rId3">
            <a:alphaModFix amt="85000"/>
          </a:blip>
          <a:stretch/>
        </p:blipFill>
        <p:spPr bwMode="auto">
          <a:xfrm>
            <a:off x="8046720" y="137160"/>
            <a:ext cx="822960" cy="822960"/>
          </a:xfrm>
          <a:prstGeom prst="rect">
            <a:avLst/>
          </a:prstGeom>
        </p:spPr>
      </p:pic>
      <p:sp>
        <p:nvSpPr>
          <p:cNvPr id="334090403" name="Shape 3"/>
          <p:cNvSpPr/>
          <p:nvPr/>
        </p:nvSpPr>
        <p:spPr bwMode="auto">
          <a:xfrm>
            <a:off x="256032" y="1261872"/>
            <a:ext cx="2834640" cy="3611880"/>
          </a:xfrm>
          <a:prstGeom prst="rect">
            <a:avLst/>
          </a:prstGeom>
          <a:solidFill>
            <a:srgbClr val="0F2A47"/>
          </a:solidFill>
          <a:ln w="12700">
            <a:solidFill>
              <a:srgbClr val="F97316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80493746" name="Shape 4"/>
          <p:cNvSpPr/>
          <p:nvPr/>
        </p:nvSpPr>
        <p:spPr bwMode="auto">
          <a:xfrm>
            <a:off x="256032" y="1261872"/>
            <a:ext cx="2834640" cy="40233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936550648" name="Text 5"/>
          <p:cNvSpPr/>
          <p:nvPr/>
        </p:nvSpPr>
        <p:spPr bwMode="auto">
          <a:xfrm>
            <a:off x="365760" y="1280160"/>
            <a:ext cx="26151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Oracle DB</a:t>
            </a:r>
            <a:endParaRPr lang="en-US" sz="1200"/>
          </a:p>
        </p:txBody>
      </p:sp>
      <p:sp>
        <p:nvSpPr>
          <p:cNvPr id="1623190670" name="Text 6"/>
          <p:cNvSpPr/>
          <p:nvPr/>
        </p:nvSpPr>
        <p:spPr bwMode="auto">
          <a:xfrm>
            <a:off x="365760" y="1737360"/>
            <a:ext cx="2615184" cy="301751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# 1. Iniciar listener de red:</a:t>
            </a:r>
            <a:endParaRPr lang="en-US" sz="1000"/>
          </a:p>
          <a:p>
            <a:pPr marL="0" indent="0">
              <a:buNone/>
              <a:defRPr/>
            </a:pPr>
            <a:r>
              <a:rPr lang="en-US" sz="1000" b="1">
                <a:solidFill>
                  <a:srgbClr val="38BDF8"/>
                </a:solidFill>
                <a:latin typeface="Consolas"/>
                <a:ea typeface="Consolas"/>
                <a:cs typeface="Consolas"/>
              </a:rPr>
              <a:t>lsnrctl start</a:t>
            </a:r>
            <a:endParaRPr lang="en-US" sz="1000"/>
          </a:p>
          <a:p>
            <a:pPr marL="0" indent="0">
              <a:buNone/>
              <a:defRPr/>
            </a:pPr>
            <a:endParaRPr lang="en-US" sz="1000"/>
          </a:p>
          <a:p>
            <a:pPr marL="0" indent="0">
              <a:buNone/>
              <a:defRPr/>
            </a:pPr>
            <a:r>
              <a:rPr lang="en-US" sz="10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# 2. Abrir instancia y BD (SQL*Plus):</a:t>
            </a:r>
            <a:endParaRPr lang="en-US" sz="1000"/>
          </a:p>
          <a:p>
            <a:pPr marL="0" indent="0">
              <a:buNone/>
              <a:defRPr/>
            </a:pPr>
            <a:r>
              <a:rPr lang="en-US" sz="1000" b="1">
                <a:solidFill>
                  <a:srgbClr val="38BDF8"/>
                </a:solidFill>
                <a:latin typeface="Consolas"/>
                <a:ea typeface="Consolas"/>
                <a:cs typeface="Consolas"/>
              </a:rPr>
              <a:t>sqlplus / as sysdba</a:t>
            </a:r>
            <a:endParaRPr lang="en-US" sz="1000"/>
          </a:p>
          <a:p>
            <a:pPr marL="0" indent="0">
              <a:buNone/>
              <a:defRPr/>
            </a:pPr>
            <a:r>
              <a:rPr lang="en-US" sz="1000" b="1">
                <a:solidFill>
                  <a:srgbClr val="38BDF8"/>
                </a:solidFill>
                <a:latin typeface="Consolas"/>
                <a:ea typeface="Consolas"/>
                <a:cs typeface="Consolas"/>
              </a:rPr>
              <a:t>SQL&gt; STARTUP</a:t>
            </a:r>
            <a:endParaRPr lang="en-US" sz="1000"/>
          </a:p>
          <a:p>
            <a:pPr marL="0" indent="0">
              <a:buNone/>
              <a:defRPr/>
            </a:pPr>
            <a:endParaRPr lang="en-US" sz="1000"/>
          </a:p>
          <a:p>
            <a:pPr marL="0" indent="0">
              <a:buNone/>
              <a:defRPr/>
            </a:pPr>
            <a:r>
              <a:rPr lang="en-US" sz="10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# Solo montar (sin abrir):</a:t>
            </a:r>
            <a:endParaRPr lang="en-US" sz="1000"/>
          </a:p>
          <a:p>
            <a:pPr marL="0" indent="0">
              <a:buNone/>
              <a:defRPr/>
            </a:pPr>
            <a:r>
              <a:rPr lang="en-US" sz="1000" b="1">
                <a:solidFill>
                  <a:srgbClr val="38BDF8"/>
                </a:solidFill>
                <a:latin typeface="Consolas"/>
                <a:ea typeface="Consolas"/>
                <a:cs typeface="Consolas"/>
              </a:rPr>
              <a:t>SQL&gt; STARTUP MOUNT</a:t>
            </a:r>
            <a:endParaRPr lang="en-US" sz="1000"/>
          </a:p>
          <a:p>
            <a:pPr marL="0" indent="0">
              <a:buNone/>
              <a:defRPr/>
            </a:pPr>
            <a:endParaRPr lang="en-US" sz="1000"/>
          </a:p>
          <a:p>
            <a:pPr marL="0" indent="0">
              <a:buNone/>
              <a:defRPr/>
            </a:pPr>
            <a:r>
              <a:rPr lang="en-US" sz="10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# Con systemd (Oracle Linux):</a:t>
            </a:r>
            <a:endParaRPr lang="en-US" sz="1000"/>
          </a:p>
          <a:p>
            <a:pPr marL="0" indent="0">
              <a:buNone/>
              <a:defRPr/>
            </a:pPr>
            <a:r>
              <a:rPr lang="en-US" sz="1000" b="1">
                <a:solidFill>
                  <a:srgbClr val="38BDF8"/>
                </a:solidFill>
                <a:latin typeface="Consolas"/>
                <a:ea typeface="Consolas"/>
                <a:cs typeface="Consolas"/>
              </a:rPr>
              <a:t>systemctl start oracle</a:t>
            </a:r>
            <a:endParaRPr lang="en-US" sz="1000"/>
          </a:p>
        </p:txBody>
      </p:sp>
      <p:sp>
        <p:nvSpPr>
          <p:cNvPr id="653972754" name="Shape 7"/>
          <p:cNvSpPr/>
          <p:nvPr/>
        </p:nvSpPr>
        <p:spPr bwMode="auto">
          <a:xfrm>
            <a:off x="3200400" y="1261872"/>
            <a:ext cx="2834640" cy="3611880"/>
          </a:xfrm>
          <a:prstGeom prst="rect">
            <a:avLst/>
          </a:prstGeom>
          <a:solidFill>
            <a:srgbClr val="0F2A47"/>
          </a:solidFill>
          <a:ln w="12700">
            <a:solidFill>
              <a:srgbClr val="3B82F6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60819664" name="Shape 8"/>
          <p:cNvSpPr/>
          <p:nvPr/>
        </p:nvSpPr>
        <p:spPr bwMode="auto">
          <a:xfrm>
            <a:off x="3200400" y="1261872"/>
            <a:ext cx="2834640" cy="40233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076907960" name="Text 9"/>
          <p:cNvSpPr/>
          <p:nvPr/>
        </p:nvSpPr>
        <p:spPr bwMode="auto">
          <a:xfrm>
            <a:off x="3310127" y="1280160"/>
            <a:ext cx="26151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MySQL / MariaDB</a:t>
            </a:r>
            <a:endParaRPr lang="en-US" sz="1200"/>
          </a:p>
        </p:txBody>
      </p:sp>
      <p:sp>
        <p:nvSpPr>
          <p:cNvPr id="829081938" name="Text 10"/>
          <p:cNvSpPr/>
          <p:nvPr/>
        </p:nvSpPr>
        <p:spPr bwMode="auto">
          <a:xfrm>
            <a:off x="3310127" y="1737360"/>
            <a:ext cx="2615184" cy="301751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# Usando systemd:</a:t>
            </a:r>
            <a:endParaRPr lang="en-US" sz="1000"/>
          </a:p>
          <a:p>
            <a:pPr marL="0" indent="0">
              <a:buNone/>
              <a:defRPr/>
            </a:pPr>
            <a:r>
              <a:rPr lang="en-US" sz="1000" b="1">
                <a:solidFill>
                  <a:srgbClr val="38BDF8"/>
                </a:solidFill>
                <a:latin typeface="Consolas"/>
                <a:ea typeface="Consolas"/>
                <a:cs typeface="Consolas"/>
              </a:rPr>
              <a:t>sudo systemctl start mysqld</a:t>
            </a:r>
            <a:endParaRPr lang="en-US" sz="1000"/>
          </a:p>
          <a:p>
            <a:pPr marL="0" indent="0">
              <a:buNone/>
              <a:defRPr/>
            </a:pPr>
            <a:r>
              <a:rPr lang="en-US" sz="1000" b="1">
                <a:solidFill>
                  <a:srgbClr val="38BDF8"/>
                </a:solidFill>
                <a:latin typeface="Consolas"/>
                <a:ea typeface="Consolas"/>
                <a:cs typeface="Consolas"/>
              </a:rPr>
              <a:t>sudo systemctl start mariadb</a:t>
            </a:r>
            <a:endParaRPr lang="en-US" sz="1000"/>
          </a:p>
          <a:p>
            <a:pPr marL="0" indent="0">
              <a:buNone/>
              <a:defRPr/>
            </a:pPr>
            <a:endParaRPr lang="en-US" sz="1000"/>
          </a:p>
          <a:p>
            <a:pPr marL="0" indent="0">
              <a:buNone/>
              <a:defRPr/>
            </a:pPr>
            <a:r>
              <a:rPr lang="en-US" sz="10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# Verificar estado:</a:t>
            </a:r>
            <a:endParaRPr lang="en-US" sz="1000"/>
          </a:p>
          <a:p>
            <a:pPr marL="0" indent="0">
              <a:buNone/>
              <a:defRPr/>
            </a:pPr>
            <a:r>
              <a:rPr lang="en-US" sz="1000" b="1">
                <a:solidFill>
                  <a:srgbClr val="38BDF8"/>
                </a:solidFill>
                <a:latin typeface="Consolas"/>
                <a:ea typeface="Consolas"/>
                <a:cs typeface="Consolas"/>
              </a:rPr>
              <a:t>sudo systemctl status mysqld</a:t>
            </a:r>
            <a:endParaRPr lang="en-US" sz="1000"/>
          </a:p>
          <a:p>
            <a:pPr marL="0" indent="0">
              <a:buNone/>
              <a:defRPr/>
            </a:pPr>
            <a:endParaRPr lang="en-US" sz="1000"/>
          </a:p>
          <a:p>
            <a:pPr marL="0" indent="0">
              <a:buNone/>
              <a:defRPr/>
            </a:pPr>
            <a:r>
              <a:rPr lang="en-US" sz="10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# Inicio manual (legacy):</a:t>
            </a:r>
            <a:endParaRPr lang="en-US" sz="1000"/>
          </a:p>
          <a:p>
            <a:pPr marL="0" indent="0">
              <a:buNone/>
              <a:defRPr/>
            </a:pPr>
            <a:r>
              <a:rPr lang="en-US" sz="1000" b="1">
                <a:solidFill>
                  <a:srgbClr val="38BDF8"/>
                </a:solidFill>
                <a:latin typeface="Consolas"/>
                <a:ea typeface="Consolas"/>
                <a:cs typeface="Consolas"/>
              </a:rPr>
              <a:t>mysqld_safe --user=mysql &amp;</a:t>
            </a:r>
            <a:endParaRPr lang="en-US" sz="1000"/>
          </a:p>
          <a:p>
            <a:pPr marL="0" indent="0">
              <a:buNone/>
              <a:defRPr/>
            </a:pPr>
            <a:endParaRPr lang="en-US" sz="1000"/>
          </a:p>
          <a:p>
            <a:pPr marL="0" indent="0">
              <a:buNone/>
              <a:defRPr/>
            </a:pPr>
            <a:r>
              <a:rPr lang="en-US" sz="10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# Windows:</a:t>
            </a:r>
            <a:endParaRPr lang="en-US" sz="1000"/>
          </a:p>
          <a:p>
            <a:pPr marL="0" indent="0">
              <a:buNone/>
              <a:defRPr/>
            </a:pPr>
            <a:r>
              <a:rPr lang="en-US" sz="1000" b="1">
                <a:solidFill>
                  <a:srgbClr val="38BDF8"/>
                </a:solidFill>
                <a:latin typeface="Consolas"/>
                <a:ea typeface="Consolas"/>
                <a:cs typeface="Consolas"/>
              </a:rPr>
              <a:t>net start MySQL80</a:t>
            </a:r>
            <a:endParaRPr lang="en-US" sz="1000"/>
          </a:p>
        </p:txBody>
      </p:sp>
      <p:sp>
        <p:nvSpPr>
          <p:cNvPr id="1853282905" name="Shape 11"/>
          <p:cNvSpPr/>
          <p:nvPr/>
        </p:nvSpPr>
        <p:spPr bwMode="auto">
          <a:xfrm>
            <a:off x="6144768" y="1261872"/>
            <a:ext cx="2834640" cy="3611880"/>
          </a:xfrm>
          <a:prstGeom prst="rect">
            <a:avLst/>
          </a:prstGeom>
          <a:solidFill>
            <a:srgbClr val="0F2A47"/>
          </a:solidFill>
          <a:ln w="12700">
            <a:solidFill>
              <a:srgbClr val="10B981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954993888" name="Shape 12"/>
          <p:cNvSpPr/>
          <p:nvPr/>
        </p:nvSpPr>
        <p:spPr bwMode="auto">
          <a:xfrm>
            <a:off x="6144768" y="1261872"/>
            <a:ext cx="2834640" cy="40233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80830314" name="Text 13"/>
          <p:cNvSpPr/>
          <p:nvPr/>
        </p:nvSpPr>
        <p:spPr bwMode="auto">
          <a:xfrm>
            <a:off x="6254496" y="1280160"/>
            <a:ext cx="26151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PostgreSQL</a:t>
            </a:r>
            <a:endParaRPr lang="en-US" sz="1200"/>
          </a:p>
        </p:txBody>
      </p:sp>
      <p:sp>
        <p:nvSpPr>
          <p:cNvPr id="1804639803" name="Text 14"/>
          <p:cNvSpPr/>
          <p:nvPr/>
        </p:nvSpPr>
        <p:spPr bwMode="auto">
          <a:xfrm>
            <a:off x="6254496" y="1737360"/>
            <a:ext cx="2615184" cy="301751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# Usando systemd:</a:t>
            </a:r>
            <a:endParaRPr lang="en-US" sz="1000"/>
          </a:p>
          <a:p>
            <a:pPr marL="0" indent="0">
              <a:buNone/>
              <a:defRPr/>
            </a:pPr>
            <a:r>
              <a:rPr lang="en-US" sz="1000" b="1">
                <a:solidFill>
                  <a:srgbClr val="38BDF8"/>
                </a:solidFill>
                <a:latin typeface="Consolas"/>
                <a:ea typeface="Consolas"/>
                <a:cs typeface="Consolas"/>
              </a:rPr>
              <a:t>sudo systemctl start postgresql</a:t>
            </a:r>
            <a:endParaRPr lang="en-US" sz="1000"/>
          </a:p>
          <a:p>
            <a:pPr marL="0" indent="0">
              <a:buNone/>
              <a:defRPr/>
            </a:pPr>
            <a:r>
              <a:rPr lang="en-US" sz="1000" b="1">
                <a:solidFill>
                  <a:srgbClr val="38BDF8"/>
                </a:solidFill>
                <a:latin typeface="Consolas"/>
                <a:ea typeface="Consolas"/>
                <a:cs typeface="Consolas"/>
              </a:rPr>
              <a:t>sudo systemctl start postgresql-15</a:t>
            </a:r>
            <a:endParaRPr lang="en-US" sz="1000"/>
          </a:p>
          <a:p>
            <a:pPr marL="0" indent="0">
              <a:buNone/>
              <a:defRPr/>
            </a:pPr>
            <a:endParaRPr lang="en-US" sz="1000"/>
          </a:p>
          <a:p>
            <a:pPr marL="0" indent="0">
              <a:buNone/>
              <a:defRPr/>
            </a:pPr>
            <a:r>
              <a:rPr lang="en-US" sz="10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# Comando directo pg_ctl:</a:t>
            </a:r>
            <a:endParaRPr lang="en-US" sz="1000"/>
          </a:p>
          <a:p>
            <a:pPr marL="0" indent="0">
              <a:buNone/>
              <a:defRPr/>
            </a:pPr>
            <a:r>
              <a:rPr lang="en-US" sz="1000" b="1">
                <a:solidFill>
                  <a:srgbClr val="38BDF8"/>
                </a:solidFill>
                <a:latin typeface="Consolas"/>
                <a:ea typeface="Consolas"/>
                <a:cs typeface="Consolas"/>
              </a:rPr>
              <a:t>pg_ctl start -D /var/lib/pgsql/data</a:t>
            </a:r>
            <a:endParaRPr lang="en-US" sz="1000"/>
          </a:p>
          <a:p>
            <a:pPr marL="0" indent="0">
              <a:buNone/>
              <a:defRPr/>
            </a:pPr>
            <a:endParaRPr lang="en-US" sz="1000"/>
          </a:p>
          <a:p>
            <a:pPr marL="0" indent="0">
              <a:buNone/>
              <a:defRPr/>
            </a:pPr>
            <a:r>
              <a:rPr lang="en-US" sz="10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# Verificar estado:</a:t>
            </a:r>
            <a:endParaRPr lang="en-US" sz="1000"/>
          </a:p>
          <a:p>
            <a:pPr marL="0" indent="0">
              <a:buNone/>
              <a:defRPr/>
            </a:pPr>
            <a:r>
              <a:rPr lang="en-US" sz="1000" b="1">
                <a:solidFill>
                  <a:srgbClr val="38BDF8"/>
                </a:solidFill>
                <a:latin typeface="Consolas"/>
                <a:ea typeface="Consolas"/>
                <a:cs typeface="Consolas"/>
              </a:rPr>
              <a:t>pg_ctl status -D $PGDATA</a:t>
            </a:r>
            <a:endParaRPr lang="en-US" sz="1000"/>
          </a:p>
          <a:p>
            <a:pPr marL="0" indent="0">
              <a:buNone/>
              <a:defRPr/>
            </a:pPr>
            <a:endParaRPr lang="en-US" sz="1000"/>
          </a:p>
          <a:p>
            <a:pPr marL="0" indent="0">
              <a:buNone/>
              <a:defRPr/>
            </a:pPr>
            <a:r>
              <a:rPr lang="en-US" sz="10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# Windows:</a:t>
            </a:r>
            <a:endParaRPr lang="en-US" sz="1000"/>
          </a:p>
          <a:p>
            <a:pPr marL="0" indent="0">
              <a:buNone/>
              <a:defRPr/>
            </a:pPr>
            <a:r>
              <a:rPr lang="en-US" sz="1000" b="1">
                <a:solidFill>
                  <a:srgbClr val="38BDF8"/>
                </a:solidFill>
                <a:latin typeface="Consolas"/>
                <a:ea typeface="Consolas"/>
                <a:cs typeface="Consolas"/>
              </a:rPr>
              <a:t>net start postgresql-x64-15</a:t>
            </a:r>
            <a:endParaRPr lang="en-US" sz="1000"/>
          </a:p>
        </p:txBody>
      </p:sp>
      <p:sp>
        <p:nvSpPr>
          <p:cNvPr id="485035616" name="Shape 15"/>
          <p:cNvSpPr/>
          <p:nvPr/>
        </p:nvSpPr>
        <p:spPr bwMode="auto">
          <a:xfrm>
            <a:off x="0" y="4892039"/>
            <a:ext cx="9144000" cy="25603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065997202" name="Text 16"/>
          <p:cNvSpPr/>
          <p:nvPr/>
        </p:nvSpPr>
        <p:spPr bwMode="auto">
          <a:xfrm>
            <a:off x="274320" y="4901184"/>
            <a:ext cx="8686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75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Fuente: Nicole Rodríguez Blog (2020) · StudoCu ITI · UNEZ ISC 2023</a:t>
            </a:r>
            <a:endParaRPr lang="en-US" sz="75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 name="Slide 1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6047041" name="Shape 0"/>
          <p:cNvSpPr/>
          <p:nvPr/>
        </p:nvSpPr>
        <p:spPr bwMode="auto">
          <a:xfrm>
            <a:off x="0" y="0"/>
            <a:ext cx="109728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48013792" name="Text 1"/>
          <p:cNvSpPr/>
          <p:nvPr/>
        </p:nvSpPr>
        <p:spPr bwMode="auto">
          <a:xfrm>
            <a:off x="292608" y="164592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F59E0B"/>
                </a:solidFill>
                <a:latin typeface="Calibri"/>
                <a:ea typeface="Calibri"/>
                <a:cs typeface="Calibri"/>
              </a:rPr>
              <a:t>2.8</a:t>
            </a:r>
            <a:endParaRPr lang="en-US" sz="1300"/>
          </a:p>
        </p:txBody>
      </p:sp>
      <p:sp>
        <p:nvSpPr>
          <p:cNvPr id="909646675" name="Text 2"/>
          <p:cNvSpPr/>
          <p:nvPr/>
        </p:nvSpPr>
        <p:spPr bwMode="auto">
          <a:xfrm>
            <a:off x="292608" y="502920"/>
            <a:ext cx="8595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Comandos de BAJA — Detener el SGBD</a:t>
            </a:r>
            <a:endParaRPr lang="en-US" sz="2200"/>
          </a:p>
        </p:txBody>
      </p:sp>
      <p:pic>
        <p:nvPicPr>
          <p:cNvPr id="1367167936" name="Image 0" descr="preencoded.png"/>
          <p:cNvPicPr>
            <a:picLocks noChangeAspect="1"/>
          </p:cNvPicPr>
          <p:nvPr/>
        </p:nvPicPr>
        <p:blipFill rotWithShape="1">
          <a:blip r:embed="rId3">
            <a:alphaModFix amt="85000"/>
          </a:blip>
          <a:stretch/>
        </p:blipFill>
        <p:spPr bwMode="auto">
          <a:xfrm>
            <a:off x="8046720" y="137160"/>
            <a:ext cx="822960" cy="822960"/>
          </a:xfrm>
          <a:prstGeom prst="rect">
            <a:avLst/>
          </a:prstGeom>
        </p:spPr>
      </p:pic>
      <p:sp>
        <p:nvSpPr>
          <p:cNvPr id="632881799" name="Shape 3"/>
          <p:cNvSpPr/>
          <p:nvPr/>
        </p:nvSpPr>
        <p:spPr bwMode="auto">
          <a:xfrm>
            <a:off x="256032" y="1261872"/>
            <a:ext cx="2834640" cy="3611880"/>
          </a:xfrm>
          <a:prstGeom prst="rect">
            <a:avLst/>
          </a:prstGeom>
          <a:solidFill>
            <a:srgbClr val="0F2A47"/>
          </a:solidFill>
          <a:ln w="12700">
            <a:solidFill>
              <a:srgbClr val="F97316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04571507" name="Shape 4"/>
          <p:cNvSpPr/>
          <p:nvPr/>
        </p:nvSpPr>
        <p:spPr bwMode="auto">
          <a:xfrm>
            <a:off x="256032" y="1261872"/>
            <a:ext cx="2834640" cy="40233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72698362" name="Text 5"/>
          <p:cNvSpPr/>
          <p:nvPr/>
        </p:nvSpPr>
        <p:spPr bwMode="auto">
          <a:xfrm>
            <a:off x="365760" y="1280160"/>
            <a:ext cx="26151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Oracle DB</a:t>
            </a:r>
            <a:endParaRPr lang="en-US" sz="1200"/>
          </a:p>
        </p:txBody>
      </p:sp>
      <p:sp>
        <p:nvSpPr>
          <p:cNvPr id="978420121" name="Text 6"/>
          <p:cNvSpPr/>
          <p:nvPr/>
        </p:nvSpPr>
        <p:spPr bwMode="auto">
          <a:xfrm>
            <a:off x="365760" y="1737360"/>
            <a:ext cx="2615184" cy="301751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# Apagado ordenado (SQL*Plus):</a:t>
            </a:r>
            <a:endParaRPr lang="en-US" sz="1000"/>
          </a:p>
          <a:p>
            <a:pPr marL="0" indent="0">
              <a:buNone/>
              <a:defRPr/>
            </a:pPr>
            <a:r>
              <a:rPr lang="en-US" sz="1000" b="1">
                <a:solidFill>
                  <a:srgbClr val="38BDF8"/>
                </a:solidFill>
                <a:latin typeface="Consolas"/>
                <a:ea typeface="Consolas"/>
                <a:cs typeface="Consolas"/>
              </a:rPr>
              <a:t>sqlplus / as sysdba</a:t>
            </a:r>
            <a:endParaRPr lang="en-US" sz="1000"/>
          </a:p>
          <a:p>
            <a:pPr marL="0" indent="0">
              <a:buNone/>
              <a:defRPr/>
            </a:pPr>
            <a:r>
              <a:rPr lang="en-US" sz="1000" b="1">
                <a:solidFill>
                  <a:srgbClr val="38BDF8"/>
                </a:solidFill>
                <a:latin typeface="Consolas"/>
                <a:ea typeface="Consolas"/>
                <a:cs typeface="Consolas"/>
              </a:rPr>
              <a:t>SQL&gt; SHUTDOWN IMMEDIATE</a:t>
            </a:r>
            <a:endParaRPr lang="en-US" sz="1000"/>
          </a:p>
          <a:p>
            <a:pPr marL="0" indent="0">
              <a:buNone/>
              <a:defRPr/>
            </a:pPr>
            <a:endParaRPr lang="en-US" sz="1000"/>
          </a:p>
          <a:p>
            <a:pPr marL="0" indent="0">
              <a:buNone/>
              <a:defRPr/>
            </a:pPr>
            <a:r>
              <a:rPr lang="en-US" sz="10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# Apagado transaccional:</a:t>
            </a:r>
            <a:endParaRPr lang="en-US" sz="1000"/>
          </a:p>
          <a:p>
            <a:pPr marL="0" indent="0">
              <a:buNone/>
              <a:defRPr/>
            </a:pPr>
            <a:r>
              <a:rPr lang="en-US" sz="1000" b="1">
                <a:solidFill>
                  <a:srgbClr val="38BDF8"/>
                </a:solidFill>
                <a:latin typeface="Consolas"/>
                <a:ea typeface="Consolas"/>
                <a:cs typeface="Consolas"/>
              </a:rPr>
              <a:t>SQL&gt; SHUTDOWN TRANSACTIONAL</a:t>
            </a:r>
            <a:endParaRPr lang="en-US" sz="1000"/>
          </a:p>
          <a:p>
            <a:pPr marL="0" indent="0">
              <a:buNone/>
              <a:defRPr/>
            </a:pPr>
            <a:endParaRPr lang="en-US" sz="1000"/>
          </a:p>
          <a:p>
            <a:pPr marL="0" indent="0">
              <a:buNone/>
              <a:defRPr/>
            </a:pPr>
            <a:r>
              <a:rPr lang="en-US" sz="10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# Sólo cerrar BD (listener activo):</a:t>
            </a:r>
            <a:endParaRPr lang="en-US" sz="1000"/>
          </a:p>
          <a:p>
            <a:pPr marL="0" indent="0">
              <a:buNone/>
              <a:defRPr/>
            </a:pPr>
            <a:r>
              <a:rPr lang="en-US" sz="1000" b="1">
                <a:solidFill>
                  <a:srgbClr val="38BDF8"/>
                </a:solidFill>
                <a:latin typeface="Consolas"/>
                <a:ea typeface="Consolas"/>
                <a:cs typeface="Consolas"/>
              </a:rPr>
              <a:t>SQL&gt; ALTER DATABASE CLOSE</a:t>
            </a:r>
            <a:endParaRPr lang="en-US" sz="1000"/>
          </a:p>
          <a:p>
            <a:pPr marL="0" indent="0">
              <a:buNone/>
              <a:defRPr/>
            </a:pPr>
            <a:endParaRPr lang="en-US" sz="1000"/>
          </a:p>
          <a:p>
            <a:pPr marL="0" indent="0">
              <a:buNone/>
              <a:defRPr/>
            </a:pPr>
            <a:r>
              <a:rPr lang="en-US" sz="10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# Con init.d / systemd:</a:t>
            </a:r>
            <a:endParaRPr lang="en-US" sz="1000"/>
          </a:p>
          <a:p>
            <a:pPr marL="0" indent="0">
              <a:buNone/>
              <a:defRPr/>
            </a:pPr>
            <a:r>
              <a:rPr lang="en-US" sz="1000" b="1">
                <a:solidFill>
                  <a:srgbClr val="38BDF8"/>
                </a:solidFill>
                <a:latin typeface="Consolas"/>
                <a:ea typeface="Consolas"/>
                <a:cs typeface="Consolas"/>
              </a:rPr>
              <a:t>systemctl stop oracle</a:t>
            </a:r>
            <a:endParaRPr lang="en-US" sz="1000"/>
          </a:p>
          <a:p>
            <a:pPr marL="0" indent="0">
              <a:buNone/>
              <a:defRPr/>
            </a:pPr>
            <a:r>
              <a:rPr lang="en-US" sz="1000" b="1">
                <a:solidFill>
                  <a:srgbClr val="38BDF8"/>
                </a:solidFill>
                <a:latin typeface="Consolas"/>
                <a:ea typeface="Consolas"/>
                <a:cs typeface="Consolas"/>
              </a:rPr>
              <a:t>dbshut $ORACLE_HOME</a:t>
            </a:r>
            <a:endParaRPr lang="en-US" sz="1000"/>
          </a:p>
        </p:txBody>
      </p:sp>
      <p:sp>
        <p:nvSpPr>
          <p:cNvPr id="1693731192" name="Shape 7"/>
          <p:cNvSpPr/>
          <p:nvPr/>
        </p:nvSpPr>
        <p:spPr bwMode="auto">
          <a:xfrm>
            <a:off x="3200400" y="1261872"/>
            <a:ext cx="2834640" cy="3611880"/>
          </a:xfrm>
          <a:prstGeom prst="rect">
            <a:avLst/>
          </a:prstGeom>
          <a:solidFill>
            <a:srgbClr val="0F2A47"/>
          </a:solidFill>
          <a:ln w="12700">
            <a:solidFill>
              <a:srgbClr val="3B82F6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02369425" name="Shape 8"/>
          <p:cNvSpPr/>
          <p:nvPr/>
        </p:nvSpPr>
        <p:spPr bwMode="auto">
          <a:xfrm>
            <a:off x="3200400" y="1261872"/>
            <a:ext cx="2834640" cy="40233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59990262" name="Text 9"/>
          <p:cNvSpPr/>
          <p:nvPr/>
        </p:nvSpPr>
        <p:spPr bwMode="auto">
          <a:xfrm>
            <a:off x="3310127" y="1280160"/>
            <a:ext cx="26151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MySQL / MariaDB</a:t>
            </a:r>
            <a:endParaRPr lang="en-US" sz="1200"/>
          </a:p>
        </p:txBody>
      </p:sp>
      <p:sp>
        <p:nvSpPr>
          <p:cNvPr id="121035957" name="Text 10"/>
          <p:cNvSpPr/>
          <p:nvPr/>
        </p:nvSpPr>
        <p:spPr bwMode="auto">
          <a:xfrm>
            <a:off x="3310127" y="1737360"/>
            <a:ext cx="2615184" cy="301751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# Usando systemd:</a:t>
            </a:r>
            <a:endParaRPr lang="en-US" sz="1000"/>
          </a:p>
          <a:p>
            <a:pPr marL="0" indent="0">
              <a:buNone/>
              <a:defRPr/>
            </a:pPr>
            <a:r>
              <a:rPr lang="en-US" sz="1000" b="1">
                <a:solidFill>
                  <a:srgbClr val="38BDF8"/>
                </a:solidFill>
                <a:latin typeface="Consolas"/>
                <a:ea typeface="Consolas"/>
                <a:cs typeface="Consolas"/>
              </a:rPr>
              <a:t>sudo systemctl stop mysqld</a:t>
            </a:r>
            <a:endParaRPr lang="en-US" sz="1000"/>
          </a:p>
          <a:p>
            <a:pPr marL="0" indent="0">
              <a:buNone/>
              <a:defRPr/>
            </a:pPr>
            <a:r>
              <a:rPr lang="en-US" sz="1000" b="1">
                <a:solidFill>
                  <a:srgbClr val="38BDF8"/>
                </a:solidFill>
                <a:latin typeface="Consolas"/>
                <a:ea typeface="Consolas"/>
                <a:cs typeface="Consolas"/>
              </a:rPr>
              <a:t>sudo systemctl stop mariadb</a:t>
            </a:r>
            <a:endParaRPr lang="en-US" sz="1000"/>
          </a:p>
          <a:p>
            <a:pPr marL="0" indent="0">
              <a:buNone/>
              <a:defRPr/>
            </a:pPr>
            <a:endParaRPr lang="en-US" sz="1000"/>
          </a:p>
          <a:p>
            <a:pPr marL="0" indent="0">
              <a:buNone/>
              <a:defRPr/>
            </a:pPr>
            <a:r>
              <a:rPr lang="en-US" sz="10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# Comando nativo:</a:t>
            </a:r>
            <a:endParaRPr lang="en-US" sz="1000"/>
          </a:p>
          <a:p>
            <a:pPr marL="0" indent="0">
              <a:buNone/>
              <a:defRPr/>
            </a:pPr>
            <a:r>
              <a:rPr lang="en-US" sz="1000" b="1">
                <a:solidFill>
                  <a:srgbClr val="38BDF8"/>
                </a:solidFill>
                <a:latin typeface="Consolas"/>
                <a:ea typeface="Consolas"/>
                <a:cs typeface="Consolas"/>
              </a:rPr>
              <a:t>mysqladmin -u root -p shutdown</a:t>
            </a:r>
            <a:endParaRPr lang="en-US" sz="1000"/>
          </a:p>
          <a:p>
            <a:pPr marL="0" indent="0">
              <a:buNone/>
              <a:defRPr/>
            </a:pPr>
            <a:endParaRPr lang="en-US" sz="1000"/>
          </a:p>
          <a:p>
            <a:pPr marL="0" indent="0">
              <a:buNone/>
              <a:defRPr/>
            </a:pPr>
            <a:r>
              <a:rPr lang="en-US" sz="10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# Verificar que se detuvo:</a:t>
            </a:r>
            <a:endParaRPr lang="en-US" sz="1000"/>
          </a:p>
          <a:p>
            <a:pPr marL="0" indent="0">
              <a:buNone/>
              <a:defRPr/>
            </a:pPr>
            <a:r>
              <a:rPr lang="en-US" sz="1000" b="1">
                <a:solidFill>
                  <a:srgbClr val="38BDF8"/>
                </a:solidFill>
                <a:latin typeface="Consolas"/>
                <a:ea typeface="Consolas"/>
                <a:cs typeface="Consolas"/>
              </a:rPr>
              <a:t>sudo systemctl status mysqld</a:t>
            </a:r>
            <a:endParaRPr lang="en-US" sz="1000"/>
          </a:p>
          <a:p>
            <a:pPr marL="0" indent="0">
              <a:buNone/>
              <a:defRPr/>
            </a:pPr>
            <a:endParaRPr lang="en-US" sz="1000"/>
          </a:p>
          <a:p>
            <a:pPr marL="0" indent="0">
              <a:buNone/>
              <a:defRPr/>
            </a:pPr>
            <a:r>
              <a:rPr lang="en-US" sz="10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# Windows:</a:t>
            </a:r>
            <a:endParaRPr lang="en-US" sz="1000"/>
          </a:p>
          <a:p>
            <a:pPr marL="0" indent="0">
              <a:buNone/>
              <a:defRPr/>
            </a:pPr>
            <a:r>
              <a:rPr lang="en-US" sz="1000" b="1">
                <a:solidFill>
                  <a:srgbClr val="38BDF8"/>
                </a:solidFill>
                <a:latin typeface="Consolas"/>
                <a:ea typeface="Consolas"/>
                <a:cs typeface="Consolas"/>
              </a:rPr>
              <a:t>net stop MySQL80</a:t>
            </a:r>
            <a:endParaRPr lang="en-US" sz="1000"/>
          </a:p>
        </p:txBody>
      </p:sp>
      <p:sp>
        <p:nvSpPr>
          <p:cNvPr id="1076719291" name="Shape 11"/>
          <p:cNvSpPr/>
          <p:nvPr/>
        </p:nvSpPr>
        <p:spPr bwMode="auto">
          <a:xfrm>
            <a:off x="6144768" y="1261872"/>
            <a:ext cx="2834640" cy="3611880"/>
          </a:xfrm>
          <a:prstGeom prst="rect">
            <a:avLst/>
          </a:prstGeom>
          <a:solidFill>
            <a:srgbClr val="0F2A47"/>
          </a:solidFill>
          <a:ln w="12700">
            <a:solidFill>
              <a:srgbClr val="10B981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00916762" name="Shape 12"/>
          <p:cNvSpPr/>
          <p:nvPr/>
        </p:nvSpPr>
        <p:spPr bwMode="auto">
          <a:xfrm>
            <a:off x="6144768" y="1261872"/>
            <a:ext cx="2834640" cy="40233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35830222" name="Text 13"/>
          <p:cNvSpPr/>
          <p:nvPr/>
        </p:nvSpPr>
        <p:spPr bwMode="auto">
          <a:xfrm>
            <a:off x="6254496" y="1280160"/>
            <a:ext cx="26151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PostgreSQL</a:t>
            </a:r>
            <a:endParaRPr lang="en-US" sz="1200"/>
          </a:p>
        </p:txBody>
      </p:sp>
      <p:sp>
        <p:nvSpPr>
          <p:cNvPr id="1904044285" name="Text 14"/>
          <p:cNvSpPr/>
          <p:nvPr/>
        </p:nvSpPr>
        <p:spPr bwMode="auto">
          <a:xfrm>
            <a:off x="6254496" y="1737360"/>
            <a:ext cx="2615184" cy="301751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# Usando systemd:</a:t>
            </a:r>
            <a:endParaRPr lang="en-US" sz="1000"/>
          </a:p>
          <a:p>
            <a:pPr marL="0" indent="0">
              <a:buNone/>
              <a:defRPr/>
            </a:pPr>
            <a:r>
              <a:rPr lang="en-US" sz="1000" b="1">
                <a:solidFill>
                  <a:srgbClr val="38BDF8"/>
                </a:solidFill>
                <a:latin typeface="Consolas"/>
                <a:ea typeface="Consolas"/>
                <a:cs typeface="Consolas"/>
              </a:rPr>
              <a:t>sudo systemctl stop postgresql</a:t>
            </a:r>
            <a:endParaRPr lang="en-US" sz="1000"/>
          </a:p>
          <a:p>
            <a:pPr marL="0" indent="0">
              <a:buNone/>
              <a:defRPr/>
            </a:pPr>
            <a:endParaRPr lang="en-US" sz="1000"/>
          </a:p>
          <a:p>
            <a:pPr marL="0" indent="0">
              <a:buNone/>
              <a:defRPr/>
            </a:pPr>
            <a:r>
              <a:rPr lang="en-US" sz="10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# pg_ctl (fast = rollback activas):</a:t>
            </a:r>
            <a:endParaRPr lang="en-US" sz="1000"/>
          </a:p>
          <a:p>
            <a:pPr marL="0" indent="0">
              <a:buNone/>
              <a:defRPr/>
            </a:pPr>
            <a:r>
              <a:rPr lang="en-US" sz="1000" b="1">
                <a:solidFill>
                  <a:srgbClr val="38BDF8"/>
                </a:solidFill>
                <a:latin typeface="Consolas"/>
                <a:ea typeface="Consolas"/>
                <a:cs typeface="Consolas"/>
              </a:rPr>
              <a:t>pg_ctl stop -D $PGDATA -m fast</a:t>
            </a:r>
            <a:endParaRPr lang="en-US" sz="1000"/>
          </a:p>
          <a:p>
            <a:pPr marL="0" indent="0">
              <a:buNone/>
              <a:defRPr/>
            </a:pPr>
            <a:endParaRPr lang="en-US" sz="1000"/>
          </a:p>
          <a:p>
            <a:pPr marL="0" indent="0">
              <a:buNone/>
              <a:defRPr/>
            </a:pPr>
            <a:r>
              <a:rPr lang="en-US" sz="10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# Smart (espera a sesiones):</a:t>
            </a:r>
            <a:endParaRPr lang="en-US" sz="1000"/>
          </a:p>
          <a:p>
            <a:pPr marL="0" indent="0">
              <a:buNone/>
              <a:defRPr/>
            </a:pPr>
            <a:r>
              <a:rPr lang="en-US" sz="1000" b="1">
                <a:solidFill>
                  <a:srgbClr val="38BDF8"/>
                </a:solidFill>
                <a:latin typeface="Consolas"/>
                <a:ea typeface="Consolas"/>
                <a:cs typeface="Consolas"/>
              </a:rPr>
              <a:t>pg_ctl stop -D $PGDATA -m smart</a:t>
            </a:r>
            <a:endParaRPr lang="en-US" sz="1000"/>
          </a:p>
          <a:p>
            <a:pPr marL="0" indent="0">
              <a:buNone/>
              <a:defRPr/>
            </a:pPr>
            <a:endParaRPr lang="en-US" sz="1000"/>
          </a:p>
          <a:p>
            <a:pPr marL="0" indent="0">
              <a:buNone/>
              <a:defRPr/>
            </a:pPr>
            <a:r>
              <a:rPr lang="en-US" sz="10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# Immediate (emergencia):</a:t>
            </a:r>
            <a:endParaRPr lang="en-US" sz="1000"/>
          </a:p>
          <a:p>
            <a:pPr marL="0" indent="0">
              <a:buNone/>
              <a:defRPr/>
            </a:pPr>
            <a:r>
              <a:rPr lang="en-US" sz="1000" b="1">
                <a:solidFill>
                  <a:srgbClr val="38BDF8"/>
                </a:solidFill>
                <a:latin typeface="Consolas"/>
                <a:ea typeface="Consolas"/>
                <a:cs typeface="Consolas"/>
              </a:rPr>
              <a:t>pg_ctl stop -D $PGDATA -m immediate</a:t>
            </a:r>
            <a:endParaRPr lang="en-US" sz="1000"/>
          </a:p>
        </p:txBody>
      </p:sp>
      <p:sp>
        <p:nvSpPr>
          <p:cNvPr id="128424162" name="Shape 15"/>
          <p:cNvSpPr/>
          <p:nvPr/>
        </p:nvSpPr>
        <p:spPr bwMode="auto">
          <a:xfrm>
            <a:off x="0" y="4892039"/>
            <a:ext cx="9144000" cy="25603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945676497" name="Text 16"/>
          <p:cNvSpPr/>
          <p:nvPr/>
        </p:nvSpPr>
        <p:spPr bwMode="auto">
          <a:xfrm>
            <a:off x="274320" y="4901184"/>
            <a:ext cx="8686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75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Fuente: Nicole Rodríguez Blog (2020) · StudoCu ITI · UNEZ ISC 2023</a:t>
            </a:r>
            <a:endParaRPr lang="en-US" sz="75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 name="Slide 18"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4140774" name="Shape 0"/>
          <p:cNvSpPr/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871771769" name="Shape 1"/>
          <p:cNvSpPr/>
          <p:nvPr/>
        </p:nvSpPr>
        <p:spPr bwMode="auto">
          <a:xfrm>
            <a:off x="0" y="114300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50153076" name="Shape 2"/>
          <p:cNvSpPr/>
          <p:nvPr/>
        </p:nvSpPr>
        <p:spPr bwMode="auto">
          <a:xfrm>
            <a:off x="274320" y="182880"/>
            <a:ext cx="658368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3149835" name="Text 3"/>
          <p:cNvSpPr/>
          <p:nvPr/>
        </p:nvSpPr>
        <p:spPr bwMode="auto">
          <a:xfrm>
            <a:off x="274320" y="18288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2.8</a:t>
            </a:r>
            <a:endParaRPr lang="en-US" sz="1500"/>
          </a:p>
        </p:txBody>
      </p:sp>
      <p:sp>
        <p:nvSpPr>
          <p:cNvPr id="1762699694" name="Text 4"/>
          <p:cNvSpPr/>
          <p:nvPr/>
        </p:nvSpPr>
        <p:spPr bwMode="auto">
          <a:xfrm>
            <a:off x="1078992" y="237744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Tabla Comparativa de Comandos por SGBD</a:t>
            </a:r>
            <a:endParaRPr lang="en-US" sz="2100"/>
          </a:p>
        </p:txBody>
      </p:sp>
      <p:graphicFrame>
        <p:nvGraphicFramePr>
          <p:cNvPr id="171081407" name="Table 0"/>
          <p:cNvGraphicFramePr>
            <a:graphicFrameLocks noGrp="1"/>
          </p:cNvGraphicFramePr>
          <p:nvPr/>
        </p:nvGraphicFramePr>
        <p:xfrm>
          <a:off x="256032" y="1261872"/>
          <a:ext cx="8631936" cy="356616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311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5770">
                <a:tc>
                  <a:txBody>
                    <a:bodyPr/>
                    <a:lstStyle/>
                    <a:p>
                      <a:pPr marL="0" indent="0">
                        <a:buNone/>
                        <a:defRPr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Acción</a:t>
                      </a:r>
                      <a:endParaRPr lang="en-US" sz="1000">
                        <a:latin typeface="Consolas"/>
                        <a:ea typeface="Consolas"/>
                        <a:cs typeface="Consolas"/>
                      </a:endParaRPr>
                    </a:p>
                  </a:txBody>
                  <a:tcPr>
                    <a:lnL w="6350" algn="ctr">
                      <a:solidFill>
                        <a:srgbClr val="CBD5E1"/>
                      </a:solidFill>
                    </a:lnL>
                    <a:lnR w="6350" algn="ctr">
                      <a:solidFill>
                        <a:srgbClr val="CBD5E1"/>
                      </a:solidFill>
                    </a:lnR>
                    <a:lnT w="6350" algn="ctr">
                      <a:solidFill>
                        <a:srgbClr val="CBD5E1"/>
                      </a:solidFill>
                    </a:lnT>
                    <a:lnB w="6350" algn="ctr">
                      <a:solidFill>
                        <a:srgbClr val="CBD5E1"/>
                      </a:solidFill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  <a:defRPr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Oracle DB</a:t>
                      </a:r>
                      <a:endParaRPr lang="en-US" sz="1000">
                        <a:latin typeface="Consolas"/>
                        <a:ea typeface="Consolas"/>
                        <a:cs typeface="Consolas"/>
                      </a:endParaRPr>
                    </a:p>
                  </a:txBody>
                  <a:tcPr>
                    <a:lnL w="6350" algn="ctr">
                      <a:solidFill>
                        <a:srgbClr val="CBD5E1"/>
                      </a:solidFill>
                    </a:lnL>
                    <a:lnR w="6350" algn="ctr">
                      <a:solidFill>
                        <a:srgbClr val="CBD5E1"/>
                      </a:solidFill>
                    </a:lnR>
                    <a:lnT w="6350" algn="ctr">
                      <a:solidFill>
                        <a:srgbClr val="CBD5E1"/>
                      </a:solidFill>
                    </a:lnT>
                    <a:lnB w="6350" algn="ctr">
                      <a:solidFill>
                        <a:srgbClr val="CBD5E1"/>
                      </a:solidFill>
                    </a:lnB>
                    <a:solidFill>
                      <a:srgbClr val="F973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  <a:defRPr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MySQL / MariaDB</a:t>
                      </a:r>
                      <a:endParaRPr lang="en-US" sz="1000">
                        <a:latin typeface="Consolas"/>
                        <a:ea typeface="Consolas"/>
                        <a:cs typeface="Consolas"/>
                      </a:endParaRPr>
                    </a:p>
                  </a:txBody>
                  <a:tcPr>
                    <a:lnL w="6350" algn="ctr">
                      <a:solidFill>
                        <a:srgbClr val="CBD5E1"/>
                      </a:solidFill>
                    </a:lnL>
                    <a:lnR w="6350" algn="ctr">
                      <a:solidFill>
                        <a:srgbClr val="CBD5E1"/>
                      </a:solidFill>
                    </a:lnR>
                    <a:lnT w="6350" algn="ctr">
                      <a:solidFill>
                        <a:srgbClr val="CBD5E1"/>
                      </a:solidFill>
                    </a:lnT>
                    <a:lnB w="6350" algn="ctr">
                      <a:solidFill>
                        <a:srgbClr val="CBD5E1"/>
                      </a:solidFill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  <a:defRPr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PostgreSQL</a:t>
                      </a:r>
                      <a:endParaRPr lang="en-US" sz="1000">
                        <a:latin typeface="Consolas"/>
                        <a:ea typeface="Consolas"/>
                        <a:cs typeface="Consolas"/>
                      </a:endParaRPr>
                    </a:p>
                  </a:txBody>
                  <a:tcPr>
                    <a:lnL w="6350" algn="ctr">
                      <a:solidFill>
                        <a:srgbClr val="CBD5E1"/>
                      </a:solidFill>
                    </a:lnL>
                    <a:lnR w="6350" algn="ctr">
                      <a:solidFill>
                        <a:srgbClr val="CBD5E1"/>
                      </a:solidFill>
                    </a:lnR>
                    <a:lnT w="6350" algn="ctr">
                      <a:solidFill>
                        <a:srgbClr val="CBD5E1"/>
                      </a:solidFill>
                    </a:lnT>
                    <a:lnB w="6350" algn="ctr">
                      <a:solidFill>
                        <a:srgbClr val="CBD5E1"/>
                      </a:solidFill>
                    </a:lnB>
                    <a:solidFill>
                      <a:srgbClr val="10B9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5770">
                <a:tc>
                  <a:txBody>
                    <a:bodyPr/>
                    <a:lstStyle/>
                    <a:p>
                      <a:pPr marL="0" indent="0">
                        <a:buNone/>
                        <a:defRPr/>
                      </a:pPr>
                      <a:r>
                        <a:rPr lang="en-US" sz="1000">
                          <a:solidFill>
                            <a:srgbClr val="0F2A47"/>
                          </a:solidFill>
                          <a:latin typeface="Consolas"/>
                          <a:ea typeface="Consolas"/>
                          <a:cs typeface="Consolas"/>
                        </a:rPr>
                        <a:t>Iniciar servicio</a:t>
                      </a:r>
                      <a:endParaRPr lang="en-US" sz="1000">
                        <a:latin typeface="Consolas"/>
                        <a:ea typeface="Consolas"/>
                        <a:cs typeface="Consolas"/>
                      </a:endParaRPr>
                    </a:p>
                  </a:txBody>
                  <a:tcPr>
                    <a:lnL w="6350" algn="ctr">
                      <a:solidFill>
                        <a:srgbClr val="CBD5E1"/>
                      </a:solidFill>
                    </a:lnL>
                    <a:lnR w="6350" algn="ctr">
                      <a:solidFill>
                        <a:srgbClr val="CBD5E1"/>
                      </a:solidFill>
                    </a:lnR>
                    <a:lnT w="6350" algn="ctr">
                      <a:solidFill>
                        <a:srgbClr val="CBD5E1"/>
                      </a:solidFill>
                    </a:lnT>
                    <a:lnB w="6350" algn="ctr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  <a:defRPr/>
                      </a:pPr>
                      <a:r>
                        <a:rPr lang="en-US" sz="1000">
                          <a:solidFill>
                            <a:srgbClr val="0F2A47"/>
                          </a:solidFill>
                          <a:latin typeface="Consolas"/>
                          <a:ea typeface="Consolas"/>
                          <a:cs typeface="Consolas"/>
                        </a:rPr>
                        <a:t>systemctl start oracle</a:t>
                      </a:r>
                      <a:endParaRPr lang="en-US" sz="1000">
                        <a:latin typeface="Consolas"/>
                        <a:ea typeface="Consolas"/>
                        <a:cs typeface="Consolas"/>
                      </a:endParaRPr>
                    </a:p>
                    <a:p>
                      <a:pPr marL="0" indent="0">
                        <a:buNone/>
                        <a:defRPr/>
                      </a:pPr>
                      <a:r>
                        <a:rPr lang="en-US" sz="1000">
                          <a:solidFill>
                            <a:srgbClr val="0F2A47"/>
                          </a:solidFill>
                          <a:latin typeface="Consolas"/>
                          <a:ea typeface="Consolas"/>
                          <a:cs typeface="Consolas"/>
                        </a:rPr>
                        <a:t>lsnrctl start</a:t>
                      </a:r>
                      <a:endParaRPr lang="en-US" sz="1000">
                        <a:latin typeface="Consolas"/>
                        <a:ea typeface="Consolas"/>
                        <a:cs typeface="Consolas"/>
                      </a:endParaRPr>
                    </a:p>
                  </a:txBody>
                  <a:tcPr>
                    <a:lnL w="6350" algn="ctr">
                      <a:solidFill>
                        <a:srgbClr val="CBD5E1"/>
                      </a:solidFill>
                    </a:lnL>
                    <a:lnR w="6350" algn="ctr">
                      <a:solidFill>
                        <a:srgbClr val="CBD5E1"/>
                      </a:solidFill>
                    </a:lnR>
                    <a:lnT w="6350" algn="ctr">
                      <a:solidFill>
                        <a:srgbClr val="CBD5E1"/>
                      </a:solidFill>
                    </a:lnT>
                    <a:lnB w="6350" algn="ctr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  <a:defRPr/>
                      </a:pPr>
                      <a:r>
                        <a:rPr lang="en-US" sz="1000">
                          <a:solidFill>
                            <a:srgbClr val="0F2A47"/>
                          </a:solidFill>
                          <a:latin typeface="Consolas"/>
                          <a:ea typeface="Consolas"/>
                          <a:cs typeface="Consolas"/>
                        </a:rPr>
                        <a:t>systemctl start mysqld</a:t>
                      </a:r>
                      <a:endParaRPr lang="en-US" sz="1000">
                        <a:latin typeface="Consolas"/>
                        <a:ea typeface="Consolas"/>
                        <a:cs typeface="Consolas"/>
                      </a:endParaRPr>
                    </a:p>
                  </a:txBody>
                  <a:tcPr>
                    <a:lnL w="6350" algn="ctr">
                      <a:solidFill>
                        <a:srgbClr val="CBD5E1"/>
                      </a:solidFill>
                    </a:lnL>
                    <a:lnR w="6350" algn="ctr">
                      <a:solidFill>
                        <a:srgbClr val="CBD5E1"/>
                      </a:solidFill>
                    </a:lnR>
                    <a:lnT w="6350" algn="ctr">
                      <a:solidFill>
                        <a:srgbClr val="CBD5E1"/>
                      </a:solidFill>
                    </a:lnT>
                    <a:lnB w="6350" algn="ctr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  <a:defRPr/>
                      </a:pPr>
                      <a:r>
                        <a:rPr lang="en-US" sz="1000">
                          <a:solidFill>
                            <a:srgbClr val="0F2A47"/>
                          </a:solidFill>
                          <a:latin typeface="Consolas"/>
                          <a:ea typeface="Consolas"/>
                          <a:cs typeface="Consolas"/>
                        </a:rPr>
                        <a:t>systemctl start postgresql</a:t>
                      </a:r>
                      <a:endParaRPr lang="en-US" sz="1000">
                        <a:latin typeface="Consolas"/>
                        <a:ea typeface="Consolas"/>
                        <a:cs typeface="Consolas"/>
                      </a:endParaRPr>
                    </a:p>
                  </a:txBody>
                  <a:tcPr>
                    <a:lnL w="6350" algn="ctr">
                      <a:solidFill>
                        <a:srgbClr val="CBD5E1"/>
                      </a:solidFill>
                    </a:lnL>
                    <a:lnR w="6350" algn="ctr">
                      <a:solidFill>
                        <a:srgbClr val="CBD5E1"/>
                      </a:solidFill>
                    </a:lnR>
                    <a:lnT w="6350" algn="ctr">
                      <a:solidFill>
                        <a:srgbClr val="CBD5E1"/>
                      </a:solidFill>
                    </a:lnT>
                    <a:lnB w="6350" algn="ctr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5770">
                <a:tc>
                  <a:txBody>
                    <a:bodyPr/>
                    <a:lstStyle/>
                    <a:p>
                      <a:pPr marL="0" indent="0">
                        <a:buNone/>
                        <a:defRPr/>
                      </a:pPr>
                      <a:r>
                        <a:rPr lang="en-US" sz="1000">
                          <a:solidFill>
                            <a:srgbClr val="0F2A47"/>
                          </a:solidFill>
                          <a:latin typeface="Consolas"/>
                          <a:ea typeface="Consolas"/>
                          <a:cs typeface="Consolas"/>
                        </a:rPr>
                        <a:t>Arrancar instancia</a:t>
                      </a:r>
                      <a:endParaRPr lang="en-US" sz="1000">
                        <a:latin typeface="Consolas"/>
                        <a:ea typeface="Consolas"/>
                        <a:cs typeface="Consolas"/>
                      </a:endParaRPr>
                    </a:p>
                  </a:txBody>
                  <a:tcPr>
                    <a:lnL w="6350" algn="ctr">
                      <a:solidFill>
                        <a:srgbClr val="CBD5E1"/>
                      </a:solidFill>
                    </a:lnL>
                    <a:lnR w="6350" algn="ctr">
                      <a:solidFill>
                        <a:srgbClr val="CBD5E1"/>
                      </a:solidFill>
                    </a:lnR>
                    <a:lnT w="6350" algn="ctr">
                      <a:solidFill>
                        <a:srgbClr val="CBD5E1"/>
                      </a:solidFill>
                    </a:lnT>
                    <a:lnB w="6350" algn="ctr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  <a:defRPr/>
                      </a:pPr>
                      <a:r>
                        <a:rPr lang="en-US" sz="1000">
                          <a:solidFill>
                            <a:srgbClr val="0F2A47"/>
                          </a:solidFill>
                          <a:latin typeface="Consolas"/>
                          <a:ea typeface="Consolas"/>
                          <a:cs typeface="Consolas"/>
                        </a:rPr>
                        <a:t>sqlplus /as sysdba</a:t>
                      </a:r>
                      <a:endParaRPr lang="en-US" sz="1000">
                        <a:latin typeface="Consolas"/>
                        <a:ea typeface="Consolas"/>
                        <a:cs typeface="Consolas"/>
                      </a:endParaRPr>
                    </a:p>
                    <a:p>
                      <a:pPr marL="0" indent="0">
                        <a:buNone/>
                        <a:defRPr/>
                      </a:pPr>
                      <a:r>
                        <a:rPr lang="en-US" sz="1000">
                          <a:solidFill>
                            <a:srgbClr val="0F2A47"/>
                          </a:solidFill>
                          <a:latin typeface="Consolas"/>
                          <a:ea typeface="Consolas"/>
                          <a:cs typeface="Consolas"/>
                        </a:rPr>
                        <a:t>STARTUP</a:t>
                      </a:r>
                      <a:endParaRPr lang="en-US" sz="1000">
                        <a:latin typeface="Consolas"/>
                        <a:ea typeface="Consolas"/>
                        <a:cs typeface="Consolas"/>
                      </a:endParaRPr>
                    </a:p>
                  </a:txBody>
                  <a:tcPr>
                    <a:lnL w="6350" algn="ctr">
                      <a:solidFill>
                        <a:srgbClr val="CBD5E1"/>
                      </a:solidFill>
                    </a:lnL>
                    <a:lnR w="6350" algn="ctr">
                      <a:solidFill>
                        <a:srgbClr val="CBD5E1"/>
                      </a:solidFill>
                    </a:lnR>
                    <a:lnT w="6350" algn="ctr">
                      <a:solidFill>
                        <a:srgbClr val="CBD5E1"/>
                      </a:solidFill>
                    </a:lnT>
                    <a:lnB w="6350" algn="ctr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  <a:defRPr/>
                      </a:pPr>
                      <a:r>
                        <a:rPr lang="en-US" sz="1000">
                          <a:solidFill>
                            <a:srgbClr val="0F2A47"/>
                          </a:solidFill>
                          <a:latin typeface="Consolas"/>
                          <a:ea typeface="Consolas"/>
                          <a:cs typeface="Consolas"/>
                        </a:rPr>
                        <a:t>mysqld_safe --user=mysql &amp;</a:t>
                      </a:r>
                      <a:endParaRPr lang="en-US" sz="1000">
                        <a:latin typeface="Consolas"/>
                        <a:ea typeface="Consolas"/>
                        <a:cs typeface="Consolas"/>
                      </a:endParaRPr>
                    </a:p>
                  </a:txBody>
                  <a:tcPr>
                    <a:lnL w="6350" algn="ctr">
                      <a:solidFill>
                        <a:srgbClr val="CBD5E1"/>
                      </a:solidFill>
                    </a:lnL>
                    <a:lnR w="6350" algn="ctr">
                      <a:solidFill>
                        <a:srgbClr val="CBD5E1"/>
                      </a:solidFill>
                    </a:lnR>
                    <a:lnT w="6350" algn="ctr">
                      <a:solidFill>
                        <a:srgbClr val="CBD5E1"/>
                      </a:solidFill>
                    </a:lnT>
                    <a:lnB w="6350" algn="ctr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  <a:defRPr/>
                      </a:pPr>
                      <a:r>
                        <a:rPr lang="en-US" sz="1000">
                          <a:solidFill>
                            <a:srgbClr val="0F2A47"/>
                          </a:solidFill>
                          <a:latin typeface="Consolas"/>
                          <a:ea typeface="Consolas"/>
                          <a:cs typeface="Consolas"/>
                        </a:rPr>
                        <a:t>pg_ctl start -D $PGDATA</a:t>
                      </a:r>
                      <a:endParaRPr lang="en-US" sz="1000">
                        <a:latin typeface="Consolas"/>
                        <a:ea typeface="Consolas"/>
                        <a:cs typeface="Consolas"/>
                      </a:endParaRPr>
                    </a:p>
                  </a:txBody>
                  <a:tcPr>
                    <a:lnL w="6350" algn="ctr">
                      <a:solidFill>
                        <a:srgbClr val="CBD5E1"/>
                      </a:solidFill>
                    </a:lnL>
                    <a:lnR w="6350" algn="ctr">
                      <a:solidFill>
                        <a:srgbClr val="CBD5E1"/>
                      </a:solidFill>
                    </a:lnR>
                    <a:lnT w="6350" algn="ctr">
                      <a:solidFill>
                        <a:srgbClr val="CBD5E1"/>
                      </a:solidFill>
                    </a:lnT>
                    <a:lnB w="6350" algn="ctr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5770">
                <a:tc>
                  <a:txBody>
                    <a:bodyPr/>
                    <a:lstStyle/>
                    <a:p>
                      <a:pPr marL="0" indent="0">
                        <a:buNone/>
                        <a:defRPr/>
                      </a:pPr>
                      <a:r>
                        <a:rPr lang="en-US" sz="1000">
                          <a:solidFill>
                            <a:srgbClr val="0F2A47"/>
                          </a:solidFill>
                          <a:latin typeface="Consolas"/>
                          <a:ea typeface="Consolas"/>
                          <a:cs typeface="Consolas"/>
                        </a:rPr>
                        <a:t>Detener servicio</a:t>
                      </a:r>
                      <a:endParaRPr lang="en-US" sz="1000">
                        <a:latin typeface="Consolas"/>
                        <a:ea typeface="Consolas"/>
                        <a:cs typeface="Consolas"/>
                      </a:endParaRPr>
                    </a:p>
                  </a:txBody>
                  <a:tcPr>
                    <a:lnL w="6350" algn="ctr">
                      <a:solidFill>
                        <a:srgbClr val="CBD5E1"/>
                      </a:solidFill>
                    </a:lnL>
                    <a:lnR w="6350" algn="ctr">
                      <a:solidFill>
                        <a:srgbClr val="CBD5E1"/>
                      </a:solidFill>
                    </a:lnR>
                    <a:lnT w="6350" algn="ctr">
                      <a:solidFill>
                        <a:srgbClr val="CBD5E1"/>
                      </a:solidFill>
                    </a:lnT>
                    <a:lnB w="6350" algn="ctr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  <a:defRPr/>
                      </a:pPr>
                      <a:r>
                        <a:rPr lang="en-US" sz="1000">
                          <a:solidFill>
                            <a:srgbClr val="0F2A47"/>
                          </a:solidFill>
                          <a:latin typeface="Consolas"/>
                          <a:ea typeface="Consolas"/>
                          <a:cs typeface="Consolas"/>
                        </a:rPr>
                        <a:t>systemctl stop oracle</a:t>
                      </a:r>
                      <a:endParaRPr lang="en-US" sz="1000">
                        <a:latin typeface="Consolas"/>
                        <a:ea typeface="Consolas"/>
                        <a:cs typeface="Consolas"/>
                      </a:endParaRPr>
                    </a:p>
                    <a:p>
                      <a:pPr marL="0" indent="0">
                        <a:buNone/>
                        <a:defRPr/>
                      </a:pPr>
                      <a:r>
                        <a:rPr lang="en-US" sz="1000">
                          <a:solidFill>
                            <a:srgbClr val="0F2A47"/>
                          </a:solidFill>
                          <a:latin typeface="Consolas"/>
                          <a:ea typeface="Consolas"/>
                          <a:cs typeface="Consolas"/>
                        </a:rPr>
                        <a:t>dbshut $OH</a:t>
                      </a:r>
                      <a:endParaRPr lang="en-US" sz="1000">
                        <a:latin typeface="Consolas"/>
                        <a:ea typeface="Consolas"/>
                        <a:cs typeface="Consolas"/>
                      </a:endParaRPr>
                    </a:p>
                  </a:txBody>
                  <a:tcPr>
                    <a:lnL w="6350" algn="ctr">
                      <a:solidFill>
                        <a:srgbClr val="CBD5E1"/>
                      </a:solidFill>
                    </a:lnL>
                    <a:lnR w="6350" algn="ctr">
                      <a:solidFill>
                        <a:srgbClr val="CBD5E1"/>
                      </a:solidFill>
                    </a:lnR>
                    <a:lnT w="6350" algn="ctr">
                      <a:solidFill>
                        <a:srgbClr val="CBD5E1"/>
                      </a:solidFill>
                    </a:lnT>
                    <a:lnB w="6350" algn="ctr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  <a:defRPr/>
                      </a:pPr>
                      <a:r>
                        <a:rPr lang="en-US" sz="1000">
                          <a:solidFill>
                            <a:srgbClr val="0F2A47"/>
                          </a:solidFill>
                          <a:latin typeface="Consolas"/>
                          <a:ea typeface="Consolas"/>
                          <a:cs typeface="Consolas"/>
                        </a:rPr>
                        <a:t>systemctl stop mysqld</a:t>
                      </a:r>
                      <a:endParaRPr lang="en-US" sz="1000">
                        <a:latin typeface="Consolas"/>
                        <a:ea typeface="Consolas"/>
                        <a:cs typeface="Consolas"/>
                      </a:endParaRPr>
                    </a:p>
                  </a:txBody>
                  <a:tcPr>
                    <a:lnL w="6350" algn="ctr">
                      <a:solidFill>
                        <a:srgbClr val="CBD5E1"/>
                      </a:solidFill>
                    </a:lnL>
                    <a:lnR w="6350" algn="ctr">
                      <a:solidFill>
                        <a:srgbClr val="CBD5E1"/>
                      </a:solidFill>
                    </a:lnR>
                    <a:lnT w="6350" algn="ctr">
                      <a:solidFill>
                        <a:srgbClr val="CBD5E1"/>
                      </a:solidFill>
                    </a:lnT>
                    <a:lnB w="6350" algn="ctr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  <a:defRPr/>
                      </a:pPr>
                      <a:r>
                        <a:rPr lang="en-US" sz="1000">
                          <a:solidFill>
                            <a:srgbClr val="0F2A47"/>
                          </a:solidFill>
                          <a:latin typeface="Consolas"/>
                          <a:ea typeface="Consolas"/>
                          <a:cs typeface="Consolas"/>
                        </a:rPr>
                        <a:t>systemctl stop postgresql</a:t>
                      </a:r>
                      <a:endParaRPr lang="en-US" sz="1000">
                        <a:latin typeface="Consolas"/>
                        <a:ea typeface="Consolas"/>
                        <a:cs typeface="Consolas"/>
                      </a:endParaRPr>
                    </a:p>
                  </a:txBody>
                  <a:tcPr>
                    <a:lnL w="6350" algn="ctr">
                      <a:solidFill>
                        <a:srgbClr val="CBD5E1"/>
                      </a:solidFill>
                    </a:lnL>
                    <a:lnR w="6350" algn="ctr">
                      <a:solidFill>
                        <a:srgbClr val="CBD5E1"/>
                      </a:solidFill>
                    </a:lnR>
                    <a:lnT w="6350" algn="ctr">
                      <a:solidFill>
                        <a:srgbClr val="CBD5E1"/>
                      </a:solidFill>
                    </a:lnT>
                    <a:lnB w="6350" algn="ctr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5770">
                <a:tc>
                  <a:txBody>
                    <a:bodyPr/>
                    <a:lstStyle/>
                    <a:p>
                      <a:pPr marL="0" indent="0">
                        <a:buNone/>
                        <a:defRPr/>
                      </a:pPr>
                      <a:r>
                        <a:rPr lang="en-US" sz="1000">
                          <a:solidFill>
                            <a:srgbClr val="0F2A47"/>
                          </a:solidFill>
                          <a:latin typeface="Consolas"/>
                          <a:ea typeface="Consolas"/>
                          <a:cs typeface="Consolas"/>
                        </a:rPr>
                        <a:t>Apagar instancia</a:t>
                      </a:r>
                      <a:endParaRPr lang="en-US" sz="1000">
                        <a:latin typeface="Consolas"/>
                        <a:ea typeface="Consolas"/>
                        <a:cs typeface="Consolas"/>
                      </a:endParaRPr>
                    </a:p>
                  </a:txBody>
                  <a:tcPr>
                    <a:lnL w="6350" algn="ctr">
                      <a:solidFill>
                        <a:srgbClr val="CBD5E1"/>
                      </a:solidFill>
                    </a:lnL>
                    <a:lnR w="6350" algn="ctr">
                      <a:solidFill>
                        <a:srgbClr val="CBD5E1"/>
                      </a:solidFill>
                    </a:lnR>
                    <a:lnT w="6350" algn="ctr">
                      <a:solidFill>
                        <a:srgbClr val="CBD5E1"/>
                      </a:solidFill>
                    </a:lnT>
                    <a:lnB w="6350" algn="ctr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  <a:defRPr/>
                      </a:pPr>
                      <a:r>
                        <a:rPr lang="en-US" sz="1000">
                          <a:solidFill>
                            <a:srgbClr val="0F2A47"/>
                          </a:solidFill>
                          <a:latin typeface="Consolas"/>
                          <a:ea typeface="Consolas"/>
                          <a:cs typeface="Consolas"/>
                        </a:rPr>
                        <a:t>SHUTDOWN IMMEDIATE</a:t>
                      </a:r>
                      <a:endParaRPr lang="en-US" sz="1000">
                        <a:latin typeface="Consolas"/>
                        <a:ea typeface="Consolas"/>
                        <a:cs typeface="Consolas"/>
                      </a:endParaRPr>
                    </a:p>
                  </a:txBody>
                  <a:tcPr>
                    <a:lnL w="6350" algn="ctr">
                      <a:solidFill>
                        <a:srgbClr val="CBD5E1"/>
                      </a:solidFill>
                    </a:lnL>
                    <a:lnR w="6350" algn="ctr">
                      <a:solidFill>
                        <a:srgbClr val="CBD5E1"/>
                      </a:solidFill>
                    </a:lnR>
                    <a:lnT w="6350" algn="ctr">
                      <a:solidFill>
                        <a:srgbClr val="CBD5E1"/>
                      </a:solidFill>
                    </a:lnT>
                    <a:lnB w="6350" algn="ctr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  <a:defRPr/>
                      </a:pPr>
                      <a:r>
                        <a:rPr lang="en-US" sz="1000">
                          <a:solidFill>
                            <a:srgbClr val="0F2A47"/>
                          </a:solidFill>
                          <a:latin typeface="Consolas"/>
                          <a:ea typeface="Consolas"/>
                          <a:cs typeface="Consolas"/>
                        </a:rPr>
                        <a:t>mysqladmin -u root -p shutdown</a:t>
                      </a:r>
                      <a:endParaRPr lang="en-US" sz="1000">
                        <a:latin typeface="Consolas"/>
                        <a:ea typeface="Consolas"/>
                        <a:cs typeface="Consolas"/>
                      </a:endParaRPr>
                    </a:p>
                  </a:txBody>
                  <a:tcPr>
                    <a:lnL w="6350" algn="ctr">
                      <a:solidFill>
                        <a:srgbClr val="CBD5E1"/>
                      </a:solidFill>
                    </a:lnL>
                    <a:lnR w="6350" algn="ctr">
                      <a:solidFill>
                        <a:srgbClr val="CBD5E1"/>
                      </a:solidFill>
                    </a:lnR>
                    <a:lnT w="6350" algn="ctr">
                      <a:solidFill>
                        <a:srgbClr val="CBD5E1"/>
                      </a:solidFill>
                    </a:lnT>
                    <a:lnB w="6350" algn="ctr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  <a:defRPr/>
                      </a:pPr>
                      <a:r>
                        <a:rPr lang="en-US" sz="1000">
                          <a:solidFill>
                            <a:srgbClr val="0F2A47"/>
                          </a:solidFill>
                          <a:latin typeface="Consolas"/>
                          <a:ea typeface="Consolas"/>
                          <a:cs typeface="Consolas"/>
                        </a:rPr>
                        <a:t>pg_ctl stop -m fast -D $PGDATA</a:t>
                      </a:r>
                      <a:endParaRPr lang="en-US" sz="1000">
                        <a:latin typeface="Consolas"/>
                        <a:ea typeface="Consolas"/>
                        <a:cs typeface="Consolas"/>
                      </a:endParaRPr>
                    </a:p>
                  </a:txBody>
                  <a:tcPr>
                    <a:lnL w="6350" algn="ctr">
                      <a:solidFill>
                        <a:srgbClr val="CBD5E1"/>
                      </a:solidFill>
                    </a:lnL>
                    <a:lnR w="6350" algn="ctr">
                      <a:solidFill>
                        <a:srgbClr val="CBD5E1"/>
                      </a:solidFill>
                    </a:lnR>
                    <a:lnT w="6350" algn="ctr">
                      <a:solidFill>
                        <a:srgbClr val="CBD5E1"/>
                      </a:solidFill>
                    </a:lnT>
                    <a:lnB w="6350" algn="ctr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5770">
                <a:tc>
                  <a:txBody>
                    <a:bodyPr/>
                    <a:lstStyle/>
                    <a:p>
                      <a:pPr marL="0" indent="0">
                        <a:buNone/>
                        <a:defRPr/>
                      </a:pPr>
                      <a:r>
                        <a:rPr lang="en-US" sz="1000">
                          <a:solidFill>
                            <a:srgbClr val="0F2A47"/>
                          </a:solidFill>
                          <a:latin typeface="Consolas"/>
                          <a:ea typeface="Consolas"/>
                          <a:cs typeface="Consolas"/>
                        </a:rPr>
                        <a:t>Reiniciar</a:t>
                      </a:r>
                      <a:endParaRPr lang="en-US" sz="1000">
                        <a:latin typeface="Consolas"/>
                        <a:ea typeface="Consolas"/>
                        <a:cs typeface="Consolas"/>
                      </a:endParaRPr>
                    </a:p>
                  </a:txBody>
                  <a:tcPr>
                    <a:lnL w="6350" algn="ctr">
                      <a:solidFill>
                        <a:srgbClr val="CBD5E1"/>
                      </a:solidFill>
                    </a:lnL>
                    <a:lnR w="6350" algn="ctr">
                      <a:solidFill>
                        <a:srgbClr val="CBD5E1"/>
                      </a:solidFill>
                    </a:lnR>
                    <a:lnT w="6350" algn="ctr">
                      <a:solidFill>
                        <a:srgbClr val="CBD5E1"/>
                      </a:solidFill>
                    </a:lnT>
                    <a:lnB w="6350" algn="ctr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  <a:defRPr/>
                      </a:pPr>
                      <a:r>
                        <a:rPr lang="en-US" sz="1000">
                          <a:solidFill>
                            <a:srgbClr val="0F2A47"/>
                          </a:solidFill>
                          <a:latin typeface="Consolas"/>
                          <a:ea typeface="Consolas"/>
                          <a:cs typeface="Consolas"/>
                        </a:rPr>
                        <a:t>systemctl restart oracle</a:t>
                      </a:r>
                      <a:endParaRPr lang="en-US" sz="1000">
                        <a:latin typeface="Consolas"/>
                        <a:ea typeface="Consolas"/>
                        <a:cs typeface="Consolas"/>
                      </a:endParaRPr>
                    </a:p>
                  </a:txBody>
                  <a:tcPr>
                    <a:lnL w="6350" algn="ctr">
                      <a:solidFill>
                        <a:srgbClr val="CBD5E1"/>
                      </a:solidFill>
                    </a:lnL>
                    <a:lnR w="6350" algn="ctr">
                      <a:solidFill>
                        <a:srgbClr val="CBD5E1"/>
                      </a:solidFill>
                    </a:lnR>
                    <a:lnT w="6350" algn="ctr">
                      <a:solidFill>
                        <a:srgbClr val="CBD5E1"/>
                      </a:solidFill>
                    </a:lnT>
                    <a:lnB w="6350" algn="ctr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  <a:defRPr/>
                      </a:pPr>
                      <a:r>
                        <a:rPr lang="en-US" sz="1000">
                          <a:solidFill>
                            <a:srgbClr val="0F2A47"/>
                          </a:solidFill>
                          <a:latin typeface="Consolas"/>
                          <a:ea typeface="Consolas"/>
                          <a:cs typeface="Consolas"/>
                        </a:rPr>
                        <a:t>systemctl restart mysqld</a:t>
                      </a:r>
                      <a:endParaRPr lang="en-US" sz="1000">
                        <a:latin typeface="Consolas"/>
                        <a:ea typeface="Consolas"/>
                        <a:cs typeface="Consolas"/>
                      </a:endParaRPr>
                    </a:p>
                  </a:txBody>
                  <a:tcPr>
                    <a:lnL w="6350" algn="ctr">
                      <a:solidFill>
                        <a:srgbClr val="CBD5E1"/>
                      </a:solidFill>
                    </a:lnL>
                    <a:lnR w="6350" algn="ctr">
                      <a:solidFill>
                        <a:srgbClr val="CBD5E1"/>
                      </a:solidFill>
                    </a:lnR>
                    <a:lnT w="6350" algn="ctr">
                      <a:solidFill>
                        <a:srgbClr val="CBD5E1"/>
                      </a:solidFill>
                    </a:lnT>
                    <a:lnB w="6350" algn="ctr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  <a:defRPr/>
                      </a:pPr>
                      <a:r>
                        <a:rPr lang="en-US" sz="1000">
                          <a:solidFill>
                            <a:srgbClr val="0F2A47"/>
                          </a:solidFill>
                          <a:latin typeface="Consolas"/>
                          <a:ea typeface="Consolas"/>
                          <a:cs typeface="Consolas"/>
                        </a:rPr>
                        <a:t>systemctl restart postgresql</a:t>
                      </a:r>
                      <a:endParaRPr lang="en-US" sz="1000">
                        <a:latin typeface="Consolas"/>
                        <a:ea typeface="Consolas"/>
                        <a:cs typeface="Consolas"/>
                      </a:endParaRPr>
                    </a:p>
                  </a:txBody>
                  <a:tcPr>
                    <a:lnL w="6350" algn="ctr">
                      <a:solidFill>
                        <a:srgbClr val="CBD5E1"/>
                      </a:solidFill>
                    </a:lnL>
                    <a:lnR w="6350" algn="ctr">
                      <a:solidFill>
                        <a:srgbClr val="CBD5E1"/>
                      </a:solidFill>
                    </a:lnR>
                    <a:lnT w="6350" algn="ctr">
                      <a:solidFill>
                        <a:srgbClr val="CBD5E1"/>
                      </a:solidFill>
                    </a:lnT>
                    <a:lnB w="6350" algn="ctr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5770">
                <a:tc>
                  <a:txBody>
                    <a:bodyPr/>
                    <a:lstStyle/>
                    <a:p>
                      <a:pPr marL="0" indent="0">
                        <a:buNone/>
                        <a:defRPr/>
                      </a:pPr>
                      <a:r>
                        <a:rPr lang="en-US" sz="1000">
                          <a:solidFill>
                            <a:srgbClr val="0F2A47"/>
                          </a:solidFill>
                          <a:latin typeface="Consolas"/>
                          <a:ea typeface="Consolas"/>
                          <a:cs typeface="Consolas"/>
                        </a:rPr>
                        <a:t>Estado del proceso</a:t>
                      </a:r>
                      <a:endParaRPr lang="en-US" sz="1000">
                        <a:latin typeface="Consolas"/>
                        <a:ea typeface="Consolas"/>
                        <a:cs typeface="Consolas"/>
                      </a:endParaRPr>
                    </a:p>
                  </a:txBody>
                  <a:tcPr>
                    <a:lnL w="6350" algn="ctr">
                      <a:solidFill>
                        <a:srgbClr val="CBD5E1"/>
                      </a:solidFill>
                    </a:lnL>
                    <a:lnR w="6350" algn="ctr">
                      <a:solidFill>
                        <a:srgbClr val="CBD5E1"/>
                      </a:solidFill>
                    </a:lnR>
                    <a:lnT w="6350" algn="ctr">
                      <a:solidFill>
                        <a:srgbClr val="CBD5E1"/>
                      </a:solidFill>
                    </a:lnT>
                    <a:lnB w="6350" algn="ctr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  <a:defRPr/>
                      </a:pPr>
                      <a:r>
                        <a:rPr lang="en-US" sz="1000">
                          <a:solidFill>
                            <a:srgbClr val="0F2A47"/>
                          </a:solidFill>
                          <a:latin typeface="Consolas"/>
                          <a:ea typeface="Consolas"/>
                          <a:cs typeface="Consolas"/>
                        </a:rPr>
                        <a:t>ps -ef | grep pmon</a:t>
                      </a:r>
                      <a:endParaRPr lang="en-US" sz="1000">
                        <a:latin typeface="Consolas"/>
                        <a:ea typeface="Consolas"/>
                        <a:cs typeface="Consolas"/>
                      </a:endParaRPr>
                    </a:p>
                  </a:txBody>
                  <a:tcPr>
                    <a:lnL w="6350" algn="ctr">
                      <a:solidFill>
                        <a:srgbClr val="CBD5E1"/>
                      </a:solidFill>
                    </a:lnL>
                    <a:lnR w="6350" algn="ctr">
                      <a:solidFill>
                        <a:srgbClr val="CBD5E1"/>
                      </a:solidFill>
                    </a:lnR>
                    <a:lnT w="6350" algn="ctr">
                      <a:solidFill>
                        <a:srgbClr val="CBD5E1"/>
                      </a:solidFill>
                    </a:lnT>
                    <a:lnB w="6350" algn="ctr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  <a:defRPr/>
                      </a:pPr>
                      <a:r>
                        <a:rPr lang="en-US" sz="1000">
                          <a:solidFill>
                            <a:srgbClr val="0F2A47"/>
                          </a:solidFill>
                          <a:latin typeface="Consolas"/>
                          <a:ea typeface="Consolas"/>
                          <a:cs typeface="Consolas"/>
                        </a:rPr>
                        <a:t>systemctl status mysqld</a:t>
                      </a:r>
                      <a:endParaRPr lang="en-US" sz="1000">
                        <a:latin typeface="Consolas"/>
                        <a:ea typeface="Consolas"/>
                        <a:cs typeface="Consolas"/>
                      </a:endParaRPr>
                    </a:p>
                  </a:txBody>
                  <a:tcPr>
                    <a:lnL w="6350" algn="ctr">
                      <a:solidFill>
                        <a:srgbClr val="CBD5E1"/>
                      </a:solidFill>
                    </a:lnL>
                    <a:lnR w="6350" algn="ctr">
                      <a:solidFill>
                        <a:srgbClr val="CBD5E1"/>
                      </a:solidFill>
                    </a:lnR>
                    <a:lnT w="6350" algn="ctr">
                      <a:solidFill>
                        <a:srgbClr val="CBD5E1"/>
                      </a:solidFill>
                    </a:lnT>
                    <a:lnB w="6350" algn="ctr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  <a:defRPr/>
                      </a:pPr>
                      <a:r>
                        <a:rPr lang="en-US" sz="1000">
                          <a:solidFill>
                            <a:srgbClr val="0F2A47"/>
                          </a:solidFill>
                          <a:latin typeface="Consolas"/>
                          <a:ea typeface="Consolas"/>
                          <a:cs typeface="Consolas"/>
                        </a:rPr>
                        <a:t>pg_ctl status -D $PGDATA</a:t>
                      </a:r>
                      <a:endParaRPr lang="en-US" sz="1000">
                        <a:latin typeface="Consolas"/>
                        <a:ea typeface="Consolas"/>
                        <a:cs typeface="Consolas"/>
                      </a:endParaRPr>
                    </a:p>
                  </a:txBody>
                  <a:tcPr>
                    <a:lnL w="6350" algn="ctr">
                      <a:solidFill>
                        <a:srgbClr val="CBD5E1"/>
                      </a:solidFill>
                    </a:lnL>
                    <a:lnR w="6350" algn="ctr">
                      <a:solidFill>
                        <a:srgbClr val="CBD5E1"/>
                      </a:solidFill>
                    </a:lnR>
                    <a:lnT w="6350" algn="ctr">
                      <a:solidFill>
                        <a:srgbClr val="CBD5E1"/>
                      </a:solidFill>
                    </a:lnT>
                    <a:lnB w="6350" algn="ctr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5770">
                <a:tc>
                  <a:txBody>
                    <a:bodyPr/>
                    <a:lstStyle/>
                    <a:p>
                      <a:pPr marL="0" indent="0">
                        <a:buNone/>
                        <a:defRPr/>
                      </a:pPr>
                      <a:r>
                        <a:rPr lang="en-US" sz="1000">
                          <a:solidFill>
                            <a:srgbClr val="0F2A47"/>
                          </a:solidFill>
                          <a:latin typeface="Consolas"/>
                          <a:ea typeface="Consolas"/>
                          <a:cs typeface="Consolas"/>
                        </a:rPr>
                        <a:t>Verificar conexión</a:t>
                      </a:r>
                      <a:endParaRPr lang="en-US" sz="1000">
                        <a:latin typeface="Consolas"/>
                        <a:ea typeface="Consolas"/>
                        <a:cs typeface="Consolas"/>
                      </a:endParaRPr>
                    </a:p>
                  </a:txBody>
                  <a:tcPr>
                    <a:lnL w="6350" algn="ctr">
                      <a:solidFill>
                        <a:srgbClr val="CBD5E1"/>
                      </a:solidFill>
                    </a:lnL>
                    <a:lnR w="6350" algn="ctr">
                      <a:solidFill>
                        <a:srgbClr val="CBD5E1"/>
                      </a:solidFill>
                    </a:lnR>
                    <a:lnT w="6350" algn="ctr">
                      <a:solidFill>
                        <a:srgbClr val="CBD5E1"/>
                      </a:solidFill>
                    </a:lnT>
                    <a:lnB w="6350" algn="ctr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  <a:defRPr/>
                      </a:pPr>
                      <a:r>
                        <a:rPr lang="en-US" sz="1000">
                          <a:solidFill>
                            <a:srgbClr val="0F2A47"/>
                          </a:solidFill>
                          <a:latin typeface="Consolas"/>
                          <a:ea typeface="Consolas"/>
                          <a:cs typeface="Consolas"/>
                        </a:rPr>
                        <a:t>sqlplus sys/pass@SID as sysdba</a:t>
                      </a:r>
                      <a:endParaRPr lang="en-US" sz="1000">
                        <a:latin typeface="Consolas"/>
                        <a:ea typeface="Consolas"/>
                        <a:cs typeface="Consolas"/>
                      </a:endParaRPr>
                    </a:p>
                  </a:txBody>
                  <a:tcPr>
                    <a:lnL w="6350" algn="ctr">
                      <a:solidFill>
                        <a:srgbClr val="CBD5E1"/>
                      </a:solidFill>
                    </a:lnL>
                    <a:lnR w="6350" algn="ctr">
                      <a:solidFill>
                        <a:srgbClr val="CBD5E1"/>
                      </a:solidFill>
                    </a:lnR>
                    <a:lnT w="6350" algn="ctr">
                      <a:solidFill>
                        <a:srgbClr val="CBD5E1"/>
                      </a:solidFill>
                    </a:lnT>
                    <a:lnB w="6350" algn="ctr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  <a:defRPr/>
                      </a:pPr>
                      <a:r>
                        <a:rPr lang="en-US" sz="1000">
                          <a:solidFill>
                            <a:srgbClr val="0F2A47"/>
                          </a:solidFill>
                          <a:latin typeface="Consolas"/>
                          <a:ea typeface="Consolas"/>
                          <a:cs typeface="Consolas"/>
                        </a:rPr>
                        <a:t>mysql -u root -p -e 'SELECT 1'</a:t>
                      </a:r>
                      <a:endParaRPr lang="en-US" sz="1000">
                        <a:latin typeface="Consolas"/>
                        <a:ea typeface="Consolas"/>
                        <a:cs typeface="Consolas"/>
                      </a:endParaRPr>
                    </a:p>
                  </a:txBody>
                  <a:tcPr>
                    <a:lnL w="6350" algn="ctr">
                      <a:solidFill>
                        <a:srgbClr val="CBD5E1"/>
                      </a:solidFill>
                    </a:lnL>
                    <a:lnR w="6350" algn="ctr">
                      <a:solidFill>
                        <a:srgbClr val="CBD5E1"/>
                      </a:solidFill>
                    </a:lnR>
                    <a:lnT w="6350" algn="ctr">
                      <a:solidFill>
                        <a:srgbClr val="CBD5E1"/>
                      </a:solidFill>
                    </a:lnT>
                    <a:lnB w="6350" algn="ctr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  <a:defRPr/>
                      </a:pPr>
                      <a:r>
                        <a:rPr lang="en-US" sz="1000">
                          <a:solidFill>
                            <a:srgbClr val="0F2A47"/>
                          </a:solidFill>
                          <a:latin typeface="Consolas"/>
                          <a:ea typeface="Consolas"/>
                          <a:cs typeface="Consolas"/>
                        </a:rPr>
                        <a:t>psql -U postgres -c 'SELECT 1'</a:t>
                      </a:r>
                      <a:endParaRPr lang="en-US" sz="1000">
                        <a:latin typeface="Consolas"/>
                        <a:ea typeface="Consolas"/>
                        <a:cs typeface="Consolas"/>
                      </a:endParaRPr>
                    </a:p>
                  </a:txBody>
                  <a:tcPr>
                    <a:lnL w="6350" algn="ctr">
                      <a:solidFill>
                        <a:srgbClr val="CBD5E1"/>
                      </a:solidFill>
                    </a:lnL>
                    <a:lnR w="6350" algn="ctr">
                      <a:solidFill>
                        <a:srgbClr val="CBD5E1"/>
                      </a:solidFill>
                    </a:lnR>
                    <a:lnT w="6350" algn="ctr">
                      <a:solidFill>
                        <a:srgbClr val="CBD5E1"/>
                      </a:solidFill>
                    </a:lnT>
                    <a:lnB w="6350" algn="ctr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12059808" name="Shape 5"/>
          <p:cNvSpPr/>
          <p:nvPr/>
        </p:nvSpPr>
        <p:spPr bwMode="auto">
          <a:xfrm>
            <a:off x="0" y="4892039"/>
            <a:ext cx="9144000" cy="25603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930265142" name="Text 6"/>
          <p:cNvSpPr/>
          <p:nvPr/>
        </p:nvSpPr>
        <p:spPr bwMode="auto">
          <a:xfrm>
            <a:off x="274320" y="4901184"/>
            <a:ext cx="8686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75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Comandos orientativos — las rutas y versiones exactas dependen del entorno. Consultar documentación oficial.</a:t>
            </a:r>
            <a:endParaRPr lang="en-US" sz="75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 name="Slide 19"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8287211" name="Shape 0"/>
          <p:cNvSpPr/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983657882" name="Shape 1"/>
          <p:cNvSpPr/>
          <p:nvPr/>
        </p:nvSpPr>
        <p:spPr bwMode="auto">
          <a:xfrm>
            <a:off x="0" y="1143000"/>
            <a:ext cx="914400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00186519" name="Shape 2"/>
          <p:cNvSpPr/>
          <p:nvPr/>
        </p:nvSpPr>
        <p:spPr bwMode="auto">
          <a:xfrm>
            <a:off x="274320" y="182880"/>
            <a:ext cx="658368" cy="6583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21061669" name="Text 3"/>
          <p:cNvSpPr/>
          <p:nvPr/>
        </p:nvSpPr>
        <p:spPr bwMode="auto">
          <a:xfrm>
            <a:off x="274320" y="18288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✓</a:t>
            </a:r>
            <a:endParaRPr lang="en-US" sz="1500"/>
          </a:p>
        </p:txBody>
      </p:sp>
      <p:sp>
        <p:nvSpPr>
          <p:cNvPr id="105286161" name="Text 4"/>
          <p:cNvSpPr/>
          <p:nvPr/>
        </p:nvSpPr>
        <p:spPr bwMode="auto">
          <a:xfrm>
            <a:off x="1078992" y="237744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Buenas Prácticas al Instalar y Operar un SGBD</a:t>
            </a:r>
            <a:endParaRPr lang="en-US" sz="2100"/>
          </a:p>
        </p:txBody>
      </p:sp>
      <p:pic>
        <p:nvPicPr>
          <p:cNvPr id="1850779195" name="Image 0" descr="preencoded.png"/>
          <p:cNvPicPr>
            <a:picLocks noChangeAspect="1"/>
          </p:cNvPicPr>
          <p:nvPr/>
        </p:nvPicPr>
        <p:blipFill rotWithShape="1">
          <a:blip r:embed="rId3">
            <a:alphaModFix amt="80000"/>
          </a:blip>
          <a:stretch/>
        </p:blipFill>
        <p:spPr bwMode="auto">
          <a:xfrm>
            <a:off x="8092440" y="91440"/>
            <a:ext cx="822960" cy="822960"/>
          </a:xfrm>
          <a:prstGeom prst="rect">
            <a:avLst/>
          </a:prstGeom>
        </p:spPr>
      </p:pic>
      <p:sp>
        <p:nvSpPr>
          <p:cNvPr id="1563832111" name="Shape 5"/>
          <p:cNvSpPr/>
          <p:nvPr/>
        </p:nvSpPr>
        <p:spPr bwMode="auto">
          <a:xfrm>
            <a:off x="256032" y="1280160"/>
            <a:ext cx="27432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18991844" name="Shape 6"/>
          <p:cNvSpPr/>
          <p:nvPr/>
        </p:nvSpPr>
        <p:spPr bwMode="auto">
          <a:xfrm>
            <a:off x="256032" y="1280160"/>
            <a:ext cx="64008" cy="1737360"/>
          </a:xfrm>
          <a:prstGeom prst="rect">
            <a:avLst/>
          </a:prstGeom>
          <a:solidFill>
            <a:srgbClr val="1A4A7A"/>
          </a:solidFill>
          <a:ln w="12700">
            <a:solidFill>
              <a:srgbClr val="1A4A7A"/>
            </a:solidFill>
            <a:prstDash val="solid"/>
          </a:ln>
        </p:spPr>
      </p:sp>
      <p:sp>
        <p:nvSpPr>
          <p:cNvPr id="594462020" name="Text 7"/>
          <p:cNvSpPr/>
          <p:nvPr/>
        </p:nvSpPr>
        <p:spPr bwMode="auto">
          <a:xfrm>
            <a:off x="420624" y="137160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1A4A7A"/>
                </a:solidFill>
                <a:latin typeface="Calibri"/>
                <a:ea typeface="Calibri"/>
                <a:cs typeface="Calibri"/>
              </a:rPr>
              <a:t>Almacenamiento</a:t>
            </a:r>
            <a:endParaRPr lang="en-US" sz="1200"/>
          </a:p>
        </p:txBody>
      </p:sp>
      <p:sp>
        <p:nvSpPr>
          <p:cNvPr id="1558186778" name="Text 8"/>
          <p:cNvSpPr/>
          <p:nvPr/>
        </p:nvSpPr>
        <p:spPr bwMode="auto">
          <a:xfrm>
            <a:off x="420624" y="1755648"/>
            <a:ext cx="2487168" cy="1207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  <a:defRPr/>
            </a:pPr>
            <a:r>
              <a:rPr lang="en-US" sz="1150">
                <a:solidFill>
                  <a:srgbClr val="0F2A47"/>
                </a:solidFill>
                <a:latin typeface="Calibri"/>
                <a:ea typeface="Calibri"/>
                <a:cs typeface="Calibri"/>
              </a:rPr>
              <a:t>Separar datafiles, redo logs y backups en distintos volúmenes/discos para maximizar IOPS y aislar fallos.</a:t>
            </a:r>
            <a:endParaRPr lang="en-US" sz="1150"/>
          </a:p>
          <a:p>
            <a:pPr marL="342900" indent="-342900">
              <a:spcAft>
                <a:spcPts val="600"/>
              </a:spcAft>
              <a:buSzPct val="100000"/>
              <a:buChar char="•"/>
              <a:defRPr/>
            </a:pPr>
            <a:r>
              <a:rPr lang="en-US" sz="1150">
                <a:solidFill>
                  <a:srgbClr val="0F2A47"/>
                </a:solidFill>
                <a:latin typeface="Calibri"/>
                <a:ea typeface="Calibri"/>
                <a:cs typeface="Calibri"/>
              </a:rPr>
              <a:t>Usar LVM o volúmenes en la nube para poder crecer sin tiempo de inactividad.</a:t>
            </a:r>
            <a:endParaRPr lang="en-US" sz="1150"/>
          </a:p>
        </p:txBody>
      </p:sp>
      <p:sp>
        <p:nvSpPr>
          <p:cNvPr id="750196865" name="Shape 9"/>
          <p:cNvSpPr/>
          <p:nvPr/>
        </p:nvSpPr>
        <p:spPr bwMode="auto">
          <a:xfrm>
            <a:off x="3127248" y="1280160"/>
            <a:ext cx="27432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53289222" name="Shape 10"/>
          <p:cNvSpPr/>
          <p:nvPr/>
        </p:nvSpPr>
        <p:spPr bwMode="auto">
          <a:xfrm>
            <a:off x="3127248" y="1280160"/>
            <a:ext cx="64008" cy="1737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58216167" name="Text 11"/>
          <p:cNvSpPr/>
          <p:nvPr/>
        </p:nvSpPr>
        <p:spPr bwMode="auto">
          <a:xfrm>
            <a:off x="3291840" y="137160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0D9488"/>
                </a:solidFill>
                <a:latin typeface="Calibri"/>
                <a:ea typeface="Calibri"/>
                <a:cs typeface="Calibri"/>
              </a:rPr>
              <a:t>Backup y Recovery</a:t>
            </a:r>
            <a:endParaRPr lang="en-US" sz="1200"/>
          </a:p>
        </p:txBody>
      </p:sp>
      <p:sp>
        <p:nvSpPr>
          <p:cNvPr id="163759823" name="Text 12"/>
          <p:cNvSpPr/>
          <p:nvPr/>
        </p:nvSpPr>
        <p:spPr bwMode="auto">
          <a:xfrm>
            <a:off x="3291840" y="1755648"/>
            <a:ext cx="2487168" cy="1207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  <a:defRPr/>
            </a:pPr>
            <a:r>
              <a:rPr lang="en-US" sz="1150">
                <a:solidFill>
                  <a:srgbClr val="0F2A47"/>
                </a:solidFill>
                <a:latin typeface="Calibri"/>
                <a:ea typeface="Calibri"/>
                <a:cs typeface="Calibri"/>
              </a:rPr>
              <a:t>Configurar backup automático diario (RMAN, mysqldump, pg_dump) antes de poner en producción.</a:t>
            </a:r>
            <a:endParaRPr lang="en-US" sz="1150"/>
          </a:p>
          <a:p>
            <a:pPr marL="342900" indent="-342900">
              <a:spcAft>
                <a:spcPts val="600"/>
              </a:spcAft>
              <a:buSzPct val="100000"/>
              <a:buChar char="•"/>
              <a:defRPr/>
            </a:pPr>
            <a:r>
              <a:rPr lang="en-US" sz="1150">
                <a:solidFill>
                  <a:srgbClr val="0F2A47"/>
                </a:solidFill>
                <a:latin typeface="Calibri"/>
                <a:ea typeface="Calibri"/>
                <a:cs typeface="Calibri"/>
              </a:rPr>
              <a:t>Probar el proceso de restore al menos una vez; documentar RPO y RTO obtenidos.</a:t>
            </a:r>
            <a:endParaRPr lang="en-US" sz="1150"/>
          </a:p>
        </p:txBody>
      </p:sp>
      <p:sp>
        <p:nvSpPr>
          <p:cNvPr id="1553624558" name="Shape 13"/>
          <p:cNvSpPr/>
          <p:nvPr/>
        </p:nvSpPr>
        <p:spPr bwMode="auto">
          <a:xfrm>
            <a:off x="5998464" y="1280160"/>
            <a:ext cx="2889504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54246099" name="Shape 14"/>
          <p:cNvSpPr/>
          <p:nvPr/>
        </p:nvSpPr>
        <p:spPr bwMode="auto">
          <a:xfrm>
            <a:off x="5998464" y="1280160"/>
            <a:ext cx="64008" cy="17373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07619707" name="Text 15"/>
          <p:cNvSpPr/>
          <p:nvPr/>
        </p:nvSpPr>
        <p:spPr bwMode="auto">
          <a:xfrm>
            <a:off x="6163056" y="1371600"/>
            <a:ext cx="26151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6366F1"/>
                </a:solidFill>
                <a:latin typeface="Calibri"/>
                <a:ea typeface="Calibri"/>
                <a:cs typeface="Calibri"/>
              </a:rPr>
              <a:t>Seguridad</a:t>
            </a:r>
            <a:endParaRPr lang="en-US" sz="1200"/>
          </a:p>
        </p:txBody>
      </p:sp>
      <p:sp>
        <p:nvSpPr>
          <p:cNvPr id="696743980" name="Text 16"/>
          <p:cNvSpPr/>
          <p:nvPr/>
        </p:nvSpPr>
        <p:spPr bwMode="auto">
          <a:xfrm>
            <a:off x="6163056" y="1755648"/>
            <a:ext cx="2633472" cy="1207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  <a:defRPr/>
            </a:pPr>
            <a:r>
              <a:rPr lang="en-US" sz="1150">
                <a:solidFill>
                  <a:srgbClr val="0F2A47"/>
                </a:solidFill>
                <a:latin typeface="Calibri"/>
                <a:ea typeface="Calibri"/>
                <a:cs typeface="Calibri"/>
              </a:rPr>
              <a:t>Eliminar usuarios anónimos y contraseñas vacías post-instalación.</a:t>
            </a:r>
            <a:endParaRPr lang="en-US" sz="1150"/>
          </a:p>
          <a:p>
            <a:pPr marL="342900" indent="-342900">
              <a:spcAft>
                <a:spcPts val="600"/>
              </a:spcAft>
              <a:buSzPct val="100000"/>
              <a:buChar char="•"/>
              <a:defRPr/>
            </a:pPr>
            <a:r>
              <a:rPr lang="en-US" sz="1150">
                <a:solidFill>
                  <a:srgbClr val="0F2A47"/>
                </a:solidFill>
                <a:latin typeface="Calibri"/>
                <a:ea typeface="Calibri"/>
                <a:cs typeface="Calibri"/>
              </a:rPr>
              <a:t>Aplicar parches de seguridad del SGBD en cuanto estén disponibles; mantener un calendario de patching.</a:t>
            </a:r>
            <a:endParaRPr lang="en-US" sz="1150"/>
          </a:p>
        </p:txBody>
      </p:sp>
      <p:sp>
        <p:nvSpPr>
          <p:cNvPr id="295065185" name="Shape 17"/>
          <p:cNvSpPr/>
          <p:nvPr/>
        </p:nvSpPr>
        <p:spPr bwMode="auto">
          <a:xfrm>
            <a:off x="256032" y="3182112"/>
            <a:ext cx="4187952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81755986" name="Shape 18"/>
          <p:cNvSpPr/>
          <p:nvPr/>
        </p:nvSpPr>
        <p:spPr bwMode="auto">
          <a:xfrm>
            <a:off x="256032" y="3182112"/>
            <a:ext cx="64008" cy="1737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0349094" name="Text 19"/>
          <p:cNvSpPr/>
          <p:nvPr/>
        </p:nvSpPr>
        <p:spPr bwMode="auto">
          <a:xfrm>
            <a:off x="420624" y="3273552"/>
            <a:ext cx="39136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F59E0B"/>
                </a:solidFill>
                <a:latin typeface="Calibri"/>
                <a:ea typeface="Calibri"/>
                <a:cs typeface="Calibri"/>
              </a:rPr>
              <a:t>Monitoreo y Rendimiento</a:t>
            </a:r>
            <a:endParaRPr lang="en-US" sz="1200"/>
          </a:p>
        </p:txBody>
      </p:sp>
      <p:sp>
        <p:nvSpPr>
          <p:cNvPr id="2017786255" name="Text 20"/>
          <p:cNvSpPr/>
          <p:nvPr/>
        </p:nvSpPr>
        <p:spPr bwMode="auto">
          <a:xfrm>
            <a:off x="420624" y="3657600"/>
            <a:ext cx="3931920" cy="1207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  <a:defRPr/>
            </a:pPr>
            <a:r>
              <a:rPr lang="en-US" sz="1150">
                <a:solidFill>
                  <a:srgbClr val="0F2A47"/>
                </a:solidFill>
                <a:latin typeface="Calibri"/>
                <a:ea typeface="Calibri"/>
                <a:cs typeface="Calibri"/>
              </a:rPr>
              <a:t>Instrumentar desde el inicio: latencia de consultas, IOPS, uso de buffer cache y tasa de hit.</a:t>
            </a:r>
            <a:endParaRPr lang="en-US" sz="1150"/>
          </a:p>
          <a:p>
            <a:pPr marL="342900" indent="-342900">
              <a:spcAft>
                <a:spcPts val="600"/>
              </a:spcAft>
              <a:buSzPct val="100000"/>
              <a:buChar char="•"/>
              <a:defRPr/>
            </a:pPr>
            <a:r>
              <a:rPr lang="en-US" sz="1150">
                <a:solidFill>
                  <a:srgbClr val="0F2A47"/>
                </a:solidFill>
                <a:latin typeface="Calibri"/>
                <a:ea typeface="Calibri"/>
                <a:cs typeface="Calibri"/>
              </a:rPr>
              <a:t>Empezar con parámetros conservadores (25% RAM para shared_buffers/buffer pool) y ajustar con métricas reales.</a:t>
            </a:r>
            <a:endParaRPr lang="en-US" sz="1150"/>
          </a:p>
        </p:txBody>
      </p:sp>
      <p:sp>
        <p:nvSpPr>
          <p:cNvPr id="1629431320" name="Shape 21"/>
          <p:cNvSpPr/>
          <p:nvPr/>
        </p:nvSpPr>
        <p:spPr bwMode="auto">
          <a:xfrm>
            <a:off x="4700016" y="3182112"/>
            <a:ext cx="4187952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44309517" name="Shape 22"/>
          <p:cNvSpPr/>
          <p:nvPr/>
        </p:nvSpPr>
        <p:spPr bwMode="auto">
          <a:xfrm>
            <a:off x="4700016" y="3182112"/>
            <a:ext cx="64008" cy="17373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70046438" name="Text 23"/>
          <p:cNvSpPr/>
          <p:nvPr/>
        </p:nvSpPr>
        <p:spPr bwMode="auto">
          <a:xfrm>
            <a:off x="4864607" y="3273552"/>
            <a:ext cx="39136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10B981"/>
                </a:solidFill>
                <a:latin typeface="Calibri"/>
                <a:ea typeface="Calibri"/>
                <a:cs typeface="Calibri"/>
              </a:rPr>
              <a:t>Documentación</a:t>
            </a:r>
            <a:endParaRPr lang="en-US" sz="1200"/>
          </a:p>
        </p:txBody>
      </p:sp>
      <p:sp>
        <p:nvSpPr>
          <p:cNvPr id="507207224" name="Text 24"/>
          <p:cNvSpPr/>
          <p:nvPr/>
        </p:nvSpPr>
        <p:spPr bwMode="auto">
          <a:xfrm>
            <a:off x="4864607" y="3657600"/>
            <a:ext cx="3931920" cy="1207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  <a:defRPr/>
            </a:pPr>
            <a:r>
              <a:rPr lang="en-US" sz="1150">
                <a:solidFill>
                  <a:srgbClr val="0F2A47"/>
                </a:solidFill>
                <a:latin typeface="Calibri"/>
                <a:ea typeface="Calibri"/>
                <a:cs typeface="Calibri"/>
              </a:rPr>
              <a:t>Registrar toda la configuración, versiones y cambios realizados; usar control de versiones para archivos de configuración.</a:t>
            </a:r>
            <a:endParaRPr lang="en-US" sz="1150"/>
          </a:p>
          <a:p>
            <a:pPr marL="342900" indent="-342900">
              <a:spcAft>
                <a:spcPts val="600"/>
              </a:spcAft>
              <a:buSzPct val="100000"/>
              <a:buChar char="•"/>
              <a:defRPr/>
            </a:pPr>
            <a:r>
              <a:rPr lang="en-US" sz="1150">
                <a:solidFill>
                  <a:srgbClr val="0F2A47"/>
                </a:solidFill>
                <a:latin typeface="Calibri"/>
                <a:ea typeface="Calibri"/>
                <a:cs typeface="Calibri"/>
              </a:rPr>
              <a:t>Usar ambientes separados (dev → QA → prod) y nunca probar cambios directamente en producción.</a:t>
            </a:r>
            <a:endParaRPr lang="en-US" sz="1150"/>
          </a:p>
        </p:txBody>
      </p:sp>
      <p:sp>
        <p:nvSpPr>
          <p:cNvPr id="934678218" name="Shape 25"/>
          <p:cNvSpPr/>
          <p:nvPr/>
        </p:nvSpPr>
        <p:spPr bwMode="auto">
          <a:xfrm>
            <a:off x="0" y="4892039"/>
            <a:ext cx="9144000" cy="25603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06445632" name="Text 26"/>
          <p:cNvSpPr/>
          <p:nvPr/>
        </p:nvSpPr>
        <p:spPr bwMode="auto">
          <a:xfrm>
            <a:off x="274320" y="4901184"/>
            <a:ext cx="8686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75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Fuentes: Nicole Rodríguez Blog · Scribd ABD · StudoCu · UNEZ 2023</a:t>
            </a:r>
            <a:endParaRPr lang="en-US" sz="75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 name="Slide 20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6612983" name="Shape 0"/>
          <p:cNvSpPr/>
          <p:nvPr/>
        </p:nvSpPr>
        <p:spPr bwMode="auto">
          <a:xfrm>
            <a:off x="0" y="0"/>
            <a:ext cx="13716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24233343" name="Shape 1"/>
          <p:cNvSpPr/>
          <p:nvPr/>
        </p:nvSpPr>
        <p:spPr bwMode="auto">
          <a:xfrm>
            <a:off x="137160" y="0"/>
            <a:ext cx="9006840" cy="5486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pic>
        <p:nvPicPr>
          <p:cNvPr id="1466876269" name="Image 0" descr="preencoded.png"/>
          <p:cNvPicPr>
            <a:picLocks noChangeAspect="1"/>
          </p:cNvPicPr>
          <p:nvPr/>
        </p:nvPicPr>
        <p:blipFill rotWithShape="1">
          <a:blip r:embed="rId3">
            <a:alphaModFix amt="75000"/>
          </a:blip>
          <a:stretch/>
        </p:blipFill>
        <p:spPr bwMode="auto">
          <a:xfrm>
            <a:off x="7132320" y="457200"/>
            <a:ext cx="1828800" cy="1828800"/>
          </a:xfrm>
          <a:prstGeom prst="rect">
            <a:avLst/>
          </a:prstGeom>
        </p:spPr>
      </p:pic>
      <p:sp>
        <p:nvSpPr>
          <p:cNvPr id="702602939" name="Text 2"/>
          <p:cNvSpPr/>
          <p:nvPr/>
        </p:nvSpPr>
        <p:spPr bwMode="auto">
          <a:xfrm>
            <a:off x="457200" y="320040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endParaRPr lang="en-US" sz="1100"/>
          </a:p>
        </p:txBody>
      </p:sp>
      <p:sp>
        <p:nvSpPr>
          <p:cNvPr id="790308791" name="Text 3"/>
          <p:cNvSpPr/>
          <p:nvPr/>
        </p:nvSpPr>
        <p:spPr bwMode="auto">
          <a:xfrm>
            <a:off x="457200" y="731520"/>
            <a:ext cx="5943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Fuentes Bibliográficas</a:t>
            </a:r>
            <a:endParaRPr lang="en-US" sz="2800"/>
          </a:p>
        </p:txBody>
      </p:sp>
      <p:sp>
        <p:nvSpPr>
          <p:cNvPr id="679704693" name="Text 7"/>
          <p:cNvSpPr/>
          <p:nvPr/>
        </p:nvSpPr>
        <p:spPr bwMode="auto">
          <a:xfrm>
            <a:off x="987552" y="1627632"/>
            <a:ext cx="7680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EFF6FF"/>
                </a:solidFill>
                <a:latin typeface="Calibri"/>
                <a:ea typeface="Calibri"/>
                <a:cs typeface="Calibri"/>
              </a:rPr>
              <a:t>Rodríguez, N. (2020). Unidad 2 — Arquitectura e instalación del SGBD. Nicole Rodríguez Blog.</a:t>
            </a:r>
            <a:endParaRPr lang="en-US" sz="1050"/>
          </a:p>
        </p:txBody>
      </p:sp>
      <p:sp>
        <p:nvSpPr>
          <p:cNvPr id="1749332154" name="Text 8"/>
          <p:cNvSpPr/>
          <p:nvPr/>
        </p:nvSpPr>
        <p:spPr bwMode="auto">
          <a:xfrm>
            <a:off x="987552" y="1975104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00" i="1">
                <a:solidFill>
                  <a:srgbClr val="0D9488"/>
                </a:solidFill>
                <a:latin typeface="Calibri"/>
                <a:ea typeface="Calibri"/>
                <a:cs typeface="Calibri"/>
              </a:rPr>
              <a:t>nicolerodriguez.home.blog/2020/03/22/unidad-2-arquitectura-e-instalacion-del-sgbd/</a:t>
            </a:r>
            <a:endParaRPr lang="en-US" sz="900"/>
          </a:p>
        </p:txBody>
      </p:sp>
      <p:sp>
        <p:nvSpPr>
          <p:cNvPr id="473051485" name="Text 11"/>
          <p:cNvSpPr/>
          <p:nvPr/>
        </p:nvSpPr>
        <p:spPr bwMode="auto">
          <a:xfrm>
            <a:off x="475488" y="25328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endParaRPr lang="en-US" sz="1300"/>
          </a:p>
        </p:txBody>
      </p:sp>
      <p:sp>
        <p:nvSpPr>
          <p:cNvPr id="1928721265" name="Text 12"/>
          <p:cNvSpPr/>
          <p:nvPr/>
        </p:nvSpPr>
        <p:spPr bwMode="auto">
          <a:xfrm>
            <a:off x="987552" y="2450592"/>
            <a:ext cx="7680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EFF6FF"/>
                </a:solidFill>
                <a:latin typeface="Calibri"/>
                <a:ea typeface="Calibri"/>
                <a:cs typeface="Calibri"/>
              </a:rPr>
              <a:t>Scribd. (s.f.). Administración de Base de Datos — Unidad 2. Documento de referencia académica.</a:t>
            </a:r>
            <a:endParaRPr lang="en-US" sz="1050"/>
          </a:p>
        </p:txBody>
      </p:sp>
      <p:sp>
        <p:nvSpPr>
          <p:cNvPr id="1394501918" name="Text 13"/>
          <p:cNvSpPr/>
          <p:nvPr/>
        </p:nvSpPr>
        <p:spPr bwMode="auto">
          <a:xfrm>
            <a:off x="987552" y="2798064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00" i="1">
                <a:solidFill>
                  <a:srgbClr val="1A4A7A"/>
                </a:solidFill>
                <a:latin typeface="Calibri"/>
                <a:ea typeface="Calibri"/>
                <a:cs typeface="Calibri"/>
              </a:rPr>
              <a:t>scribd.com/document/219212238/Admon-de-base-de-datos-Unidad-2</a:t>
            </a:r>
            <a:endParaRPr lang="en-US" sz="900"/>
          </a:p>
        </p:txBody>
      </p:sp>
      <p:sp>
        <p:nvSpPr>
          <p:cNvPr id="1925356181" name="Text 17"/>
          <p:cNvSpPr/>
          <p:nvPr/>
        </p:nvSpPr>
        <p:spPr bwMode="auto">
          <a:xfrm>
            <a:off x="987552" y="3273552"/>
            <a:ext cx="7680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EFF6FF"/>
                </a:solidFill>
                <a:latin typeface="Calibri"/>
                <a:ea typeface="Calibri"/>
                <a:cs typeface="Calibri"/>
              </a:rPr>
              <a:t>StudoCu. (s.f.). Arquitectura e instalación del SGBD. Instituto Tecnológico del Istmo — Taller de BD.</a:t>
            </a:r>
            <a:endParaRPr lang="en-US" sz="1050"/>
          </a:p>
        </p:txBody>
      </p:sp>
      <p:sp>
        <p:nvSpPr>
          <p:cNvPr id="1923170808" name="Text 18"/>
          <p:cNvSpPr/>
          <p:nvPr/>
        </p:nvSpPr>
        <p:spPr bwMode="auto">
          <a:xfrm>
            <a:off x="987552" y="3621024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00" i="1">
                <a:solidFill>
                  <a:srgbClr val="6366F1"/>
                </a:solidFill>
                <a:latin typeface="Calibri"/>
                <a:ea typeface="Calibri"/>
                <a:cs typeface="Calibri"/>
              </a:rPr>
              <a:t>studocu.com/es-mx/document/instituto-tecnologico-del-istmo/taller-de-base-de-datos/arquitectura-e-instalacion-del-sgbd/117498280</a:t>
            </a:r>
            <a:endParaRPr lang="en-US" sz="900"/>
          </a:p>
        </p:txBody>
      </p:sp>
      <p:sp>
        <p:nvSpPr>
          <p:cNvPr id="117770169" name="Text 21"/>
          <p:cNvSpPr/>
          <p:nvPr/>
        </p:nvSpPr>
        <p:spPr bwMode="auto">
          <a:xfrm>
            <a:off x="475488" y="41788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endParaRPr lang="en-US" sz="1300"/>
          </a:p>
        </p:txBody>
      </p:sp>
      <p:sp>
        <p:nvSpPr>
          <p:cNvPr id="27482415" name="Text 22"/>
          <p:cNvSpPr/>
          <p:nvPr/>
        </p:nvSpPr>
        <p:spPr bwMode="auto">
          <a:xfrm>
            <a:off x="987552" y="4096512"/>
            <a:ext cx="7680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EFF6FF"/>
                </a:solidFill>
                <a:latin typeface="Calibri"/>
                <a:ea typeface="Calibri"/>
                <a:cs typeface="Calibri"/>
              </a:rPr>
              <a:t>UNEZ. (2023). Administración de Base de Datos — ISC, 5° tetramestre. Material oficial de carrera.</a:t>
            </a:r>
            <a:endParaRPr lang="en-US" sz="1050"/>
          </a:p>
        </p:txBody>
      </p:sp>
      <p:sp>
        <p:nvSpPr>
          <p:cNvPr id="1461847450" name="Text 23"/>
          <p:cNvSpPr/>
          <p:nvPr/>
        </p:nvSpPr>
        <p:spPr bwMode="auto">
          <a:xfrm>
            <a:off x="987552" y="4443984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00" i="1">
                <a:solidFill>
                  <a:srgbClr val="F59E0B"/>
                </a:solidFill>
                <a:latin typeface="Calibri"/>
                <a:ea typeface="Calibri"/>
                <a:cs typeface="Calibri"/>
              </a:rPr>
              <a:t>unez.edu.mx/carreras/isc 2023/tetra 5/5 administracion de base de datos.pdf</a:t>
            </a:r>
            <a:endParaRPr lang="en-US" sz="9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3318</Words>
  <Application>Microsoft Office PowerPoint</Application>
  <PresentationFormat>Presentación en pantalla (16:9)</PresentationFormat>
  <Paragraphs>448</Paragraphs>
  <Slides>19</Slides>
  <Notes>19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19</vt:i4>
      </vt:variant>
    </vt:vector>
  </HeadingPairs>
  <TitlesOfParts>
    <vt:vector size="24" baseType="lpstr">
      <vt:lpstr>Aptos</vt:lpstr>
      <vt:lpstr>Arial</vt:lpstr>
      <vt:lpstr>Calibri</vt:lpstr>
      <vt:lpstr>Consolas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Arquitectura e Instalación del SGBD</dc:title>
  <dc:subject>PptxGenJS Presentation</dc:subject>
  <dc:creator>PptxGenJS</dc:creator>
  <cp:lastModifiedBy>eddi castillo</cp:lastModifiedBy>
  <cp:revision>3</cp:revision>
  <dcterms:created xsi:type="dcterms:W3CDTF">2026-05-22T02:42:41Z</dcterms:created>
  <dcterms:modified xsi:type="dcterms:W3CDTF">2026-06-04T03:44:35Z</dcterms:modified>
</cp:coreProperties>
</file>